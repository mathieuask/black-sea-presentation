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9" r:id="rId2"/>
    <p:sldId id="262" r:id="rId3"/>
    <p:sldId id="404" r:id="rId4"/>
    <p:sldId id="420" r:id="rId5"/>
    <p:sldId id="421" r:id="rId6"/>
    <p:sldId id="381" r:id="rId7"/>
    <p:sldId id="407" r:id="rId8"/>
    <p:sldId id="409" r:id="rId9"/>
    <p:sldId id="410" r:id="rId10"/>
    <p:sldId id="411" r:id="rId11"/>
    <p:sldId id="408" r:id="rId12"/>
    <p:sldId id="293" r:id="rId13"/>
    <p:sldId id="413" r:id="rId14"/>
    <p:sldId id="414" r:id="rId15"/>
    <p:sldId id="415" r:id="rId16"/>
    <p:sldId id="416" r:id="rId17"/>
    <p:sldId id="417" r:id="rId18"/>
    <p:sldId id="418" r:id="rId19"/>
    <p:sldId id="419"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228" autoAdjust="0"/>
    <p:restoredTop sz="86435" autoAdjust="0"/>
  </p:normalViewPr>
  <p:slideViewPr>
    <p:cSldViewPr snapToGrid="0">
      <p:cViewPr varScale="1">
        <p:scale>
          <a:sx n="63" d="100"/>
          <a:sy n="63" d="100"/>
        </p:scale>
        <p:origin x="68" y="352"/>
      </p:cViewPr>
      <p:guideLst/>
    </p:cSldViewPr>
  </p:slideViewPr>
  <p:outlineViewPr>
    <p:cViewPr>
      <p:scale>
        <a:sx n="33" d="100"/>
        <a:sy n="33" d="100"/>
      </p:scale>
      <p:origin x="0" y="-2166"/>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9B21D-EDC1-4BF7-BD21-B4E2AD092714}" type="datetimeFigureOut">
              <a:rPr lang="fr-FR" smtClean="0"/>
              <a:t>04/02/2026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3375AB-6769-4BCA-98B1-402D8FCC0FD5}" type="slidenum">
              <a:rPr lang="fr-FR" smtClean="0"/>
              <a:t>‹N°›</a:t>
            </a:fld>
            <a:endParaRPr lang="fr-FR"/>
          </a:p>
        </p:txBody>
      </p:sp>
    </p:spTree>
    <p:extLst>
      <p:ext uri="{BB962C8B-B14F-4D97-AF65-F5344CB8AC3E}">
        <p14:creationId xmlns:p14="http://schemas.microsoft.com/office/powerpoint/2010/main" val="1317478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A3375AB-6769-4BCA-98B1-402D8FCC0FD5}" type="slidenum">
              <a:rPr lang="fr-FR" smtClean="0"/>
              <a:t>1</a:t>
            </a:fld>
            <a:endParaRPr lang="fr-FR"/>
          </a:p>
        </p:txBody>
      </p:sp>
    </p:spTree>
    <p:extLst>
      <p:ext uri="{BB962C8B-B14F-4D97-AF65-F5344CB8AC3E}">
        <p14:creationId xmlns:p14="http://schemas.microsoft.com/office/powerpoint/2010/main" val="1387103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A3375AB-6769-4BCA-98B1-402D8FCC0FD5}" type="slidenum">
              <a:rPr lang="fr-FR" smtClean="0"/>
              <a:t>19</a:t>
            </a:fld>
            <a:endParaRPr lang="fr-FR"/>
          </a:p>
        </p:txBody>
      </p:sp>
    </p:spTree>
    <p:extLst>
      <p:ext uri="{BB962C8B-B14F-4D97-AF65-F5344CB8AC3E}">
        <p14:creationId xmlns:p14="http://schemas.microsoft.com/office/powerpoint/2010/main" val="4179630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83F6F22C-0B7F-4EBA-9F2B-848A97D2EAF8}" type="datetimeFigureOut">
              <a:rPr lang="fr-FR" smtClean="0"/>
              <a:t>04/02/2026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2576237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3F6F22C-0B7F-4EBA-9F2B-848A97D2EAF8}" type="datetimeFigureOut">
              <a:rPr lang="fr-FR" smtClean="0"/>
              <a:t>04/02/2026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2351671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83F6F22C-0B7F-4EBA-9F2B-848A97D2EAF8}" type="datetimeFigureOut">
              <a:rPr lang="fr-FR" smtClean="0"/>
              <a:t>04/02/2026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2544889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83F6F22C-0B7F-4EBA-9F2B-848A97D2EAF8}" type="datetimeFigureOut">
              <a:rPr lang="fr-FR" smtClean="0"/>
              <a:t>04/02/2026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1672218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83F6F22C-0B7F-4EBA-9F2B-848A97D2EAF8}" type="datetimeFigureOut">
              <a:rPr lang="fr-FR" smtClean="0"/>
              <a:t>04/02/2026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3537823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83F6F22C-0B7F-4EBA-9F2B-848A97D2EAF8}" type="datetimeFigureOut">
              <a:rPr lang="fr-FR" smtClean="0"/>
              <a:t>04/02/2026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470668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3F6F22C-0B7F-4EBA-9F2B-848A97D2EAF8}" type="datetimeFigureOut">
              <a:rPr lang="fr-FR" smtClean="0"/>
              <a:t>04/02/2026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2932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83F6F22C-0B7F-4EBA-9F2B-848A97D2EAF8}" type="datetimeFigureOut">
              <a:rPr lang="fr-FR" smtClean="0"/>
              <a:t>04/02/2026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1282784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83F6F22C-0B7F-4EBA-9F2B-848A97D2EAF8}" type="datetimeFigureOut">
              <a:rPr lang="fr-FR" smtClean="0"/>
              <a:t>04/02/2026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1245965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3F6F22C-0B7F-4EBA-9F2B-848A97D2EAF8}" type="datetimeFigureOut">
              <a:rPr lang="fr-FR" smtClean="0"/>
              <a:t>04/02/2026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3665759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3F6F22C-0B7F-4EBA-9F2B-848A97D2EAF8}" type="datetimeFigureOut">
              <a:rPr lang="fr-FR" smtClean="0"/>
              <a:t>04/02/2026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C9D7853-832E-41AC-AD95-4A492EA4FE49}" type="slidenum">
              <a:rPr lang="fr-FR" smtClean="0"/>
              <a:t>‹N°›</a:t>
            </a:fld>
            <a:endParaRPr lang="fr-FR"/>
          </a:p>
        </p:txBody>
      </p:sp>
    </p:spTree>
    <p:extLst>
      <p:ext uri="{BB962C8B-B14F-4D97-AF65-F5344CB8AC3E}">
        <p14:creationId xmlns:p14="http://schemas.microsoft.com/office/powerpoint/2010/main" val="2315183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Page de garde">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953" y="1590"/>
          <a:ext cx="1953"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3" y="1590"/>
                        <a:ext cx="1953"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10" name="Freeform 38"/>
          <p:cNvSpPr>
            <a:spLocks/>
          </p:cNvSpPr>
          <p:nvPr userDrawn="1"/>
        </p:nvSpPr>
        <p:spPr bwMode="auto">
          <a:xfrm>
            <a:off x="4061883" y="676276"/>
            <a:ext cx="3185584" cy="5516563"/>
          </a:xfrm>
          <a:custGeom>
            <a:avLst/>
            <a:gdLst/>
            <a:ahLst/>
            <a:cxnLst>
              <a:cxn ang="0">
                <a:pos x="0" y="1735"/>
              </a:cxn>
              <a:cxn ang="0">
                <a:pos x="321" y="868"/>
              </a:cxn>
              <a:cxn ang="0">
                <a:pos x="0" y="0"/>
              </a:cxn>
              <a:cxn ang="0">
                <a:pos x="752" y="868"/>
              </a:cxn>
              <a:cxn ang="0">
                <a:pos x="0" y="1735"/>
              </a:cxn>
            </a:cxnLst>
            <a:rect l="0" t="0" r="r" b="b"/>
            <a:pathLst>
              <a:path w="752" h="1735">
                <a:moveTo>
                  <a:pt x="0" y="1735"/>
                </a:moveTo>
                <a:cubicBezTo>
                  <a:pt x="285" y="1501"/>
                  <a:pt x="321" y="1016"/>
                  <a:pt x="321" y="868"/>
                </a:cubicBezTo>
                <a:cubicBezTo>
                  <a:pt x="321" y="719"/>
                  <a:pt x="285" y="234"/>
                  <a:pt x="0" y="0"/>
                </a:cubicBezTo>
                <a:cubicBezTo>
                  <a:pt x="455" y="44"/>
                  <a:pt x="752" y="386"/>
                  <a:pt x="752" y="868"/>
                </a:cubicBezTo>
                <a:cubicBezTo>
                  <a:pt x="752" y="1349"/>
                  <a:pt x="455" y="1691"/>
                  <a:pt x="0" y="1735"/>
                </a:cubicBezTo>
              </a:path>
            </a:pathLst>
          </a:custGeom>
          <a:solidFill>
            <a:srgbClr val="EAE4E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1" name="Freeform 39"/>
          <p:cNvSpPr>
            <a:spLocks/>
          </p:cNvSpPr>
          <p:nvPr userDrawn="1"/>
        </p:nvSpPr>
        <p:spPr bwMode="auto">
          <a:xfrm>
            <a:off x="-6351" y="676276"/>
            <a:ext cx="2000251" cy="5516563"/>
          </a:xfrm>
          <a:custGeom>
            <a:avLst/>
            <a:gdLst/>
            <a:ahLst/>
            <a:cxnLst>
              <a:cxn ang="0">
                <a:pos x="151" y="868"/>
              </a:cxn>
              <a:cxn ang="0">
                <a:pos x="472" y="0"/>
              </a:cxn>
              <a:cxn ang="0">
                <a:pos x="0" y="195"/>
              </a:cxn>
              <a:cxn ang="0">
                <a:pos x="0" y="1540"/>
              </a:cxn>
              <a:cxn ang="0">
                <a:pos x="472" y="1735"/>
              </a:cxn>
              <a:cxn ang="0">
                <a:pos x="151" y="868"/>
              </a:cxn>
            </a:cxnLst>
            <a:rect l="0" t="0" r="r" b="b"/>
            <a:pathLst>
              <a:path w="472" h="1735">
                <a:moveTo>
                  <a:pt x="151" y="868"/>
                </a:moveTo>
                <a:cubicBezTo>
                  <a:pt x="151" y="719"/>
                  <a:pt x="187" y="234"/>
                  <a:pt x="472" y="0"/>
                </a:cubicBezTo>
                <a:cubicBezTo>
                  <a:pt x="285" y="18"/>
                  <a:pt x="124" y="87"/>
                  <a:pt x="0" y="195"/>
                </a:cubicBezTo>
                <a:cubicBezTo>
                  <a:pt x="0" y="1540"/>
                  <a:pt x="0" y="1540"/>
                  <a:pt x="0" y="1540"/>
                </a:cubicBezTo>
                <a:cubicBezTo>
                  <a:pt x="124" y="1648"/>
                  <a:pt x="285" y="1717"/>
                  <a:pt x="472" y="1735"/>
                </a:cubicBezTo>
                <a:cubicBezTo>
                  <a:pt x="187" y="1501"/>
                  <a:pt x="151" y="1016"/>
                  <a:pt x="151" y="868"/>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2" name="Rectangle 40"/>
          <p:cNvSpPr>
            <a:spLocks noChangeArrowheads="1"/>
          </p:cNvSpPr>
          <p:nvPr userDrawn="1"/>
        </p:nvSpPr>
        <p:spPr bwMode="auto">
          <a:xfrm>
            <a:off x="2036234" y="4208463"/>
            <a:ext cx="884767" cy="12700"/>
          </a:xfrm>
          <a:prstGeom prst="rect">
            <a:avLst/>
          </a:prstGeom>
          <a:solidFill>
            <a:srgbClr val="A3968E"/>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3" name="Freeform 41"/>
          <p:cNvSpPr>
            <a:spLocks noEditPoints="1"/>
          </p:cNvSpPr>
          <p:nvPr userDrawn="1"/>
        </p:nvSpPr>
        <p:spPr bwMode="auto">
          <a:xfrm>
            <a:off x="7802033" y="1385888"/>
            <a:ext cx="3454400" cy="323850"/>
          </a:xfrm>
          <a:custGeom>
            <a:avLst/>
            <a:gdLst/>
            <a:ahLst/>
            <a:cxnLst>
              <a:cxn ang="0">
                <a:pos x="805" y="18"/>
              </a:cxn>
              <a:cxn ang="0">
                <a:pos x="810" y="14"/>
              </a:cxn>
              <a:cxn ang="0">
                <a:pos x="786" y="12"/>
              </a:cxn>
              <a:cxn ang="0">
                <a:pos x="745" y="9"/>
              </a:cxn>
              <a:cxn ang="0">
                <a:pos x="729" y="9"/>
              </a:cxn>
              <a:cxn ang="0">
                <a:pos x="735" y="5"/>
              </a:cxn>
              <a:cxn ang="0">
                <a:pos x="614" y="3"/>
              </a:cxn>
              <a:cxn ang="0">
                <a:pos x="534" y="3"/>
              </a:cxn>
              <a:cxn ang="0">
                <a:pos x="386" y="2"/>
              </a:cxn>
              <a:cxn ang="0">
                <a:pos x="254" y="3"/>
              </a:cxn>
              <a:cxn ang="0">
                <a:pos x="226" y="5"/>
              </a:cxn>
              <a:cxn ang="0">
                <a:pos x="186" y="4"/>
              </a:cxn>
              <a:cxn ang="0">
                <a:pos x="145" y="7"/>
              </a:cxn>
              <a:cxn ang="0">
                <a:pos x="129" y="8"/>
              </a:cxn>
              <a:cxn ang="0">
                <a:pos x="117" y="9"/>
              </a:cxn>
              <a:cxn ang="0">
                <a:pos x="119" y="8"/>
              </a:cxn>
              <a:cxn ang="0">
                <a:pos x="51" y="7"/>
              </a:cxn>
              <a:cxn ang="0">
                <a:pos x="29" y="40"/>
              </a:cxn>
              <a:cxn ang="0">
                <a:pos x="16" y="49"/>
              </a:cxn>
              <a:cxn ang="0">
                <a:pos x="10" y="57"/>
              </a:cxn>
              <a:cxn ang="0">
                <a:pos x="3" y="69"/>
              </a:cxn>
              <a:cxn ang="0">
                <a:pos x="0" y="75"/>
              </a:cxn>
              <a:cxn ang="0">
                <a:pos x="20" y="89"/>
              </a:cxn>
              <a:cxn ang="0">
                <a:pos x="20" y="97"/>
              </a:cxn>
              <a:cxn ang="0">
                <a:pos x="193" y="97"/>
              </a:cxn>
              <a:cxn ang="0">
                <a:pos x="250" y="95"/>
              </a:cxn>
              <a:cxn ang="0">
                <a:pos x="269" y="95"/>
              </a:cxn>
              <a:cxn ang="0">
                <a:pos x="275" y="96"/>
              </a:cxn>
              <a:cxn ang="0">
                <a:pos x="300" y="95"/>
              </a:cxn>
              <a:cxn ang="0">
                <a:pos x="333" y="95"/>
              </a:cxn>
              <a:cxn ang="0">
                <a:pos x="347" y="97"/>
              </a:cxn>
              <a:cxn ang="0">
                <a:pos x="358" y="95"/>
              </a:cxn>
              <a:cxn ang="0">
                <a:pos x="379" y="96"/>
              </a:cxn>
              <a:cxn ang="0">
                <a:pos x="385" y="96"/>
              </a:cxn>
              <a:cxn ang="0">
                <a:pos x="392" y="97"/>
              </a:cxn>
              <a:cxn ang="0">
                <a:pos x="416" y="95"/>
              </a:cxn>
              <a:cxn ang="0">
                <a:pos x="415" y="98"/>
              </a:cxn>
              <a:cxn ang="0">
                <a:pos x="438" y="97"/>
              </a:cxn>
              <a:cxn ang="0">
                <a:pos x="445" y="98"/>
              </a:cxn>
              <a:cxn ang="0">
                <a:pos x="456" y="100"/>
              </a:cxn>
              <a:cxn ang="0">
                <a:pos x="478" y="99"/>
              </a:cxn>
              <a:cxn ang="0">
                <a:pos x="480" y="97"/>
              </a:cxn>
              <a:cxn ang="0">
                <a:pos x="491" y="102"/>
              </a:cxn>
              <a:cxn ang="0">
                <a:pos x="500" y="99"/>
              </a:cxn>
              <a:cxn ang="0">
                <a:pos x="526" y="97"/>
              </a:cxn>
              <a:cxn ang="0">
                <a:pos x="531" y="97"/>
              </a:cxn>
              <a:cxn ang="0">
                <a:pos x="535" y="98"/>
              </a:cxn>
              <a:cxn ang="0">
                <a:pos x="561" y="99"/>
              </a:cxn>
              <a:cxn ang="0">
                <a:pos x="585" y="98"/>
              </a:cxn>
              <a:cxn ang="0">
                <a:pos x="687" y="98"/>
              </a:cxn>
              <a:cxn ang="0">
                <a:pos x="716" y="98"/>
              </a:cxn>
              <a:cxn ang="0">
                <a:pos x="738" y="98"/>
              </a:cxn>
              <a:cxn ang="0">
                <a:pos x="743" y="95"/>
              </a:cxn>
              <a:cxn ang="0">
                <a:pos x="749" y="91"/>
              </a:cxn>
              <a:cxn ang="0">
                <a:pos x="749" y="88"/>
              </a:cxn>
              <a:cxn ang="0">
                <a:pos x="766" y="76"/>
              </a:cxn>
              <a:cxn ang="0">
                <a:pos x="770" y="67"/>
              </a:cxn>
              <a:cxn ang="0">
                <a:pos x="778" y="57"/>
              </a:cxn>
              <a:cxn ang="0">
                <a:pos x="782" y="49"/>
              </a:cxn>
              <a:cxn ang="0">
                <a:pos x="795" y="39"/>
              </a:cxn>
              <a:cxn ang="0">
                <a:pos x="796" y="34"/>
              </a:cxn>
              <a:cxn ang="0">
                <a:pos x="797" y="28"/>
              </a:cxn>
            </a:cxnLst>
            <a:rect l="0" t="0" r="r" b="b"/>
            <a:pathLst>
              <a:path w="815" h="102">
                <a:moveTo>
                  <a:pt x="641" y="97"/>
                </a:moveTo>
                <a:cubicBezTo>
                  <a:pt x="641" y="96"/>
                  <a:pt x="643" y="98"/>
                  <a:pt x="641" y="97"/>
                </a:cubicBezTo>
                <a:moveTo>
                  <a:pt x="807" y="21"/>
                </a:moveTo>
                <a:cubicBezTo>
                  <a:pt x="810" y="20"/>
                  <a:pt x="809" y="19"/>
                  <a:pt x="805" y="18"/>
                </a:cubicBezTo>
                <a:cubicBezTo>
                  <a:pt x="807" y="18"/>
                  <a:pt x="810" y="18"/>
                  <a:pt x="811" y="16"/>
                </a:cubicBezTo>
                <a:cubicBezTo>
                  <a:pt x="810" y="16"/>
                  <a:pt x="808" y="16"/>
                  <a:pt x="807" y="17"/>
                </a:cubicBezTo>
                <a:cubicBezTo>
                  <a:pt x="808" y="16"/>
                  <a:pt x="808" y="16"/>
                  <a:pt x="807" y="15"/>
                </a:cubicBezTo>
                <a:cubicBezTo>
                  <a:pt x="807" y="13"/>
                  <a:pt x="815" y="19"/>
                  <a:pt x="810" y="14"/>
                </a:cubicBezTo>
                <a:cubicBezTo>
                  <a:pt x="813" y="15"/>
                  <a:pt x="813" y="15"/>
                  <a:pt x="810" y="13"/>
                </a:cubicBezTo>
                <a:cubicBezTo>
                  <a:pt x="810" y="12"/>
                  <a:pt x="811" y="12"/>
                  <a:pt x="812" y="13"/>
                </a:cubicBezTo>
                <a:cubicBezTo>
                  <a:pt x="811" y="9"/>
                  <a:pt x="798" y="10"/>
                  <a:pt x="796" y="11"/>
                </a:cubicBezTo>
                <a:cubicBezTo>
                  <a:pt x="792" y="11"/>
                  <a:pt x="789" y="11"/>
                  <a:pt x="786" y="12"/>
                </a:cubicBezTo>
                <a:cubicBezTo>
                  <a:pt x="785" y="12"/>
                  <a:pt x="780" y="13"/>
                  <a:pt x="783" y="12"/>
                </a:cubicBezTo>
                <a:cubicBezTo>
                  <a:pt x="772" y="12"/>
                  <a:pt x="760" y="13"/>
                  <a:pt x="748" y="14"/>
                </a:cubicBezTo>
                <a:cubicBezTo>
                  <a:pt x="749" y="13"/>
                  <a:pt x="748" y="13"/>
                  <a:pt x="747" y="12"/>
                </a:cubicBezTo>
                <a:cubicBezTo>
                  <a:pt x="747" y="12"/>
                  <a:pt x="751" y="9"/>
                  <a:pt x="745" y="9"/>
                </a:cubicBezTo>
                <a:cubicBezTo>
                  <a:pt x="742" y="9"/>
                  <a:pt x="735" y="12"/>
                  <a:pt x="732" y="10"/>
                </a:cubicBezTo>
                <a:cubicBezTo>
                  <a:pt x="732" y="9"/>
                  <a:pt x="735" y="10"/>
                  <a:pt x="736" y="9"/>
                </a:cubicBezTo>
                <a:cubicBezTo>
                  <a:pt x="734" y="9"/>
                  <a:pt x="734" y="9"/>
                  <a:pt x="735" y="9"/>
                </a:cubicBezTo>
                <a:cubicBezTo>
                  <a:pt x="733" y="9"/>
                  <a:pt x="731" y="9"/>
                  <a:pt x="729" y="9"/>
                </a:cubicBezTo>
                <a:cubicBezTo>
                  <a:pt x="731" y="9"/>
                  <a:pt x="732" y="9"/>
                  <a:pt x="734" y="9"/>
                </a:cubicBezTo>
                <a:cubicBezTo>
                  <a:pt x="733" y="9"/>
                  <a:pt x="730" y="9"/>
                  <a:pt x="730" y="8"/>
                </a:cubicBezTo>
                <a:cubicBezTo>
                  <a:pt x="731" y="8"/>
                  <a:pt x="733" y="7"/>
                  <a:pt x="735" y="7"/>
                </a:cubicBezTo>
                <a:cubicBezTo>
                  <a:pt x="729" y="8"/>
                  <a:pt x="735" y="5"/>
                  <a:pt x="735" y="5"/>
                </a:cubicBezTo>
                <a:cubicBezTo>
                  <a:pt x="714" y="0"/>
                  <a:pt x="690" y="7"/>
                  <a:pt x="668" y="5"/>
                </a:cubicBezTo>
                <a:cubicBezTo>
                  <a:pt x="663" y="4"/>
                  <a:pt x="657" y="4"/>
                  <a:pt x="652" y="4"/>
                </a:cubicBezTo>
                <a:cubicBezTo>
                  <a:pt x="647" y="3"/>
                  <a:pt x="641" y="5"/>
                  <a:pt x="636" y="3"/>
                </a:cubicBezTo>
                <a:cubicBezTo>
                  <a:pt x="630" y="1"/>
                  <a:pt x="621" y="2"/>
                  <a:pt x="614" y="3"/>
                </a:cubicBezTo>
                <a:cubicBezTo>
                  <a:pt x="604" y="4"/>
                  <a:pt x="593" y="2"/>
                  <a:pt x="583" y="3"/>
                </a:cubicBezTo>
                <a:cubicBezTo>
                  <a:pt x="573" y="3"/>
                  <a:pt x="563" y="5"/>
                  <a:pt x="553" y="5"/>
                </a:cubicBezTo>
                <a:cubicBezTo>
                  <a:pt x="547" y="5"/>
                  <a:pt x="542" y="5"/>
                  <a:pt x="537" y="3"/>
                </a:cubicBezTo>
                <a:cubicBezTo>
                  <a:pt x="537" y="3"/>
                  <a:pt x="531" y="1"/>
                  <a:pt x="534" y="3"/>
                </a:cubicBezTo>
                <a:cubicBezTo>
                  <a:pt x="512" y="1"/>
                  <a:pt x="491" y="5"/>
                  <a:pt x="470" y="4"/>
                </a:cubicBezTo>
                <a:cubicBezTo>
                  <a:pt x="460" y="3"/>
                  <a:pt x="450" y="2"/>
                  <a:pt x="441" y="2"/>
                </a:cubicBezTo>
                <a:cubicBezTo>
                  <a:pt x="422" y="2"/>
                  <a:pt x="402" y="7"/>
                  <a:pt x="384" y="2"/>
                </a:cubicBezTo>
                <a:cubicBezTo>
                  <a:pt x="385" y="2"/>
                  <a:pt x="386" y="2"/>
                  <a:pt x="386" y="2"/>
                </a:cubicBezTo>
                <a:cubicBezTo>
                  <a:pt x="366" y="2"/>
                  <a:pt x="345" y="4"/>
                  <a:pt x="324" y="3"/>
                </a:cubicBezTo>
                <a:cubicBezTo>
                  <a:pt x="325" y="3"/>
                  <a:pt x="325" y="3"/>
                  <a:pt x="326" y="3"/>
                </a:cubicBezTo>
                <a:cubicBezTo>
                  <a:pt x="310" y="3"/>
                  <a:pt x="294" y="4"/>
                  <a:pt x="279" y="4"/>
                </a:cubicBezTo>
                <a:cubicBezTo>
                  <a:pt x="270" y="4"/>
                  <a:pt x="262" y="3"/>
                  <a:pt x="254" y="3"/>
                </a:cubicBezTo>
                <a:cubicBezTo>
                  <a:pt x="250" y="3"/>
                  <a:pt x="245" y="3"/>
                  <a:pt x="241" y="3"/>
                </a:cubicBezTo>
                <a:cubicBezTo>
                  <a:pt x="240" y="4"/>
                  <a:pt x="238" y="4"/>
                  <a:pt x="237" y="4"/>
                </a:cubicBezTo>
                <a:cubicBezTo>
                  <a:pt x="232" y="4"/>
                  <a:pt x="231" y="4"/>
                  <a:pt x="234" y="5"/>
                </a:cubicBezTo>
                <a:cubicBezTo>
                  <a:pt x="233" y="5"/>
                  <a:pt x="228" y="7"/>
                  <a:pt x="226" y="5"/>
                </a:cubicBezTo>
                <a:cubicBezTo>
                  <a:pt x="228" y="5"/>
                  <a:pt x="230" y="5"/>
                  <a:pt x="232" y="5"/>
                </a:cubicBezTo>
                <a:cubicBezTo>
                  <a:pt x="223" y="5"/>
                  <a:pt x="214" y="5"/>
                  <a:pt x="206" y="5"/>
                </a:cubicBezTo>
                <a:cubicBezTo>
                  <a:pt x="199" y="6"/>
                  <a:pt x="182" y="9"/>
                  <a:pt x="176" y="5"/>
                </a:cubicBezTo>
                <a:cubicBezTo>
                  <a:pt x="179" y="5"/>
                  <a:pt x="183" y="5"/>
                  <a:pt x="186" y="4"/>
                </a:cubicBezTo>
                <a:cubicBezTo>
                  <a:pt x="172" y="4"/>
                  <a:pt x="155" y="3"/>
                  <a:pt x="144" y="4"/>
                </a:cubicBezTo>
                <a:cubicBezTo>
                  <a:pt x="149" y="5"/>
                  <a:pt x="154" y="5"/>
                  <a:pt x="159" y="6"/>
                </a:cubicBezTo>
                <a:cubicBezTo>
                  <a:pt x="154" y="6"/>
                  <a:pt x="149" y="5"/>
                  <a:pt x="144" y="6"/>
                </a:cubicBezTo>
                <a:cubicBezTo>
                  <a:pt x="145" y="6"/>
                  <a:pt x="145" y="6"/>
                  <a:pt x="145" y="7"/>
                </a:cubicBezTo>
                <a:cubicBezTo>
                  <a:pt x="141" y="7"/>
                  <a:pt x="145" y="8"/>
                  <a:pt x="140" y="8"/>
                </a:cubicBezTo>
                <a:cubicBezTo>
                  <a:pt x="142" y="9"/>
                  <a:pt x="134" y="9"/>
                  <a:pt x="133" y="9"/>
                </a:cubicBezTo>
                <a:cubicBezTo>
                  <a:pt x="135" y="9"/>
                  <a:pt x="130" y="12"/>
                  <a:pt x="128" y="9"/>
                </a:cubicBezTo>
                <a:cubicBezTo>
                  <a:pt x="135" y="10"/>
                  <a:pt x="132" y="10"/>
                  <a:pt x="129" y="8"/>
                </a:cubicBezTo>
                <a:cubicBezTo>
                  <a:pt x="130" y="9"/>
                  <a:pt x="131" y="9"/>
                  <a:pt x="132" y="8"/>
                </a:cubicBezTo>
                <a:cubicBezTo>
                  <a:pt x="131" y="9"/>
                  <a:pt x="129" y="9"/>
                  <a:pt x="128" y="9"/>
                </a:cubicBezTo>
                <a:cubicBezTo>
                  <a:pt x="124" y="10"/>
                  <a:pt x="121" y="10"/>
                  <a:pt x="121" y="10"/>
                </a:cubicBezTo>
                <a:cubicBezTo>
                  <a:pt x="119" y="10"/>
                  <a:pt x="118" y="10"/>
                  <a:pt x="117" y="9"/>
                </a:cubicBezTo>
                <a:cubicBezTo>
                  <a:pt x="119" y="9"/>
                  <a:pt x="121" y="9"/>
                  <a:pt x="123" y="9"/>
                </a:cubicBezTo>
                <a:cubicBezTo>
                  <a:pt x="122" y="9"/>
                  <a:pt x="121" y="10"/>
                  <a:pt x="120" y="10"/>
                </a:cubicBezTo>
                <a:cubicBezTo>
                  <a:pt x="122" y="8"/>
                  <a:pt x="127" y="8"/>
                  <a:pt x="129" y="8"/>
                </a:cubicBezTo>
                <a:cubicBezTo>
                  <a:pt x="127" y="7"/>
                  <a:pt x="121" y="9"/>
                  <a:pt x="119" y="8"/>
                </a:cubicBezTo>
                <a:cubicBezTo>
                  <a:pt x="120" y="8"/>
                  <a:pt x="122" y="7"/>
                  <a:pt x="123" y="7"/>
                </a:cubicBezTo>
                <a:cubicBezTo>
                  <a:pt x="105" y="7"/>
                  <a:pt x="88" y="6"/>
                  <a:pt x="70" y="6"/>
                </a:cubicBezTo>
                <a:cubicBezTo>
                  <a:pt x="67" y="7"/>
                  <a:pt x="63" y="7"/>
                  <a:pt x="59" y="8"/>
                </a:cubicBezTo>
                <a:cubicBezTo>
                  <a:pt x="58" y="7"/>
                  <a:pt x="47" y="4"/>
                  <a:pt x="51" y="7"/>
                </a:cubicBezTo>
                <a:cubicBezTo>
                  <a:pt x="44" y="7"/>
                  <a:pt x="42" y="15"/>
                  <a:pt x="40" y="19"/>
                </a:cubicBezTo>
                <a:cubicBezTo>
                  <a:pt x="38" y="22"/>
                  <a:pt x="33" y="35"/>
                  <a:pt x="29" y="35"/>
                </a:cubicBezTo>
                <a:cubicBezTo>
                  <a:pt x="30" y="36"/>
                  <a:pt x="31" y="37"/>
                  <a:pt x="31" y="38"/>
                </a:cubicBezTo>
                <a:cubicBezTo>
                  <a:pt x="27" y="37"/>
                  <a:pt x="28" y="38"/>
                  <a:pt x="29" y="40"/>
                </a:cubicBezTo>
                <a:cubicBezTo>
                  <a:pt x="26" y="39"/>
                  <a:pt x="25" y="42"/>
                  <a:pt x="27" y="43"/>
                </a:cubicBezTo>
                <a:cubicBezTo>
                  <a:pt x="24" y="44"/>
                  <a:pt x="20" y="45"/>
                  <a:pt x="22" y="47"/>
                </a:cubicBezTo>
                <a:cubicBezTo>
                  <a:pt x="18" y="45"/>
                  <a:pt x="21" y="48"/>
                  <a:pt x="21" y="48"/>
                </a:cubicBezTo>
                <a:cubicBezTo>
                  <a:pt x="20" y="49"/>
                  <a:pt x="19" y="48"/>
                  <a:pt x="16" y="49"/>
                </a:cubicBezTo>
                <a:cubicBezTo>
                  <a:pt x="18" y="48"/>
                  <a:pt x="19" y="49"/>
                  <a:pt x="20" y="49"/>
                </a:cubicBezTo>
                <a:cubicBezTo>
                  <a:pt x="19" y="49"/>
                  <a:pt x="12" y="49"/>
                  <a:pt x="15" y="52"/>
                </a:cubicBezTo>
                <a:cubicBezTo>
                  <a:pt x="7" y="51"/>
                  <a:pt x="16" y="52"/>
                  <a:pt x="12" y="53"/>
                </a:cubicBezTo>
                <a:cubicBezTo>
                  <a:pt x="16" y="53"/>
                  <a:pt x="11" y="56"/>
                  <a:pt x="10" y="57"/>
                </a:cubicBezTo>
                <a:cubicBezTo>
                  <a:pt x="15" y="56"/>
                  <a:pt x="11" y="58"/>
                  <a:pt x="13" y="58"/>
                </a:cubicBezTo>
                <a:cubicBezTo>
                  <a:pt x="10" y="59"/>
                  <a:pt x="5" y="60"/>
                  <a:pt x="10" y="62"/>
                </a:cubicBezTo>
                <a:cubicBezTo>
                  <a:pt x="7" y="63"/>
                  <a:pt x="3" y="66"/>
                  <a:pt x="8" y="65"/>
                </a:cubicBezTo>
                <a:cubicBezTo>
                  <a:pt x="5" y="66"/>
                  <a:pt x="6" y="67"/>
                  <a:pt x="3" y="69"/>
                </a:cubicBezTo>
                <a:cubicBezTo>
                  <a:pt x="6" y="69"/>
                  <a:pt x="8" y="69"/>
                  <a:pt x="10" y="70"/>
                </a:cubicBezTo>
                <a:cubicBezTo>
                  <a:pt x="7" y="70"/>
                  <a:pt x="3" y="69"/>
                  <a:pt x="7" y="72"/>
                </a:cubicBezTo>
                <a:cubicBezTo>
                  <a:pt x="6" y="72"/>
                  <a:pt x="5" y="72"/>
                  <a:pt x="4" y="72"/>
                </a:cubicBezTo>
                <a:cubicBezTo>
                  <a:pt x="3" y="72"/>
                  <a:pt x="2" y="73"/>
                  <a:pt x="0" y="75"/>
                </a:cubicBezTo>
                <a:cubicBezTo>
                  <a:pt x="11" y="76"/>
                  <a:pt x="10" y="76"/>
                  <a:pt x="21" y="77"/>
                </a:cubicBezTo>
                <a:cubicBezTo>
                  <a:pt x="21" y="80"/>
                  <a:pt x="16" y="86"/>
                  <a:pt x="21" y="88"/>
                </a:cubicBezTo>
                <a:cubicBezTo>
                  <a:pt x="19" y="87"/>
                  <a:pt x="18" y="87"/>
                  <a:pt x="18" y="89"/>
                </a:cubicBezTo>
                <a:cubicBezTo>
                  <a:pt x="19" y="89"/>
                  <a:pt x="19" y="89"/>
                  <a:pt x="20" y="89"/>
                </a:cubicBezTo>
                <a:cubicBezTo>
                  <a:pt x="18" y="89"/>
                  <a:pt x="17" y="89"/>
                  <a:pt x="16" y="91"/>
                </a:cubicBezTo>
                <a:cubicBezTo>
                  <a:pt x="19" y="91"/>
                  <a:pt x="19" y="91"/>
                  <a:pt x="16" y="92"/>
                </a:cubicBezTo>
                <a:cubicBezTo>
                  <a:pt x="19" y="92"/>
                  <a:pt x="25" y="91"/>
                  <a:pt x="27" y="94"/>
                </a:cubicBezTo>
                <a:cubicBezTo>
                  <a:pt x="24" y="95"/>
                  <a:pt x="22" y="96"/>
                  <a:pt x="20" y="97"/>
                </a:cubicBezTo>
                <a:cubicBezTo>
                  <a:pt x="29" y="96"/>
                  <a:pt x="49" y="94"/>
                  <a:pt x="58" y="94"/>
                </a:cubicBezTo>
                <a:cubicBezTo>
                  <a:pt x="69" y="94"/>
                  <a:pt x="81" y="94"/>
                  <a:pt x="92" y="94"/>
                </a:cubicBezTo>
                <a:cubicBezTo>
                  <a:pt x="113" y="95"/>
                  <a:pt x="134" y="94"/>
                  <a:pt x="155" y="95"/>
                </a:cubicBezTo>
                <a:cubicBezTo>
                  <a:pt x="167" y="96"/>
                  <a:pt x="180" y="98"/>
                  <a:pt x="193" y="97"/>
                </a:cubicBezTo>
                <a:cubicBezTo>
                  <a:pt x="196" y="97"/>
                  <a:pt x="217" y="93"/>
                  <a:pt x="217" y="94"/>
                </a:cubicBezTo>
                <a:cubicBezTo>
                  <a:pt x="214" y="95"/>
                  <a:pt x="221" y="95"/>
                  <a:pt x="221" y="95"/>
                </a:cubicBezTo>
                <a:cubicBezTo>
                  <a:pt x="220" y="94"/>
                  <a:pt x="219" y="95"/>
                  <a:pt x="219" y="96"/>
                </a:cubicBezTo>
                <a:cubicBezTo>
                  <a:pt x="226" y="96"/>
                  <a:pt x="245" y="90"/>
                  <a:pt x="250" y="95"/>
                </a:cubicBezTo>
                <a:cubicBezTo>
                  <a:pt x="249" y="95"/>
                  <a:pt x="248" y="94"/>
                  <a:pt x="247" y="94"/>
                </a:cubicBezTo>
                <a:cubicBezTo>
                  <a:pt x="250" y="97"/>
                  <a:pt x="252" y="96"/>
                  <a:pt x="255" y="95"/>
                </a:cubicBezTo>
                <a:cubicBezTo>
                  <a:pt x="258" y="94"/>
                  <a:pt x="267" y="94"/>
                  <a:pt x="264" y="94"/>
                </a:cubicBezTo>
                <a:cubicBezTo>
                  <a:pt x="266" y="94"/>
                  <a:pt x="267" y="95"/>
                  <a:pt x="269" y="95"/>
                </a:cubicBezTo>
                <a:cubicBezTo>
                  <a:pt x="268" y="93"/>
                  <a:pt x="270" y="95"/>
                  <a:pt x="270" y="95"/>
                </a:cubicBezTo>
                <a:cubicBezTo>
                  <a:pt x="268" y="95"/>
                  <a:pt x="267" y="94"/>
                  <a:pt x="266" y="94"/>
                </a:cubicBezTo>
                <a:cubicBezTo>
                  <a:pt x="269" y="92"/>
                  <a:pt x="274" y="95"/>
                  <a:pt x="270" y="96"/>
                </a:cubicBezTo>
                <a:cubicBezTo>
                  <a:pt x="271" y="97"/>
                  <a:pt x="273" y="97"/>
                  <a:pt x="275" y="96"/>
                </a:cubicBezTo>
                <a:cubicBezTo>
                  <a:pt x="271" y="97"/>
                  <a:pt x="276" y="95"/>
                  <a:pt x="277" y="95"/>
                </a:cubicBezTo>
                <a:cubicBezTo>
                  <a:pt x="279" y="95"/>
                  <a:pt x="281" y="95"/>
                  <a:pt x="283" y="95"/>
                </a:cubicBezTo>
                <a:cubicBezTo>
                  <a:pt x="283" y="97"/>
                  <a:pt x="290" y="96"/>
                  <a:pt x="288" y="95"/>
                </a:cubicBezTo>
                <a:cubicBezTo>
                  <a:pt x="288" y="93"/>
                  <a:pt x="298" y="95"/>
                  <a:pt x="300" y="95"/>
                </a:cubicBezTo>
                <a:cubicBezTo>
                  <a:pt x="307" y="93"/>
                  <a:pt x="317" y="94"/>
                  <a:pt x="325" y="95"/>
                </a:cubicBezTo>
                <a:cubicBezTo>
                  <a:pt x="321" y="95"/>
                  <a:pt x="323" y="97"/>
                  <a:pt x="325" y="95"/>
                </a:cubicBezTo>
                <a:cubicBezTo>
                  <a:pt x="325" y="94"/>
                  <a:pt x="326" y="93"/>
                  <a:pt x="328" y="94"/>
                </a:cubicBezTo>
                <a:cubicBezTo>
                  <a:pt x="332" y="94"/>
                  <a:pt x="334" y="93"/>
                  <a:pt x="333" y="95"/>
                </a:cubicBezTo>
                <a:cubicBezTo>
                  <a:pt x="333" y="95"/>
                  <a:pt x="348" y="92"/>
                  <a:pt x="350" y="95"/>
                </a:cubicBezTo>
                <a:cubicBezTo>
                  <a:pt x="350" y="95"/>
                  <a:pt x="345" y="95"/>
                  <a:pt x="344" y="96"/>
                </a:cubicBezTo>
                <a:cubicBezTo>
                  <a:pt x="347" y="96"/>
                  <a:pt x="353" y="94"/>
                  <a:pt x="356" y="95"/>
                </a:cubicBezTo>
                <a:cubicBezTo>
                  <a:pt x="353" y="95"/>
                  <a:pt x="350" y="96"/>
                  <a:pt x="347" y="97"/>
                </a:cubicBezTo>
                <a:cubicBezTo>
                  <a:pt x="348" y="97"/>
                  <a:pt x="353" y="96"/>
                  <a:pt x="354" y="96"/>
                </a:cubicBezTo>
                <a:cubicBezTo>
                  <a:pt x="353" y="97"/>
                  <a:pt x="351" y="97"/>
                  <a:pt x="350" y="98"/>
                </a:cubicBezTo>
                <a:cubicBezTo>
                  <a:pt x="353" y="98"/>
                  <a:pt x="358" y="97"/>
                  <a:pt x="360" y="96"/>
                </a:cubicBezTo>
                <a:cubicBezTo>
                  <a:pt x="360" y="95"/>
                  <a:pt x="358" y="95"/>
                  <a:pt x="358" y="95"/>
                </a:cubicBezTo>
                <a:cubicBezTo>
                  <a:pt x="360" y="95"/>
                  <a:pt x="364" y="93"/>
                  <a:pt x="366" y="95"/>
                </a:cubicBezTo>
                <a:cubicBezTo>
                  <a:pt x="362" y="95"/>
                  <a:pt x="369" y="97"/>
                  <a:pt x="365" y="98"/>
                </a:cubicBezTo>
                <a:cubicBezTo>
                  <a:pt x="371" y="97"/>
                  <a:pt x="377" y="95"/>
                  <a:pt x="383" y="96"/>
                </a:cubicBezTo>
                <a:cubicBezTo>
                  <a:pt x="382" y="96"/>
                  <a:pt x="380" y="96"/>
                  <a:pt x="379" y="96"/>
                </a:cubicBezTo>
                <a:cubicBezTo>
                  <a:pt x="380" y="97"/>
                  <a:pt x="381" y="97"/>
                  <a:pt x="381" y="97"/>
                </a:cubicBezTo>
                <a:cubicBezTo>
                  <a:pt x="377" y="99"/>
                  <a:pt x="381" y="98"/>
                  <a:pt x="384" y="98"/>
                </a:cubicBezTo>
                <a:cubicBezTo>
                  <a:pt x="380" y="96"/>
                  <a:pt x="388" y="96"/>
                  <a:pt x="389" y="96"/>
                </a:cubicBezTo>
                <a:cubicBezTo>
                  <a:pt x="388" y="96"/>
                  <a:pt x="386" y="96"/>
                  <a:pt x="385" y="96"/>
                </a:cubicBezTo>
                <a:cubicBezTo>
                  <a:pt x="386" y="96"/>
                  <a:pt x="392" y="96"/>
                  <a:pt x="392" y="96"/>
                </a:cubicBezTo>
                <a:cubicBezTo>
                  <a:pt x="392" y="96"/>
                  <a:pt x="391" y="96"/>
                  <a:pt x="391" y="95"/>
                </a:cubicBezTo>
                <a:cubicBezTo>
                  <a:pt x="393" y="96"/>
                  <a:pt x="395" y="95"/>
                  <a:pt x="396" y="97"/>
                </a:cubicBezTo>
                <a:cubicBezTo>
                  <a:pt x="395" y="96"/>
                  <a:pt x="393" y="96"/>
                  <a:pt x="392" y="97"/>
                </a:cubicBezTo>
                <a:cubicBezTo>
                  <a:pt x="397" y="97"/>
                  <a:pt x="402" y="96"/>
                  <a:pt x="407" y="96"/>
                </a:cubicBezTo>
                <a:cubicBezTo>
                  <a:pt x="407" y="96"/>
                  <a:pt x="404" y="95"/>
                  <a:pt x="404" y="95"/>
                </a:cubicBezTo>
                <a:cubicBezTo>
                  <a:pt x="406" y="96"/>
                  <a:pt x="413" y="95"/>
                  <a:pt x="413" y="97"/>
                </a:cubicBezTo>
                <a:cubicBezTo>
                  <a:pt x="413" y="96"/>
                  <a:pt x="414" y="95"/>
                  <a:pt x="416" y="95"/>
                </a:cubicBezTo>
                <a:cubicBezTo>
                  <a:pt x="416" y="96"/>
                  <a:pt x="416" y="96"/>
                  <a:pt x="417" y="96"/>
                </a:cubicBezTo>
                <a:cubicBezTo>
                  <a:pt x="417" y="96"/>
                  <a:pt x="413" y="97"/>
                  <a:pt x="415" y="98"/>
                </a:cubicBezTo>
                <a:cubicBezTo>
                  <a:pt x="415" y="98"/>
                  <a:pt x="418" y="96"/>
                  <a:pt x="418" y="97"/>
                </a:cubicBezTo>
                <a:cubicBezTo>
                  <a:pt x="417" y="98"/>
                  <a:pt x="416" y="98"/>
                  <a:pt x="415" y="98"/>
                </a:cubicBezTo>
                <a:cubicBezTo>
                  <a:pt x="418" y="98"/>
                  <a:pt x="422" y="98"/>
                  <a:pt x="425" y="99"/>
                </a:cubicBezTo>
                <a:cubicBezTo>
                  <a:pt x="426" y="99"/>
                  <a:pt x="438" y="97"/>
                  <a:pt x="432" y="96"/>
                </a:cubicBezTo>
                <a:cubicBezTo>
                  <a:pt x="433" y="96"/>
                  <a:pt x="439" y="96"/>
                  <a:pt x="439" y="95"/>
                </a:cubicBezTo>
                <a:cubicBezTo>
                  <a:pt x="438" y="95"/>
                  <a:pt x="438" y="96"/>
                  <a:pt x="438" y="97"/>
                </a:cubicBezTo>
                <a:cubicBezTo>
                  <a:pt x="439" y="96"/>
                  <a:pt x="440" y="95"/>
                  <a:pt x="441" y="96"/>
                </a:cubicBezTo>
                <a:cubicBezTo>
                  <a:pt x="440" y="97"/>
                  <a:pt x="442" y="96"/>
                  <a:pt x="443" y="97"/>
                </a:cubicBezTo>
                <a:cubicBezTo>
                  <a:pt x="441" y="97"/>
                  <a:pt x="444" y="97"/>
                  <a:pt x="445" y="97"/>
                </a:cubicBezTo>
                <a:cubicBezTo>
                  <a:pt x="444" y="97"/>
                  <a:pt x="447" y="97"/>
                  <a:pt x="445" y="98"/>
                </a:cubicBezTo>
                <a:cubicBezTo>
                  <a:pt x="447" y="99"/>
                  <a:pt x="448" y="98"/>
                  <a:pt x="448" y="97"/>
                </a:cubicBezTo>
                <a:cubicBezTo>
                  <a:pt x="448" y="97"/>
                  <a:pt x="445" y="99"/>
                  <a:pt x="445" y="99"/>
                </a:cubicBezTo>
                <a:cubicBezTo>
                  <a:pt x="448" y="99"/>
                  <a:pt x="454" y="97"/>
                  <a:pt x="457" y="98"/>
                </a:cubicBezTo>
                <a:cubicBezTo>
                  <a:pt x="457" y="99"/>
                  <a:pt x="457" y="99"/>
                  <a:pt x="456" y="100"/>
                </a:cubicBezTo>
                <a:cubicBezTo>
                  <a:pt x="458" y="100"/>
                  <a:pt x="471" y="97"/>
                  <a:pt x="472" y="99"/>
                </a:cubicBezTo>
                <a:cubicBezTo>
                  <a:pt x="468" y="99"/>
                  <a:pt x="473" y="101"/>
                  <a:pt x="474" y="101"/>
                </a:cubicBezTo>
                <a:cubicBezTo>
                  <a:pt x="475" y="101"/>
                  <a:pt x="476" y="101"/>
                  <a:pt x="477" y="100"/>
                </a:cubicBezTo>
                <a:cubicBezTo>
                  <a:pt x="477" y="100"/>
                  <a:pt x="477" y="100"/>
                  <a:pt x="478" y="99"/>
                </a:cubicBezTo>
                <a:cubicBezTo>
                  <a:pt x="475" y="98"/>
                  <a:pt x="474" y="98"/>
                  <a:pt x="477" y="98"/>
                </a:cubicBezTo>
                <a:cubicBezTo>
                  <a:pt x="477" y="99"/>
                  <a:pt x="476" y="97"/>
                  <a:pt x="475" y="97"/>
                </a:cubicBezTo>
                <a:cubicBezTo>
                  <a:pt x="479" y="97"/>
                  <a:pt x="479" y="99"/>
                  <a:pt x="482" y="97"/>
                </a:cubicBezTo>
                <a:cubicBezTo>
                  <a:pt x="482" y="97"/>
                  <a:pt x="481" y="97"/>
                  <a:pt x="480" y="97"/>
                </a:cubicBezTo>
                <a:cubicBezTo>
                  <a:pt x="484" y="97"/>
                  <a:pt x="484" y="97"/>
                  <a:pt x="484" y="97"/>
                </a:cubicBezTo>
                <a:cubicBezTo>
                  <a:pt x="484" y="97"/>
                  <a:pt x="484" y="98"/>
                  <a:pt x="483" y="99"/>
                </a:cubicBezTo>
                <a:cubicBezTo>
                  <a:pt x="484" y="99"/>
                  <a:pt x="485" y="99"/>
                  <a:pt x="486" y="99"/>
                </a:cubicBezTo>
                <a:cubicBezTo>
                  <a:pt x="484" y="98"/>
                  <a:pt x="489" y="102"/>
                  <a:pt x="491" y="102"/>
                </a:cubicBezTo>
                <a:cubicBezTo>
                  <a:pt x="491" y="101"/>
                  <a:pt x="490" y="101"/>
                  <a:pt x="490" y="101"/>
                </a:cubicBezTo>
                <a:cubicBezTo>
                  <a:pt x="492" y="100"/>
                  <a:pt x="494" y="100"/>
                  <a:pt x="495" y="99"/>
                </a:cubicBezTo>
                <a:cubicBezTo>
                  <a:pt x="497" y="98"/>
                  <a:pt x="499" y="97"/>
                  <a:pt x="501" y="97"/>
                </a:cubicBezTo>
                <a:cubicBezTo>
                  <a:pt x="501" y="99"/>
                  <a:pt x="502" y="97"/>
                  <a:pt x="500" y="99"/>
                </a:cubicBezTo>
                <a:cubicBezTo>
                  <a:pt x="503" y="97"/>
                  <a:pt x="507" y="97"/>
                  <a:pt x="510" y="97"/>
                </a:cubicBezTo>
                <a:cubicBezTo>
                  <a:pt x="513" y="99"/>
                  <a:pt x="504" y="98"/>
                  <a:pt x="503" y="99"/>
                </a:cubicBezTo>
                <a:cubicBezTo>
                  <a:pt x="504" y="99"/>
                  <a:pt x="512" y="97"/>
                  <a:pt x="510" y="100"/>
                </a:cubicBezTo>
                <a:cubicBezTo>
                  <a:pt x="512" y="99"/>
                  <a:pt x="524" y="96"/>
                  <a:pt x="526" y="97"/>
                </a:cubicBezTo>
                <a:cubicBezTo>
                  <a:pt x="525" y="97"/>
                  <a:pt x="525" y="97"/>
                  <a:pt x="524" y="97"/>
                </a:cubicBezTo>
                <a:cubicBezTo>
                  <a:pt x="524" y="97"/>
                  <a:pt x="528" y="96"/>
                  <a:pt x="529" y="96"/>
                </a:cubicBezTo>
                <a:cubicBezTo>
                  <a:pt x="529" y="96"/>
                  <a:pt x="528" y="96"/>
                  <a:pt x="528" y="96"/>
                </a:cubicBezTo>
                <a:cubicBezTo>
                  <a:pt x="529" y="97"/>
                  <a:pt x="530" y="97"/>
                  <a:pt x="531" y="97"/>
                </a:cubicBezTo>
                <a:cubicBezTo>
                  <a:pt x="531" y="97"/>
                  <a:pt x="531" y="97"/>
                  <a:pt x="530" y="98"/>
                </a:cubicBezTo>
                <a:cubicBezTo>
                  <a:pt x="532" y="98"/>
                  <a:pt x="534" y="98"/>
                  <a:pt x="535" y="98"/>
                </a:cubicBezTo>
                <a:cubicBezTo>
                  <a:pt x="534" y="98"/>
                  <a:pt x="530" y="97"/>
                  <a:pt x="529" y="99"/>
                </a:cubicBezTo>
                <a:cubicBezTo>
                  <a:pt x="531" y="98"/>
                  <a:pt x="533" y="98"/>
                  <a:pt x="535" y="98"/>
                </a:cubicBezTo>
                <a:cubicBezTo>
                  <a:pt x="533" y="99"/>
                  <a:pt x="530" y="98"/>
                  <a:pt x="529" y="99"/>
                </a:cubicBezTo>
                <a:cubicBezTo>
                  <a:pt x="532" y="99"/>
                  <a:pt x="544" y="95"/>
                  <a:pt x="550" y="98"/>
                </a:cubicBezTo>
                <a:cubicBezTo>
                  <a:pt x="549" y="99"/>
                  <a:pt x="552" y="98"/>
                  <a:pt x="555" y="98"/>
                </a:cubicBezTo>
                <a:cubicBezTo>
                  <a:pt x="562" y="97"/>
                  <a:pt x="553" y="98"/>
                  <a:pt x="561" y="99"/>
                </a:cubicBezTo>
                <a:cubicBezTo>
                  <a:pt x="560" y="98"/>
                  <a:pt x="559" y="98"/>
                  <a:pt x="558" y="98"/>
                </a:cubicBezTo>
                <a:cubicBezTo>
                  <a:pt x="560" y="98"/>
                  <a:pt x="562" y="98"/>
                  <a:pt x="563" y="98"/>
                </a:cubicBezTo>
                <a:cubicBezTo>
                  <a:pt x="562" y="98"/>
                  <a:pt x="562" y="98"/>
                  <a:pt x="561" y="98"/>
                </a:cubicBezTo>
                <a:cubicBezTo>
                  <a:pt x="567" y="101"/>
                  <a:pt x="579" y="98"/>
                  <a:pt x="585" y="98"/>
                </a:cubicBezTo>
                <a:cubicBezTo>
                  <a:pt x="597" y="98"/>
                  <a:pt x="609" y="98"/>
                  <a:pt x="620" y="98"/>
                </a:cubicBezTo>
                <a:cubicBezTo>
                  <a:pt x="632" y="98"/>
                  <a:pt x="644" y="98"/>
                  <a:pt x="656" y="98"/>
                </a:cubicBezTo>
                <a:cubicBezTo>
                  <a:pt x="664" y="98"/>
                  <a:pt x="678" y="96"/>
                  <a:pt x="686" y="99"/>
                </a:cubicBezTo>
                <a:cubicBezTo>
                  <a:pt x="685" y="98"/>
                  <a:pt x="685" y="97"/>
                  <a:pt x="687" y="98"/>
                </a:cubicBezTo>
                <a:cubicBezTo>
                  <a:pt x="688" y="98"/>
                  <a:pt x="692" y="98"/>
                  <a:pt x="694" y="98"/>
                </a:cubicBezTo>
                <a:cubicBezTo>
                  <a:pt x="697" y="98"/>
                  <a:pt x="700" y="99"/>
                  <a:pt x="704" y="99"/>
                </a:cubicBezTo>
                <a:cubicBezTo>
                  <a:pt x="707" y="99"/>
                  <a:pt x="709" y="96"/>
                  <a:pt x="713" y="98"/>
                </a:cubicBezTo>
                <a:cubicBezTo>
                  <a:pt x="708" y="99"/>
                  <a:pt x="716" y="99"/>
                  <a:pt x="716" y="98"/>
                </a:cubicBezTo>
                <a:cubicBezTo>
                  <a:pt x="714" y="99"/>
                  <a:pt x="713" y="98"/>
                  <a:pt x="712" y="98"/>
                </a:cubicBezTo>
                <a:cubicBezTo>
                  <a:pt x="715" y="98"/>
                  <a:pt x="718" y="98"/>
                  <a:pt x="721" y="97"/>
                </a:cubicBezTo>
                <a:cubicBezTo>
                  <a:pt x="721" y="98"/>
                  <a:pt x="721" y="98"/>
                  <a:pt x="720" y="99"/>
                </a:cubicBezTo>
                <a:cubicBezTo>
                  <a:pt x="721" y="99"/>
                  <a:pt x="738" y="96"/>
                  <a:pt x="738" y="98"/>
                </a:cubicBezTo>
                <a:cubicBezTo>
                  <a:pt x="737" y="98"/>
                  <a:pt x="737" y="98"/>
                  <a:pt x="736" y="98"/>
                </a:cubicBezTo>
                <a:cubicBezTo>
                  <a:pt x="738" y="98"/>
                  <a:pt x="740" y="98"/>
                  <a:pt x="740" y="97"/>
                </a:cubicBezTo>
                <a:cubicBezTo>
                  <a:pt x="740" y="96"/>
                  <a:pt x="743" y="96"/>
                  <a:pt x="742" y="96"/>
                </a:cubicBezTo>
                <a:cubicBezTo>
                  <a:pt x="743" y="96"/>
                  <a:pt x="744" y="95"/>
                  <a:pt x="743" y="95"/>
                </a:cubicBezTo>
                <a:cubicBezTo>
                  <a:pt x="739" y="96"/>
                  <a:pt x="741" y="96"/>
                  <a:pt x="742" y="94"/>
                </a:cubicBezTo>
                <a:cubicBezTo>
                  <a:pt x="741" y="95"/>
                  <a:pt x="738" y="93"/>
                  <a:pt x="740" y="92"/>
                </a:cubicBezTo>
                <a:cubicBezTo>
                  <a:pt x="740" y="92"/>
                  <a:pt x="740" y="93"/>
                  <a:pt x="740" y="93"/>
                </a:cubicBezTo>
                <a:cubicBezTo>
                  <a:pt x="738" y="90"/>
                  <a:pt x="748" y="93"/>
                  <a:pt x="749" y="91"/>
                </a:cubicBezTo>
                <a:cubicBezTo>
                  <a:pt x="748" y="91"/>
                  <a:pt x="742" y="91"/>
                  <a:pt x="741" y="90"/>
                </a:cubicBezTo>
                <a:cubicBezTo>
                  <a:pt x="741" y="89"/>
                  <a:pt x="745" y="87"/>
                  <a:pt x="747" y="87"/>
                </a:cubicBezTo>
                <a:cubicBezTo>
                  <a:pt x="747" y="88"/>
                  <a:pt x="747" y="89"/>
                  <a:pt x="746" y="90"/>
                </a:cubicBezTo>
                <a:cubicBezTo>
                  <a:pt x="748" y="90"/>
                  <a:pt x="749" y="90"/>
                  <a:pt x="749" y="88"/>
                </a:cubicBezTo>
                <a:cubicBezTo>
                  <a:pt x="753" y="89"/>
                  <a:pt x="756" y="84"/>
                  <a:pt x="756" y="85"/>
                </a:cubicBezTo>
                <a:cubicBezTo>
                  <a:pt x="758" y="84"/>
                  <a:pt x="761" y="81"/>
                  <a:pt x="763" y="80"/>
                </a:cubicBezTo>
                <a:cubicBezTo>
                  <a:pt x="762" y="80"/>
                  <a:pt x="762" y="80"/>
                  <a:pt x="761" y="79"/>
                </a:cubicBezTo>
                <a:cubicBezTo>
                  <a:pt x="765" y="79"/>
                  <a:pt x="767" y="78"/>
                  <a:pt x="766" y="76"/>
                </a:cubicBezTo>
                <a:cubicBezTo>
                  <a:pt x="771" y="75"/>
                  <a:pt x="770" y="74"/>
                  <a:pt x="768" y="74"/>
                </a:cubicBezTo>
                <a:cubicBezTo>
                  <a:pt x="768" y="72"/>
                  <a:pt x="770" y="70"/>
                  <a:pt x="772" y="70"/>
                </a:cubicBezTo>
                <a:cubicBezTo>
                  <a:pt x="771" y="68"/>
                  <a:pt x="768" y="71"/>
                  <a:pt x="767" y="69"/>
                </a:cubicBezTo>
                <a:cubicBezTo>
                  <a:pt x="770" y="70"/>
                  <a:pt x="774" y="68"/>
                  <a:pt x="770" y="67"/>
                </a:cubicBezTo>
                <a:cubicBezTo>
                  <a:pt x="772" y="64"/>
                  <a:pt x="770" y="66"/>
                  <a:pt x="770" y="64"/>
                </a:cubicBezTo>
                <a:cubicBezTo>
                  <a:pt x="773" y="63"/>
                  <a:pt x="764" y="61"/>
                  <a:pt x="764" y="61"/>
                </a:cubicBezTo>
                <a:cubicBezTo>
                  <a:pt x="769" y="60"/>
                  <a:pt x="765" y="61"/>
                  <a:pt x="764" y="60"/>
                </a:cubicBezTo>
                <a:cubicBezTo>
                  <a:pt x="764" y="58"/>
                  <a:pt x="776" y="57"/>
                  <a:pt x="778" y="57"/>
                </a:cubicBezTo>
                <a:cubicBezTo>
                  <a:pt x="777" y="57"/>
                  <a:pt x="777" y="56"/>
                  <a:pt x="775" y="54"/>
                </a:cubicBezTo>
                <a:cubicBezTo>
                  <a:pt x="776" y="56"/>
                  <a:pt x="779" y="50"/>
                  <a:pt x="781" y="50"/>
                </a:cubicBezTo>
                <a:cubicBezTo>
                  <a:pt x="780" y="50"/>
                  <a:pt x="776" y="50"/>
                  <a:pt x="776" y="49"/>
                </a:cubicBezTo>
                <a:cubicBezTo>
                  <a:pt x="778" y="49"/>
                  <a:pt x="780" y="48"/>
                  <a:pt x="782" y="49"/>
                </a:cubicBezTo>
                <a:cubicBezTo>
                  <a:pt x="779" y="45"/>
                  <a:pt x="786" y="49"/>
                  <a:pt x="786" y="45"/>
                </a:cubicBezTo>
                <a:cubicBezTo>
                  <a:pt x="786" y="41"/>
                  <a:pt x="789" y="43"/>
                  <a:pt x="787" y="40"/>
                </a:cubicBezTo>
                <a:cubicBezTo>
                  <a:pt x="787" y="40"/>
                  <a:pt x="796" y="37"/>
                  <a:pt x="792" y="40"/>
                </a:cubicBezTo>
                <a:cubicBezTo>
                  <a:pt x="793" y="40"/>
                  <a:pt x="794" y="40"/>
                  <a:pt x="795" y="39"/>
                </a:cubicBezTo>
                <a:cubicBezTo>
                  <a:pt x="794" y="39"/>
                  <a:pt x="794" y="39"/>
                  <a:pt x="793" y="38"/>
                </a:cubicBezTo>
                <a:cubicBezTo>
                  <a:pt x="795" y="38"/>
                  <a:pt x="798" y="37"/>
                  <a:pt x="797" y="35"/>
                </a:cubicBezTo>
                <a:cubicBezTo>
                  <a:pt x="795" y="35"/>
                  <a:pt x="795" y="37"/>
                  <a:pt x="793" y="36"/>
                </a:cubicBezTo>
                <a:cubicBezTo>
                  <a:pt x="794" y="35"/>
                  <a:pt x="795" y="35"/>
                  <a:pt x="796" y="34"/>
                </a:cubicBezTo>
                <a:cubicBezTo>
                  <a:pt x="795" y="34"/>
                  <a:pt x="795" y="34"/>
                  <a:pt x="794" y="34"/>
                </a:cubicBezTo>
                <a:cubicBezTo>
                  <a:pt x="796" y="34"/>
                  <a:pt x="799" y="33"/>
                  <a:pt x="800" y="32"/>
                </a:cubicBezTo>
                <a:cubicBezTo>
                  <a:pt x="796" y="32"/>
                  <a:pt x="799" y="30"/>
                  <a:pt x="799" y="29"/>
                </a:cubicBezTo>
                <a:cubicBezTo>
                  <a:pt x="799" y="29"/>
                  <a:pt x="798" y="29"/>
                  <a:pt x="797" y="28"/>
                </a:cubicBezTo>
                <a:cubicBezTo>
                  <a:pt x="798" y="28"/>
                  <a:pt x="802" y="27"/>
                  <a:pt x="804" y="26"/>
                </a:cubicBezTo>
                <a:cubicBezTo>
                  <a:pt x="802" y="27"/>
                  <a:pt x="802" y="26"/>
                  <a:pt x="801" y="24"/>
                </a:cubicBezTo>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4" name="Freeform 42"/>
          <p:cNvSpPr>
            <a:spLocks noEditPoints="1"/>
          </p:cNvSpPr>
          <p:nvPr userDrawn="1"/>
        </p:nvSpPr>
        <p:spPr bwMode="auto">
          <a:xfrm>
            <a:off x="8428567" y="1484314"/>
            <a:ext cx="114300" cy="123825"/>
          </a:xfrm>
          <a:custGeom>
            <a:avLst/>
            <a:gdLst/>
            <a:ahLst/>
            <a:cxnLst>
              <a:cxn ang="0">
                <a:pos x="14" y="20"/>
              </a:cxn>
              <a:cxn ang="0">
                <a:pos x="4" y="20"/>
              </a:cxn>
              <a:cxn ang="0">
                <a:pos x="4" y="35"/>
              </a:cxn>
              <a:cxn ang="0">
                <a:pos x="14" y="35"/>
              </a:cxn>
              <a:cxn ang="0">
                <a:pos x="22" y="28"/>
              </a:cxn>
              <a:cxn ang="0">
                <a:pos x="14" y="20"/>
              </a:cxn>
              <a:cxn ang="0">
                <a:pos x="14" y="4"/>
              </a:cxn>
              <a:cxn ang="0">
                <a:pos x="4" y="4"/>
              </a:cxn>
              <a:cxn ang="0">
                <a:pos x="4" y="16"/>
              </a:cxn>
              <a:cxn ang="0">
                <a:pos x="14" y="16"/>
              </a:cxn>
              <a:cxn ang="0">
                <a:pos x="21" y="10"/>
              </a:cxn>
              <a:cxn ang="0">
                <a:pos x="14" y="4"/>
              </a:cxn>
              <a:cxn ang="0">
                <a:pos x="14" y="39"/>
              </a:cxn>
              <a:cxn ang="0">
                <a:pos x="0" y="39"/>
              </a:cxn>
              <a:cxn ang="0">
                <a:pos x="0" y="0"/>
              </a:cxn>
              <a:cxn ang="0">
                <a:pos x="14" y="0"/>
              </a:cxn>
              <a:cxn ang="0">
                <a:pos x="25" y="10"/>
              </a:cxn>
              <a:cxn ang="0">
                <a:pos x="19" y="18"/>
              </a:cxn>
              <a:cxn ang="0">
                <a:pos x="27" y="28"/>
              </a:cxn>
              <a:cxn ang="0">
                <a:pos x="14" y="39"/>
              </a:cxn>
            </a:cxnLst>
            <a:rect l="0" t="0" r="r" b="b"/>
            <a:pathLst>
              <a:path w="27" h="39">
                <a:moveTo>
                  <a:pt x="14" y="20"/>
                </a:moveTo>
                <a:cubicBezTo>
                  <a:pt x="4" y="20"/>
                  <a:pt x="4" y="20"/>
                  <a:pt x="4" y="20"/>
                </a:cubicBezTo>
                <a:cubicBezTo>
                  <a:pt x="4" y="35"/>
                  <a:pt x="4" y="35"/>
                  <a:pt x="4" y="35"/>
                </a:cubicBezTo>
                <a:cubicBezTo>
                  <a:pt x="14" y="35"/>
                  <a:pt x="14" y="35"/>
                  <a:pt x="14" y="35"/>
                </a:cubicBezTo>
                <a:cubicBezTo>
                  <a:pt x="20" y="35"/>
                  <a:pt x="22" y="32"/>
                  <a:pt x="22" y="28"/>
                </a:cubicBezTo>
                <a:cubicBezTo>
                  <a:pt x="22" y="23"/>
                  <a:pt x="19" y="20"/>
                  <a:pt x="14" y="20"/>
                </a:cubicBezTo>
                <a:moveTo>
                  <a:pt x="14" y="4"/>
                </a:moveTo>
                <a:cubicBezTo>
                  <a:pt x="4" y="4"/>
                  <a:pt x="4" y="4"/>
                  <a:pt x="4" y="4"/>
                </a:cubicBezTo>
                <a:cubicBezTo>
                  <a:pt x="4" y="16"/>
                  <a:pt x="4" y="16"/>
                  <a:pt x="4" y="16"/>
                </a:cubicBezTo>
                <a:cubicBezTo>
                  <a:pt x="14" y="16"/>
                  <a:pt x="14" y="16"/>
                  <a:pt x="14" y="16"/>
                </a:cubicBezTo>
                <a:cubicBezTo>
                  <a:pt x="19" y="16"/>
                  <a:pt x="21" y="13"/>
                  <a:pt x="21" y="10"/>
                </a:cubicBezTo>
                <a:cubicBezTo>
                  <a:pt x="21" y="7"/>
                  <a:pt x="18" y="4"/>
                  <a:pt x="14" y="4"/>
                </a:cubicBezTo>
                <a:moveTo>
                  <a:pt x="14" y="39"/>
                </a:moveTo>
                <a:cubicBezTo>
                  <a:pt x="0" y="39"/>
                  <a:pt x="0" y="39"/>
                  <a:pt x="0" y="39"/>
                </a:cubicBezTo>
                <a:cubicBezTo>
                  <a:pt x="0" y="0"/>
                  <a:pt x="0" y="0"/>
                  <a:pt x="0" y="0"/>
                </a:cubicBezTo>
                <a:cubicBezTo>
                  <a:pt x="14" y="0"/>
                  <a:pt x="14" y="0"/>
                  <a:pt x="14" y="0"/>
                </a:cubicBezTo>
                <a:cubicBezTo>
                  <a:pt x="20" y="0"/>
                  <a:pt x="25" y="3"/>
                  <a:pt x="25" y="10"/>
                </a:cubicBezTo>
                <a:cubicBezTo>
                  <a:pt x="25" y="14"/>
                  <a:pt x="23" y="17"/>
                  <a:pt x="19" y="18"/>
                </a:cubicBezTo>
                <a:cubicBezTo>
                  <a:pt x="23" y="19"/>
                  <a:pt x="27" y="21"/>
                  <a:pt x="27" y="28"/>
                </a:cubicBezTo>
                <a:cubicBezTo>
                  <a:pt x="27" y="35"/>
                  <a:pt x="22" y="39"/>
                  <a:pt x="14" y="39"/>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5" name="Freeform 43"/>
          <p:cNvSpPr>
            <a:spLocks/>
          </p:cNvSpPr>
          <p:nvPr userDrawn="1"/>
        </p:nvSpPr>
        <p:spPr bwMode="auto">
          <a:xfrm>
            <a:off x="8600016" y="1484313"/>
            <a:ext cx="118533" cy="127000"/>
          </a:xfrm>
          <a:custGeom>
            <a:avLst/>
            <a:gdLst/>
            <a:ahLst/>
            <a:cxnLst>
              <a:cxn ang="0">
                <a:pos x="14" y="40"/>
              </a:cxn>
              <a:cxn ang="0">
                <a:pos x="0" y="23"/>
              </a:cxn>
              <a:cxn ang="0">
                <a:pos x="0" y="0"/>
              </a:cxn>
              <a:cxn ang="0">
                <a:pos x="5" y="0"/>
              </a:cxn>
              <a:cxn ang="0">
                <a:pos x="5" y="23"/>
              </a:cxn>
              <a:cxn ang="0">
                <a:pos x="15" y="36"/>
              </a:cxn>
              <a:cxn ang="0">
                <a:pos x="24" y="23"/>
              </a:cxn>
              <a:cxn ang="0">
                <a:pos x="24" y="0"/>
              </a:cxn>
              <a:cxn ang="0">
                <a:pos x="28" y="0"/>
              </a:cxn>
              <a:cxn ang="0">
                <a:pos x="28" y="23"/>
              </a:cxn>
              <a:cxn ang="0">
                <a:pos x="14" y="40"/>
              </a:cxn>
            </a:cxnLst>
            <a:rect l="0" t="0" r="r" b="b"/>
            <a:pathLst>
              <a:path w="28" h="40">
                <a:moveTo>
                  <a:pt x="14" y="40"/>
                </a:moveTo>
                <a:cubicBezTo>
                  <a:pt x="5" y="40"/>
                  <a:pt x="0" y="34"/>
                  <a:pt x="0" y="23"/>
                </a:cubicBezTo>
                <a:cubicBezTo>
                  <a:pt x="0" y="0"/>
                  <a:pt x="0" y="0"/>
                  <a:pt x="0" y="0"/>
                </a:cubicBezTo>
                <a:cubicBezTo>
                  <a:pt x="5" y="0"/>
                  <a:pt x="5" y="0"/>
                  <a:pt x="5" y="0"/>
                </a:cubicBezTo>
                <a:cubicBezTo>
                  <a:pt x="5" y="23"/>
                  <a:pt x="5" y="23"/>
                  <a:pt x="5" y="23"/>
                </a:cubicBezTo>
                <a:cubicBezTo>
                  <a:pt x="5" y="32"/>
                  <a:pt x="8" y="36"/>
                  <a:pt x="15" y="36"/>
                </a:cubicBezTo>
                <a:cubicBezTo>
                  <a:pt x="21" y="36"/>
                  <a:pt x="24" y="32"/>
                  <a:pt x="24" y="23"/>
                </a:cubicBezTo>
                <a:cubicBezTo>
                  <a:pt x="24" y="0"/>
                  <a:pt x="24" y="0"/>
                  <a:pt x="24" y="0"/>
                </a:cubicBezTo>
                <a:cubicBezTo>
                  <a:pt x="28" y="0"/>
                  <a:pt x="28" y="0"/>
                  <a:pt x="28" y="0"/>
                </a:cubicBezTo>
                <a:cubicBezTo>
                  <a:pt x="28" y="23"/>
                  <a:pt x="28" y="23"/>
                  <a:pt x="28" y="23"/>
                </a:cubicBezTo>
                <a:cubicBezTo>
                  <a:pt x="28" y="34"/>
                  <a:pt x="24" y="40"/>
                  <a:pt x="14"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6" name="Freeform 44"/>
          <p:cNvSpPr>
            <a:spLocks/>
          </p:cNvSpPr>
          <p:nvPr userDrawn="1"/>
        </p:nvSpPr>
        <p:spPr bwMode="auto">
          <a:xfrm>
            <a:off x="8773583" y="1484313"/>
            <a:ext cx="110067" cy="127000"/>
          </a:xfrm>
          <a:custGeom>
            <a:avLst/>
            <a:gdLst/>
            <a:ahLst/>
            <a:cxnLst>
              <a:cxn ang="0">
                <a:pos x="13" y="40"/>
              </a:cxn>
              <a:cxn ang="0">
                <a:pos x="0" y="34"/>
              </a:cxn>
              <a:cxn ang="0">
                <a:pos x="3" y="31"/>
              </a:cxn>
              <a:cxn ang="0">
                <a:pos x="14" y="36"/>
              </a:cxn>
              <a:cxn ang="0">
                <a:pos x="22" y="29"/>
              </a:cxn>
              <a:cxn ang="0">
                <a:pos x="13" y="21"/>
              </a:cxn>
              <a:cxn ang="0">
                <a:pos x="1" y="10"/>
              </a:cxn>
              <a:cxn ang="0">
                <a:pos x="14" y="0"/>
              </a:cxn>
              <a:cxn ang="0">
                <a:pos x="25" y="4"/>
              </a:cxn>
              <a:cxn ang="0">
                <a:pos x="23" y="7"/>
              </a:cxn>
              <a:cxn ang="0">
                <a:pos x="13" y="4"/>
              </a:cxn>
              <a:cxn ang="0">
                <a:pos x="6" y="9"/>
              </a:cxn>
              <a:cxn ang="0">
                <a:pos x="15" y="17"/>
              </a:cxn>
              <a:cxn ang="0">
                <a:pos x="26" y="29"/>
              </a:cxn>
              <a:cxn ang="0">
                <a:pos x="13" y="40"/>
              </a:cxn>
            </a:cxnLst>
            <a:rect l="0" t="0" r="r" b="b"/>
            <a:pathLst>
              <a:path w="26" h="40">
                <a:moveTo>
                  <a:pt x="13" y="40"/>
                </a:moveTo>
                <a:cubicBezTo>
                  <a:pt x="8" y="40"/>
                  <a:pt x="3" y="37"/>
                  <a:pt x="0" y="34"/>
                </a:cubicBezTo>
                <a:cubicBezTo>
                  <a:pt x="3" y="31"/>
                  <a:pt x="3" y="31"/>
                  <a:pt x="3" y="31"/>
                </a:cubicBezTo>
                <a:cubicBezTo>
                  <a:pt x="6" y="34"/>
                  <a:pt x="10" y="36"/>
                  <a:pt x="14" y="36"/>
                </a:cubicBezTo>
                <a:cubicBezTo>
                  <a:pt x="19" y="36"/>
                  <a:pt x="22" y="33"/>
                  <a:pt x="22" y="29"/>
                </a:cubicBezTo>
                <a:cubicBezTo>
                  <a:pt x="22" y="26"/>
                  <a:pt x="20" y="23"/>
                  <a:pt x="13" y="21"/>
                </a:cubicBezTo>
                <a:cubicBezTo>
                  <a:pt x="4" y="18"/>
                  <a:pt x="1" y="15"/>
                  <a:pt x="1" y="10"/>
                </a:cubicBezTo>
                <a:cubicBezTo>
                  <a:pt x="1" y="3"/>
                  <a:pt x="6" y="0"/>
                  <a:pt x="14" y="0"/>
                </a:cubicBezTo>
                <a:cubicBezTo>
                  <a:pt x="19" y="0"/>
                  <a:pt x="22" y="1"/>
                  <a:pt x="25" y="4"/>
                </a:cubicBezTo>
                <a:cubicBezTo>
                  <a:pt x="23" y="7"/>
                  <a:pt x="23" y="7"/>
                  <a:pt x="23" y="7"/>
                </a:cubicBezTo>
                <a:cubicBezTo>
                  <a:pt x="20" y="5"/>
                  <a:pt x="17" y="4"/>
                  <a:pt x="13" y="4"/>
                </a:cubicBezTo>
                <a:cubicBezTo>
                  <a:pt x="8" y="4"/>
                  <a:pt x="6" y="6"/>
                  <a:pt x="6" y="9"/>
                </a:cubicBezTo>
                <a:cubicBezTo>
                  <a:pt x="6" y="12"/>
                  <a:pt x="7" y="14"/>
                  <a:pt x="15" y="17"/>
                </a:cubicBezTo>
                <a:cubicBezTo>
                  <a:pt x="24" y="20"/>
                  <a:pt x="26" y="23"/>
                  <a:pt x="26" y="29"/>
                </a:cubicBezTo>
                <a:cubicBezTo>
                  <a:pt x="26" y="35"/>
                  <a:pt x="21" y="40"/>
                  <a:pt x="13"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7" name="Rectangle 45"/>
          <p:cNvSpPr>
            <a:spLocks noChangeArrowheads="1"/>
          </p:cNvSpPr>
          <p:nvPr userDrawn="1"/>
        </p:nvSpPr>
        <p:spPr bwMode="auto">
          <a:xfrm>
            <a:off x="8947150" y="1484314"/>
            <a:ext cx="16933" cy="12382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8" name="Freeform 46"/>
          <p:cNvSpPr>
            <a:spLocks/>
          </p:cNvSpPr>
          <p:nvPr userDrawn="1"/>
        </p:nvSpPr>
        <p:spPr bwMode="auto">
          <a:xfrm>
            <a:off x="9036050" y="1484314"/>
            <a:ext cx="118533" cy="123825"/>
          </a:xfrm>
          <a:custGeom>
            <a:avLst/>
            <a:gdLst/>
            <a:ahLst/>
            <a:cxnLst>
              <a:cxn ang="0">
                <a:pos x="24" y="39"/>
              </a:cxn>
              <a:cxn ang="0">
                <a:pos x="7" y="12"/>
              </a:cxn>
              <a:cxn ang="0">
                <a:pos x="4" y="8"/>
              </a:cxn>
              <a:cxn ang="0">
                <a:pos x="4" y="10"/>
              </a:cxn>
              <a:cxn ang="0">
                <a:pos x="4" y="39"/>
              </a:cxn>
              <a:cxn ang="0">
                <a:pos x="0" y="39"/>
              </a:cxn>
              <a:cxn ang="0">
                <a:pos x="0" y="0"/>
              </a:cxn>
              <a:cxn ang="0">
                <a:pos x="4" y="0"/>
              </a:cxn>
              <a:cxn ang="0">
                <a:pos x="21" y="27"/>
              </a:cxn>
              <a:cxn ang="0">
                <a:pos x="24" y="32"/>
              </a:cxn>
              <a:cxn ang="0">
                <a:pos x="24" y="30"/>
              </a:cxn>
              <a:cxn ang="0">
                <a:pos x="24" y="0"/>
              </a:cxn>
              <a:cxn ang="0">
                <a:pos x="28" y="0"/>
              </a:cxn>
              <a:cxn ang="0">
                <a:pos x="28" y="39"/>
              </a:cxn>
              <a:cxn ang="0">
                <a:pos x="24" y="39"/>
              </a:cxn>
            </a:cxnLst>
            <a:rect l="0" t="0" r="r" b="b"/>
            <a:pathLst>
              <a:path w="28" h="39">
                <a:moveTo>
                  <a:pt x="24" y="39"/>
                </a:moveTo>
                <a:cubicBezTo>
                  <a:pt x="7" y="12"/>
                  <a:pt x="7" y="12"/>
                  <a:pt x="7" y="12"/>
                </a:cubicBezTo>
                <a:cubicBezTo>
                  <a:pt x="6" y="11"/>
                  <a:pt x="4" y="9"/>
                  <a:pt x="4" y="8"/>
                </a:cubicBezTo>
                <a:cubicBezTo>
                  <a:pt x="4" y="10"/>
                  <a:pt x="4" y="10"/>
                  <a:pt x="4" y="10"/>
                </a:cubicBezTo>
                <a:cubicBezTo>
                  <a:pt x="4" y="39"/>
                  <a:pt x="4" y="39"/>
                  <a:pt x="4" y="39"/>
                </a:cubicBezTo>
                <a:cubicBezTo>
                  <a:pt x="0" y="39"/>
                  <a:pt x="0" y="39"/>
                  <a:pt x="0" y="39"/>
                </a:cubicBezTo>
                <a:cubicBezTo>
                  <a:pt x="0" y="0"/>
                  <a:pt x="0" y="0"/>
                  <a:pt x="0" y="0"/>
                </a:cubicBezTo>
                <a:cubicBezTo>
                  <a:pt x="4" y="0"/>
                  <a:pt x="4" y="0"/>
                  <a:pt x="4" y="0"/>
                </a:cubicBezTo>
                <a:cubicBezTo>
                  <a:pt x="21" y="27"/>
                  <a:pt x="21" y="27"/>
                  <a:pt x="21" y="27"/>
                </a:cubicBezTo>
                <a:cubicBezTo>
                  <a:pt x="22" y="29"/>
                  <a:pt x="23" y="31"/>
                  <a:pt x="24" y="32"/>
                </a:cubicBezTo>
                <a:cubicBezTo>
                  <a:pt x="24" y="30"/>
                  <a:pt x="24" y="30"/>
                  <a:pt x="24" y="30"/>
                </a:cubicBezTo>
                <a:cubicBezTo>
                  <a:pt x="24" y="0"/>
                  <a:pt x="24" y="0"/>
                  <a:pt x="24" y="0"/>
                </a:cubicBezTo>
                <a:cubicBezTo>
                  <a:pt x="28" y="0"/>
                  <a:pt x="28" y="0"/>
                  <a:pt x="28" y="0"/>
                </a:cubicBezTo>
                <a:cubicBezTo>
                  <a:pt x="28" y="39"/>
                  <a:pt x="28" y="39"/>
                  <a:pt x="28" y="39"/>
                </a:cubicBezTo>
                <a:lnTo>
                  <a:pt x="24" y="3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19" name="Freeform 47"/>
          <p:cNvSpPr>
            <a:spLocks/>
          </p:cNvSpPr>
          <p:nvPr userDrawn="1"/>
        </p:nvSpPr>
        <p:spPr bwMode="auto">
          <a:xfrm>
            <a:off x="9222316" y="1484314"/>
            <a:ext cx="101600" cy="123825"/>
          </a:xfrm>
          <a:custGeom>
            <a:avLst/>
            <a:gdLst/>
            <a:ahLst/>
            <a:cxnLst>
              <a:cxn ang="0">
                <a:pos x="0" y="78"/>
              </a:cxn>
              <a:cxn ang="0">
                <a:pos x="0" y="0"/>
              </a:cxn>
              <a:cxn ang="0">
                <a:pos x="48" y="0"/>
              </a:cxn>
              <a:cxn ang="0">
                <a:pos x="48" y="8"/>
              </a:cxn>
              <a:cxn ang="0">
                <a:pos x="8" y="8"/>
              </a:cxn>
              <a:cxn ang="0">
                <a:pos x="8" y="32"/>
              </a:cxn>
              <a:cxn ang="0">
                <a:pos x="30" y="32"/>
              </a:cxn>
              <a:cxn ang="0">
                <a:pos x="30" y="40"/>
              </a:cxn>
              <a:cxn ang="0">
                <a:pos x="8" y="40"/>
              </a:cxn>
              <a:cxn ang="0">
                <a:pos x="8" y="70"/>
              </a:cxn>
              <a:cxn ang="0">
                <a:pos x="48" y="70"/>
              </a:cxn>
              <a:cxn ang="0">
                <a:pos x="48" y="78"/>
              </a:cxn>
              <a:cxn ang="0">
                <a:pos x="0" y="78"/>
              </a:cxn>
            </a:cxnLst>
            <a:rect l="0" t="0" r="r" b="b"/>
            <a:pathLst>
              <a:path w="48" h="78">
                <a:moveTo>
                  <a:pt x="0" y="78"/>
                </a:moveTo>
                <a:lnTo>
                  <a:pt x="0" y="0"/>
                </a:lnTo>
                <a:lnTo>
                  <a:pt x="48" y="0"/>
                </a:lnTo>
                <a:lnTo>
                  <a:pt x="48" y="8"/>
                </a:lnTo>
                <a:lnTo>
                  <a:pt x="8" y="8"/>
                </a:lnTo>
                <a:lnTo>
                  <a:pt x="8" y="32"/>
                </a:lnTo>
                <a:lnTo>
                  <a:pt x="30" y="32"/>
                </a:lnTo>
                <a:lnTo>
                  <a:pt x="30" y="40"/>
                </a:lnTo>
                <a:lnTo>
                  <a:pt x="8" y="40"/>
                </a:lnTo>
                <a:lnTo>
                  <a:pt x="8" y="70"/>
                </a:lnTo>
                <a:lnTo>
                  <a:pt x="48" y="70"/>
                </a:lnTo>
                <a:lnTo>
                  <a:pt x="48" y="78"/>
                </a:lnTo>
                <a:lnTo>
                  <a:pt x="0" y="7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0" name="Freeform 48"/>
          <p:cNvSpPr>
            <a:spLocks/>
          </p:cNvSpPr>
          <p:nvPr userDrawn="1"/>
        </p:nvSpPr>
        <p:spPr bwMode="auto">
          <a:xfrm>
            <a:off x="9366249" y="1484313"/>
            <a:ext cx="110067" cy="127000"/>
          </a:xfrm>
          <a:custGeom>
            <a:avLst/>
            <a:gdLst/>
            <a:ahLst/>
            <a:cxnLst>
              <a:cxn ang="0">
                <a:pos x="13" y="40"/>
              </a:cxn>
              <a:cxn ang="0">
                <a:pos x="0" y="34"/>
              </a:cxn>
              <a:cxn ang="0">
                <a:pos x="3" y="31"/>
              </a:cxn>
              <a:cxn ang="0">
                <a:pos x="13" y="36"/>
              </a:cxn>
              <a:cxn ang="0">
                <a:pos x="22" y="29"/>
              </a:cxn>
              <a:cxn ang="0">
                <a:pos x="12" y="21"/>
              </a:cxn>
              <a:cxn ang="0">
                <a:pos x="1" y="10"/>
              </a:cxn>
              <a:cxn ang="0">
                <a:pos x="13" y="0"/>
              </a:cxn>
              <a:cxn ang="0">
                <a:pos x="25" y="4"/>
              </a:cxn>
              <a:cxn ang="0">
                <a:pos x="22" y="7"/>
              </a:cxn>
              <a:cxn ang="0">
                <a:pos x="13" y="4"/>
              </a:cxn>
              <a:cxn ang="0">
                <a:pos x="6" y="9"/>
              </a:cxn>
              <a:cxn ang="0">
                <a:pos x="15" y="17"/>
              </a:cxn>
              <a:cxn ang="0">
                <a:pos x="26" y="29"/>
              </a:cxn>
              <a:cxn ang="0">
                <a:pos x="13" y="40"/>
              </a:cxn>
            </a:cxnLst>
            <a:rect l="0" t="0" r="r" b="b"/>
            <a:pathLst>
              <a:path w="26" h="40">
                <a:moveTo>
                  <a:pt x="13" y="40"/>
                </a:moveTo>
                <a:cubicBezTo>
                  <a:pt x="8" y="40"/>
                  <a:pt x="3" y="37"/>
                  <a:pt x="0" y="34"/>
                </a:cubicBezTo>
                <a:cubicBezTo>
                  <a:pt x="3" y="31"/>
                  <a:pt x="3" y="31"/>
                  <a:pt x="3" y="31"/>
                </a:cubicBezTo>
                <a:cubicBezTo>
                  <a:pt x="6" y="34"/>
                  <a:pt x="9" y="36"/>
                  <a:pt x="13" y="36"/>
                </a:cubicBezTo>
                <a:cubicBezTo>
                  <a:pt x="18" y="36"/>
                  <a:pt x="22" y="33"/>
                  <a:pt x="22" y="29"/>
                </a:cubicBezTo>
                <a:cubicBezTo>
                  <a:pt x="22" y="26"/>
                  <a:pt x="20" y="23"/>
                  <a:pt x="12" y="21"/>
                </a:cubicBezTo>
                <a:cubicBezTo>
                  <a:pt x="4" y="18"/>
                  <a:pt x="1" y="15"/>
                  <a:pt x="1" y="10"/>
                </a:cubicBezTo>
                <a:cubicBezTo>
                  <a:pt x="1" y="3"/>
                  <a:pt x="6" y="0"/>
                  <a:pt x="13" y="0"/>
                </a:cubicBezTo>
                <a:cubicBezTo>
                  <a:pt x="19" y="0"/>
                  <a:pt x="22" y="1"/>
                  <a:pt x="25" y="4"/>
                </a:cubicBezTo>
                <a:cubicBezTo>
                  <a:pt x="22" y="7"/>
                  <a:pt x="22" y="7"/>
                  <a:pt x="22" y="7"/>
                </a:cubicBezTo>
                <a:cubicBezTo>
                  <a:pt x="20" y="5"/>
                  <a:pt x="17" y="4"/>
                  <a:pt x="13" y="4"/>
                </a:cubicBezTo>
                <a:cubicBezTo>
                  <a:pt x="8" y="4"/>
                  <a:pt x="6" y="6"/>
                  <a:pt x="6" y="9"/>
                </a:cubicBezTo>
                <a:cubicBezTo>
                  <a:pt x="6" y="12"/>
                  <a:pt x="7" y="14"/>
                  <a:pt x="15" y="17"/>
                </a:cubicBezTo>
                <a:cubicBezTo>
                  <a:pt x="23" y="20"/>
                  <a:pt x="26" y="23"/>
                  <a:pt x="26" y="29"/>
                </a:cubicBezTo>
                <a:cubicBezTo>
                  <a:pt x="26" y="35"/>
                  <a:pt x="21" y="40"/>
                  <a:pt x="13"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1" name="Freeform 49"/>
          <p:cNvSpPr>
            <a:spLocks/>
          </p:cNvSpPr>
          <p:nvPr userDrawn="1"/>
        </p:nvSpPr>
        <p:spPr bwMode="auto">
          <a:xfrm>
            <a:off x="9518649" y="1484313"/>
            <a:ext cx="110067" cy="127000"/>
          </a:xfrm>
          <a:custGeom>
            <a:avLst/>
            <a:gdLst/>
            <a:ahLst/>
            <a:cxnLst>
              <a:cxn ang="0">
                <a:pos x="13" y="40"/>
              </a:cxn>
              <a:cxn ang="0">
                <a:pos x="0" y="34"/>
              </a:cxn>
              <a:cxn ang="0">
                <a:pos x="3" y="31"/>
              </a:cxn>
              <a:cxn ang="0">
                <a:pos x="14" y="36"/>
              </a:cxn>
              <a:cxn ang="0">
                <a:pos x="22" y="29"/>
              </a:cxn>
              <a:cxn ang="0">
                <a:pos x="13" y="21"/>
              </a:cxn>
              <a:cxn ang="0">
                <a:pos x="2" y="10"/>
              </a:cxn>
              <a:cxn ang="0">
                <a:pos x="14" y="0"/>
              </a:cxn>
              <a:cxn ang="0">
                <a:pos x="26" y="4"/>
              </a:cxn>
              <a:cxn ang="0">
                <a:pos x="23" y="7"/>
              </a:cxn>
              <a:cxn ang="0">
                <a:pos x="13" y="4"/>
              </a:cxn>
              <a:cxn ang="0">
                <a:pos x="6" y="9"/>
              </a:cxn>
              <a:cxn ang="0">
                <a:pos x="15" y="17"/>
              </a:cxn>
              <a:cxn ang="0">
                <a:pos x="26" y="29"/>
              </a:cxn>
              <a:cxn ang="0">
                <a:pos x="13" y="40"/>
              </a:cxn>
            </a:cxnLst>
            <a:rect l="0" t="0" r="r" b="b"/>
            <a:pathLst>
              <a:path w="26" h="40">
                <a:moveTo>
                  <a:pt x="13" y="40"/>
                </a:moveTo>
                <a:cubicBezTo>
                  <a:pt x="8" y="40"/>
                  <a:pt x="3" y="37"/>
                  <a:pt x="0" y="34"/>
                </a:cubicBezTo>
                <a:cubicBezTo>
                  <a:pt x="3" y="31"/>
                  <a:pt x="3" y="31"/>
                  <a:pt x="3" y="31"/>
                </a:cubicBezTo>
                <a:cubicBezTo>
                  <a:pt x="6" y="34"/>
                  <a:pt x="10" y="36"/>
                  <a:pt x="14" y="36"/>
                </a:cubicBezTo>
                <a:cubicBezTo>
                  <a:pt x="19" y="36"/>
                  <a:pt x="22" y="33"/>
                  <a:pt x="22" y="29"/>
                </a:cubicBezTo>
                <a:cubicBezTo>
                  <a:pt x="22" y="26"/>
                  <a:pt x="20" y="23"/>
                  <a:pt x="13" y="21"/>
                </a:cubicBezTo>
                <a:cubicBezTo>
                  <a:pt x="4" y="18"/>
                  <a:pt x="2" y="15"/>
                  <a:pt x="2" y="10"/>
                </a:cubicBezTo>
                <a:cubicBezTo>
                  <a:pt x="2" y="3"/>
                  <a:pt x="6" y="0"/>
                  <a:pt x="14" y="0"/>
                </a:cubicBezTo>
                <a:cubicBezTo>
                  <a:pt x="19" y="0"/>
                  <a:pt x="22" y="1"/>
                  <a:pt x="26" y="4"/>
                </a:cubicBezTo>
                <a:cubicBezTo>
                  <a:pt x="23" y="7"/>
                  <a:pt x="23" y="7"/>
                  <a:pt x="23" y="7"/>
                </a:cubicBezTo>
                <a:cubicBezTo>
                  <a:pt x="20" y="5"/>
                  <a:pt x="17" y="4"/>
                  <a:pt x="13" y="4"/>
                </a:cubicBezTo>
                <a:cubicBezTo>
                  <a:pt x="8" y="4"/>
                  <a:pt x="6" y="6"/>
                  <a:pt x="6" y="9"/>
                </a:cubicBezTo>
                <a:cubicBezTo>
                  <a:pt x="6" y="12"/>
                  <a:pt x="7" y="14"/>
                  <a:pt x="15" y="17"/>
                </a:cubicBezTo>
                <a:cubicBezTo>
                  <a:pt x="24" y="20"/>
                  <a:pt x="26" y="23"/>
                  <a:pt x="26" y="29"/>
                </a:cubicBezTo>
                <a:cubicBezTo>
                  <a:pt x="26" y="35"/>
                  <a:pt x="22" y="40"/>
                  <a:pt x="13"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2" name="Freeform 50"/>
          <p:cNvSpPr>
            <a:spLocks/>
          </p:cNvSpPr>
          <p:nvPr userDrawn="1"/>
        </p:nvSpPr>
        <p:spPr bwMode="auto">
          <a:xfrm>
            <a:off x="9764183" y="1484313"/>
            <a:ext cx="110067" cy="127000"/>
          </a:xfrm>
          <a:custGeom>
            <a:avLst/>
            <a:gdLst/>
            <a:ahLst/>
            <a:cxnLst>
              <a:cxn ang="0">
                <a:pos x="13" y="40"/>
              </a:cxn>
              <a:cxn ang="0">
                <a:pos x="0" y="34"/>
              </a:cxn>
              <a:cxn ang="0">
                <a:pos x="3" y="31"/>
              </a:cxn>
              <a:cxn ang="0">
                <a:pos x="14" y="36"/>
              </a:cxn>
              <a:cxn ang="0">
                <a:pos x="22" y="29"/>
              </a:cxn>
              <a:cxn ang="0">
                <a:pos x="13" y="21"/>
              </a:cxn>
              <a:cxn ang="0">
                <a:pos x="1" y="10"/>
              </a:cxn>
              <a:cxn ang="0">
                <a:pos x="14" y="0"/>
              </a:cxn>
              <a:cxn ang="0">
                <a:pos x="25" y="4"/>
              </a:cxn>
              <a:cxn ang="0">
                <a:pos x="23" y="7"/>
              </a:cxn>
              <a:cxn ang="0">
                <a:pos x="13" y="4"/>
              </a:cxn>
              <a:cxn ang="0">
                <a:pos x="6" y="9"/>
              </a:cxn>
              <a:cxn ang="0">
                <a:pos x="15" y="17"/>
              </a:cxn>
              <a:cxn ang="0">
                <a:pos x="26" y="29"/>
              </a:cxn>
              <a:cxn ang="0">
                <a:pos x="13" y="40"/>
              </a:cxn>
            </a:cxnLst>
            <a:rect l="0" t="0" r="r" b="b"/>
            <a:pathLst>
              <a:path w="26" h="40">
                <a:moveTo>
                  <a:pt x="13" y="40"/>
                </a:moveTo>
                <a:cubicBezTo>
                  <a:pt x="8" y="40"/>
                  <a:pt x="3" y="37"/>
                  <a:pt x="0" y="34"/>
                </a:cubicBezTo>
                <a:cubicBezTo>
                  <a:pt x="3" y="31"/>
                  <a:pt x="3" y="31"/>
                  <a:pt x="3" y="31"/>
                </a:cubicBezTo>
                <a:cubicBezTo>
                  <a:pt x="6" y="34"/>
                  <a:pt x="10" y="36"/>
                  <a:pt x="14" y="36"/>
                </a:cubicBezTo>
                <a:cubicBezTo>
                  <a:pt x="19" y="36"/>
                  <a:pt x="22" y="33"/>
                  <a:pt x="22" y="29"/>
                </a:cubicBezTo>
                <a:cubicBezTo>
                  <a:pt x="22" y="26"/>
                  <a:pt x="20" y="23"/>
                  <a:pt x="13" y="21"/>
                </a:cubicBezTo>
                <a:cubicBezTo>
                  <a:pt x="4" y="18"/>
                  <a:pt x="1" y="15"/>
                  <a:pt x="1" y="10"/>
                </a:cubicBezTo>
                <a:cubicBezTo>
                  <a:pt x="1" y="3"/>
                  <a:pt x="6" y="0"/>
                  <a:pt x="14" y="0"/>
                </a:cubicBezTo>
                <a:cubicBezTo>
                  <a:pt x="19" y="0"/>
                  <a:pt x="22" y="1"/>
                  <a:pt x="25" y="4"/>
                </a:cubicBezTo>
                <a:cubicBezTo>
                  <a:pt x="23" y="7"/>
                  <a:pt x="23" y="7"/>
                  <a:pt x="23" y="7"/>
                </a:cubicBezTo>
                <a:cubicBezTo>
                  <a:pt x="20" y="5"/>
                  <a:pt x="17" y="4"/>
                  <a:pt x="13" y="4"/>
                </a:cubicBezTo>
                <a:cubicBezTo>
                  <a:pt x="8" y="4"/>
                  <a:pt x="6" y="6"/>
                  <a:pt x="6" y="9"/>
                </a:cubicBezTo>
                <a:cubicBezTo>
                  <a:pt x="6" y="12"/>
                  <a:pt x="7" y="14"/>
                  <a:pt x="15" y="17"/>
                </a:cubicBezTo>
                <a:cubicBezTo>
                  <a:pt x="24" y="20"/>
                  <a:pt x="26" y="23"/>
                  <a:pt x="26" y="29"/>
                </a:cubicBezTo>
                <a:cubicBezTo>
                  <a:pt x="26" y="35"/>
                  <a:pt x="22" y="40"/>
                  <a:pt x="13"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3" name="Freeform 51"/>
          <p:cNvSpPr>
            <a:spLocks/>
          </p:cNvSpPr>
          <p:nvPr userDrawn="1"/>
        </p:nvSpPr>
        <p:spPr bwMode="auto">
          <a:xfrm>
            <a:off x="9925050" y="1484313"/>
            <a:ext cx="118533" cy="127000"/>
          </a:xfrm>
          <a:custGeom>
            <a:avLst/>
            <a:gdLst/>
            <a:ahLst/>
            <a:cxnLst>
              <a:cxn ang="0">
                <a:pos x="16" y="40"/>
              </a:cxn>
              <a:cxn ang="0">
                <a:pos x="0" y="20"/>
              </a:cxn>
              <a:cxn ang="0">
                <a:pos x="16" y="0"/>
              </a:cxn>
              <a:cxn ang="0">
                <a:pos x="28" y="6"/>
              </a:cxn>
              <a:cxn ang="0">
                <a:pos x="25" y="8"/>
              </a:cxn>
              <a:cxn ang="0">
                <a:pos x="16" y="4"/>
              </a:cxn>
              <a:cxn ang="0">
                <a:pos x="4" y="20"/>
              </a:cxn>
              <a:cxn ang="0">
                <a:pos x="16" y="36"/>
              </a:cxn>
              <a:cxn ang="0">
                <a:pos x="25" y="31"/>
              </a:cxn>
              <a:cxn ang="0">
                <a:pos x="28" y="33"/>
              </a:cxn>
              <a:cxn ang="0">
                <a:pos x="16" y="40"/>
              </a:cxn>
            </a:cxnLst>
            <a:rect l="0" t="0" r="r" b="b"/>
            <a:pathLst>
              <a:path w="28" h="40">
                <a:moveTo>
                  <a:pt x="16" y="40"/>
                </a:moveTo>
                <a:cubicBezTo>
                  <a:pt x="6" y="40"/>
                  <a:pt x="0" y="31"/>
                  <a:pt x="0" y="20"/>
                </a:cubicBezTo>
                <a:cubicBezTo>
                  <a:pt x="0" y="8"/>
                  <a:pt x="6" y="0"/>
                  <a:pt x="16" y="0"/>
                </a:cubicBezTo>
                <a:cubicBezTo>
                  <a:pt x="21" y="0"/>
                  <a:pt x="25" y="2"/>
                  <a:pt x="28" y="6"/>
                </a:cubicBezTo>
                <a:cubicBezTo>
                  <a:pt x="25" y="8"/>
                  <a:pt x="25" y="8"/>
                  <a:pt x="25" y="8"/>
                </a:cubicBezTo>
                <a:cubicBezTo>
                  <a:pt x="22" y="5"/>
                  <a:pt x="20" y="4"/>
                  <a:pt x="16" y="4"/>
                </a:cubicBezTo>
                <a:cubicBezTo>
                  <a:pt x="9" y="4"/>
                  <a:pt x="4" y="10"/>
                  <a:pt x="4" y="20"/>
                </a:cubicBezTo>
                <a:cubicBezTo>
                  <a:pt x="4" y="29"/>
                  <a:pt x="9" y="36"/>
                  <a:pt x="16" y="36"/>
                </a:cubicBezTo>
                <a:cubicBezTo>
                  <a:pt x="20" y="36"/>
                  <a:pt x="23" y="34"/>
                  <a:pt x="25" y="31"/>
                </a:cubicBezTo>
                <a:cubicBezTo>
                  <a:pt x="28" y="33"/>
                  <a:pt x="28" y="33"/>
                  <a:pt x="28" y="33"/>
                </a:cubicBezTo>
                <a:cubicBezTo>
                  <a:pt x="25" y="37"/>
                  <a:pt x="21" y="40"/>
                  <a:pt x="16"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4" name="Freeform 52"/>
          <p:cNvSpPr>
            <a:spLocks/>
          </p:cNvSpPr>
          <p:nvPr userDrawn="1"/>
        </p:nvSpPr>
        <p:spPr bwMode="auto">
          <a:xfrm>
            <a:off x="10098616" y="1484314"/>
            <a:ext cx="118533" cy="123825"/>
          </a:xfrm>
          <a:custGeom>
            <a:avLst/>
            <a:gdLst/>
            <a:ahLst/>
            <a:cxnLst>
              <a:cxn ang="0">
                <a:pos x="46" y="78"/>
              </a:cxn>
              <a:cxn ang="0">
                <a:pos x="46" y="42"/>
              </a:cxn>
              <a:cxn ang="0">
                <a:pos x="8" y="42"/>
              </a:cxn>
              <a:cxn ang="0">
                <a:pos x="8" y="78"/>
              </a:cxn>
              <a:cxn ang="0">
                <a:pos x="0" y="78"/>
              </a:cxn>
              <a:cxn ang="0">
                <a:pos x="0" y="0"/>
              </a:cxn>
              <a:cxn ang="0">
                <a:pos x="8" y="0"/>
              </a:cxn>
              <a:cxn ang="0">
                <a:pos x="8" y="34"/>
              </a:cxn>
              <a:cxn ang="0">
                <a:pos x="46" y="34"/>
              </a:cxn>
              <a:cxn ang="0">
                <a:pos x="46" y="0"/>
              </a:cxn>
              <a:cxn ang="0">
                <a:pos x="56" y="0"/>
              </a:cxn>
              <a:cxn ang="0">
                <a:pos x="56" y="78"/>
              </a:cxn>
              <a:cxn ang="0">
                <a:pos x="46" y="78"/>
              </a:cxn>
            </a:cxnLst>
            <a:rect l="0" t="0" r="r" b="b"/>
            <a:pathLst>
              <a:path w="56" h="78">
                <a:moveTo>
                  <a:pt x="46" y="78"/>
                </a:moveTo>
                <a:lnTo>
                  <a:pt x="46" y="42"/>
                </a:lnTo>
                <a:lnTo>
                  <a:pt x="8" y="42"/>
                </a:lnTo>
                <a:lnTo>
                  <a:pt x="8" y="78"/>
                </a:lnTo>
                <a:lnTo>
                  <a:pt x="0" y="78"/>
                </a:lnTo>
                <a:lnTo>
                  <a:pt x="0" y="0"/>
                </a:lnTo>
                <a:lnTo>
                  <a:pt x="8" y="0"/>
                </a:lnTo>
                <a:lnTo>
                  <a:pt x="8" y="34"/>
                </a:lnTo>
                <a:lnTo>
                  <a:pt x="46" y="34"/>
                </a:lnTo>
                <a:lnTo>
                  <a:pt x="46" y="0"/>
                </a:lnTo>
                <a:lnTo>
                  <a:pt x="56" y="0"/>
                </a:lnTo>
                <a:lnTo>
                  <a:pt x="56" y="78"/>
                </a:lnTo>
                <a:lnTo>
                  <a:pt x="46" y="7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5" name="Freeform 53"/>
          <p:cNvSpPr>
            <a:spLocks noEditPoints="1"/>
          </p:cNvSpPr>
          <p:nvPr userDrawn="1"/>
        </p:nvSpPr>
        <p:spPr bwMode="auto">
          <a:xfrm>
            <a:off x="10272183" y="1484313"/>
            <a:ext cx="135467" cy="127000"/>
          </a:xfrm>
          <a:custGeom>
            <a:avLst/>
            <a:gdLst/>
            <a:ahLst/>
            <a:cxnLst>
              <a:cxn ang="0">
                <a:pos x="16" y="4"/>
              </a:cxn>
              <a:cxn ang="0">
                <a:pos x="4" y="20"/>
              </a:cxn>
              <a:cxn ang="0">
                <a:pos x="16" y="36"/>
              </a:cxn>
              <a:cxn ang="0">
                <a:pos x="28" y="20"/>
              </a:cxn>
              <a:cxn ang="0">
                <a:pos x="16" y="4"/>
              </a:cxn>
              <a:cxn ang="0">
                <a:pos x="16" y="40"/>
              </a:cxn>
              <a:cxn ang="0">
                <a:pos x="0" y="20"/>
              </a:cxn>
              <a:cxn ang="0">
                <a:pos x="16" y="0"/>
              </a:cxn>
              <a:cxn ang="0">
                <a:pos x="32" y="20"/>
              </a:cxn>
              <a:cxn ang="0">
                <a:pos x="16" y="40"/>
              </a:cxn>
            </a:cxnLst>
            <a:rect l="0" t="0" r="r" b="b"/>
            <a:pathLst>
              <a:path w="32" h="40">
                <a:moveTo>
                  <a:pt x="16" y="4"/>
                </a:moveTo>
                <a:cubicBezTo>
                  <a:pt x="9" y="4"/>
                  <a:pt x="4" y="10"/>
                  <a:pt x="4" y="20"/>
                </a:cubicBezTo>
                <a:cubicBezTo>
                  <a:pt x="4" y="29"/>
                  <a:pt x="9" y="36"/>
                  <a:pt x="16" y="36"/>
                </a:cubicBezTo>
                <a:cubicBezTo>
                  <a:pt x="23" y="36"/>
                  <a:pt x="28" y="30"/>
                  <a:pt x="28" y="20"/>
                </a:cubicBezTo>
                <a:cubicBezTo>
                  <a:pt x="28" y="10"/>
                  <a:pt x="22" y="4"/>
                  <a:pt x="16" y="4"/>
                </a:cubicBezTo>
                <a:moveTo>
                  <a:pt x="16" y="40"/>
                </a:moveTo>
                <a:cubicBezTo>
                  <a:pt x="6" y="40"/>
                  <a:pt x="0" y="31"/>
                  <a:pt x="0" y="20"/>
                </a:cubicBezTo>
                <a:cubicBezTo>
                  <a:pt x="0" y="8"/>
                  <a:pt x="6" y="0"/>
                  <a:pt x="16" y="0"/>
                </a:cubicBezTo>
                <a:cubicBezTo>
                  <a:pt x="26" y="0"/>
                  <a:pt x="32" y="8"/>
                  <a:pt x="32" y="20"/>
                </a:cubicBezTo>
                <a:cubicBezTo>
                  <a:pt x="32" y="31"/>
                  <a:pt x="25" y="40"/>
                  <a:pt x="16"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6" name="Freeform 54"/>
          <p:cNvSpPr>
            <a:spLocks noEditPoints="1"/>
          </p:cNvSpPr>
          <p:nvPr userDrawn="1"/>
        </p:nvSpPr>
        <p:spPr bwMode="auto">
          <a:xfrm>
            <a:off x="10449983" y="1484313"/>
            <a:ext cx="139700" cy="127000"/>
          </a:xfrm>
          <a:custGeom>
            <a:avLst/>
            <a:gdLst/>
            <a:ahLst/>
            <a:cxnLst>
              <a:cxn ang="0">
                <a:pos x="17" y="4"/>
              </a:cxn>
              <a:cxn ang="0">
                <a:pos x="5" y="20"/>
              </a:cxn>
              <a:cxn ang="0">
                <a:pos x="17" y="36"/>
              </a:cxn>
              <a:cxn ang="0">
                <a:pos x="29" y="20"/>
              </a:cxn>
              <a:cxn ang="0">
                <a:pos x="17" y="4"/>
              </a:cxn>
              <a:cxn ang="0">
                <a:pos x="17" y="40"/>
              </a:cxn>
              <a:cxn ang="0">
                <a:pos x="0" y="20"/>
              </a:cxn>
              <a:cxn ang="0">
                <a:pos x="17" y="0"/>
              </a:cxn>
              <a:cxn ang="0">
                <a:pos x="33" y="20"/>
              </a:cxn>
              <a:cxn ang="0">
                <a:pos x="17" y="40"/>
              </a:cxn>
            </a:cxnLst>
            <a:rect l="0" t="0" r="r" b="b"/>
            <a:pathLst>
              <a:path w="33" h="40">
                <a:moveTo>
                  <a:pt x="17" y="4"/>
                </a:moveTo>
                <a:cubicBezTo>
                  <a:pt x="10" y="4"/>
                  <a:pt x="5" y="10"/>
                  <a:pt x="5" y="20"/>
                </a:cubicBezTo>
                <a:cubicBezTo>
                  <a:pt x="5" y="29"/>
                  <a:pt x="10" y="36"/>
                  <a:pt x="17" y="36"/>
                </a:cubicBezTo>
                <a:cubicBezTo>
                  <a:pt x="23" y="36"/>
                  <a:pt x="29" y="30"/>
                  <a:pt x="29" y="20"/>
                </a:cubicBezTo>
                <a:cubicBezTo>
                  <a:pt x="29" y="10"/>
                  <a:pt x="23" y="4"/>
                  <a:pt x="17" y="4"/>
                </a:cubicBezTo>
                <a:moveTo>
                  <a:pt x="17" y="40"/>
                </a:moveTo>
                <a:cubicBezTo>
                  <a:pt x="7" y="40"/>
                  <a:pt x="0" y="31"/>
                  <a:pt x="0" y="20"/>
                </a:cubicBezTo>
                <a:cubicBezTo>
                  <a:pt x="0" y="8"/>
                  <a:pt x="7" y="0"/>
                  <a:pt x="17" y="0"/>
                </a:cubicBezTo>
                <a:cubicBezTo>
                  <a:pt x="26" y="0"/>
                  <a:pt x="33" y="8"/>
                  <a:pt x="33" y="20"/>
                </a:cubicBezTo>
                <a:cubicBezTo>
                  <a:pt x="33" y="31"/>
                  <a:pt x="26" y="40"/>
                  <a:pt x="17"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7" name="Freeform 55"/>
          <p:cNvSpPr>
            <a:spLocks/>
          </p:cNvSpPr>
          <p:nvPr userDrawn="1"/>
        </p:nvSpPr>
        <p:spPr bwMode="auto">
          <a:xfrm>
            <a:off x="10644716" y="1484314"/>
            <a:ext cx="101600" cy="123825"/>
          </a:xfrm>
          <a:custGeom>
            <a:avLst/>
            <a:gdLst/>
            <a:ahLst/>
            <a:cxnLst>
              <a:cxn ang="0">
                <a:pos x="0" y="78"/>
              </a:cxn>
              <a:cxn ang="0">
                <a:pos x="0" y="0"/>
              </a:cxn>
              <a:cxn ang="0">
                <a:pos x="8" y="0"/>
              </a:cxn>
              <a:cxn ang="0">
                <a:pos x="8" y="70"/>
              </a:cxn>
              <a:cxn ang="0">
                <a:pos x="48" y="70"/>
              </a:cxn>
              <a:cxn ang="0">
                <a:pos x="48" y="78"/>
              </a:cxn>
              <a:cxn ang="0">
                <a:pos x="0" y="78"/>
              </a:cxn>
            </a:cxnLst>
            <a:rect l="0" t="0" r="r" b="b"/>
            <a:pathLst>
              <a:path w="48" h="78">
                <a:moveTo>
                  <a:pt x="0" y="78"/>
                </a:moveTo>
                <a:lnTo>
                  <a:pt x="0" y="0"/>
                </a:lnTo>
                <a:lnTo>
                  <a:pt x="8" y="0"/>
                </a:lnTo>
                <a:lnTo>
                  <a:pt x="8" y="70"/>
                </a:lnTo>
                <a:lnTo>
                  <a:pt x="48" y="70"/>
                </a:lnTo>
                <a:lnTo>
                  <a:pt x="48" y="78"/>
                </a:lnTo>
                <a:lnTo>
                  <a:pt x="0" y="7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8" name="Freeform 56"/>
          <p:cNvSpPr>
            <a:spLocks/>
          </p:cNvSpPr>
          <p:nvPr userDrawn="1"/>
        </p:nvSpPr>
        <p:spPr bwMode="auto">
          <a:xfrm>
            <a:off x="9611783" y="906463"/>
            <a:ext cx="228600" cy="393700"/>
          </a:xfrm>
          <a:custGeom>
            <a:avLst/>
            <a:gdLst/>
            <a:ahLst/>
            <a:cxnLst>
              <a:cxn ang="0">
                <a:pos x="54" y="62"/>
              </a:cxn>
              <a:cxn ang="0">
                <a:pos x="0" y="124"/>
              </a:cxn>
              <a:cxn ang="0">
                <a:pos x="23" y="62"/>
              </a:cxn>
              <a:cxn ang="0">
                <a:pos x="0" y="0"/>
              </a:cxn>
              <a:cxn ang="0">
                <a:pos x="54" y="62"/>
              </a:cxn>
            </a:cxnLst>
            <a:rect l="0" t="0" r="r" b="b"/>
            <a:pathLst>
              <a:path w="54" h="124">
                <a:moveTo>
                  <a:pt x="54" y="62"/>
                </a:moveTo>
                <a:cubicBezTo>
                  <a:pt x="54" y="96"/>
                  <a:pt x="33" y="121"/>
                  <a:pt x="0" y="124"/>
                </a:cubicBezTo>
                <a:cubicBezTo>
                  <a:pt x="21" y="107"/>
                  <a:pt x="23" y="72"/>
                  <a:pt x="23" y="62"/>
                </a:cubicBezTo>
                <a:cubicBezTo>
                  <a:pt x="23" y="51"/>
                  <a:pt x="21" y="17"/>
                  <a:pt x="0" y="0"/>
                </a:cubicBezTo>
                <a:cubicBezTo>
                  <a:pt x="33" y="3"/>
                  <a:pt x="54" y="28"/>
                  <a:pt x="54" y="62"/>
                </a:cubicBezTo>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29" name="Freeform 57"/>
          <p:cNvSpPr>
            <a:spLocks/>
          </p:cNvSpPr>
          <p:nvPr userDrawn="1"/>
        </p:nvSpPr>
        <p:spPr bwMode="auto">
          <a:xfrm>
            <a:off x="8671983" y="915988"/>
            <a:ext cx="419100" cy="374650"/>
          </a:xfrm>
          <a:custGeom>
            <a:avLst/>
            <a:gdLst/>
            <a:ahLst/>
            <a:cxnLst>
              <a:cxn ang="0">
                <a:pos x="94" y="87"/>
              </a:cxn>
              <a:cxn ang="0">
                <a:pos x="58" y="113"/>
              </a:cxn>
              <a:cxn ang="0">
                <a:pos x="38" y="113"/>
              </a:cxn>
              <a:cxn ang="0">
                <a:pos x="38" y="102"/>
              </a:cxn>
              <a:cxn ang="0">
                <a:pos x="38" y="59"/>
              </a:cxn>
              <a:cxn ang="0">
                <a:pos x="78" y="59"/>
              </a:cxn>
              <a:cxn ang="0">
                <a:pos x="78" y="53"/>
              </a:cxn>
              <a:cxn ang="0">
                <a:pos x="38" y="53"/>
              </a:cxn>
              <a:cxn ang="0">
                <a:pos x="38" y="19"/>
              </a:cxn>
              <a:cxn ang="0">
                <a:pos x="38" y="5"/>
              </a:cxn>
              <a:cxn ang="0">
                <a:pos x="57" y="5"/>
              </a:cxn>
              <a:cxn ang="0">
                <a:pos x="91" y="30"/>
              </a:cxn>
              <a:cxn ang="0">
                <a:pos x="96" y="30"/>
              </a:cxn>
              <a:cxn ang="0">
                <a:pos x="95" y="0"/>
              </a:cxn>
              <a:cxn ang="0">
                <a:pos x="0" y="0"/>
              </a:cxn>
              <a:cxn ang="0">
                <a:pos x="0" y="3"/>
              </a:cxn>
              <a:cxn ang="0">
                <a:pos x="11" y="7"/>
              </a:cxn>
              <a:cxn ang="0">
                <a:pos x="11" y="19"/>
              </a:cxn>
              <a:cxn ang="0">
                <a:pos x="11" y="99"/>
              </a:cxn>
              <a:cxn ang="0">
                <a:pos x="11" y="111"/>
              </a:cxn>
              <a:cxn ang="0">
                <a:pos x="0" y="115"/>
              </a:cxn>
              <a:cxn ang="0">
                <a:pos x="0" y="118"/>
              </a:cxn>
              <a:cxn ang="0">
                <a:pos x="56" y="118"/>
              </a:cxn>
              <a:cxn ang="0">
                <a:pos x="98" y="118"/>
              </a:cxn>
              <a:cxn ang="0">
                <a:pos x="99" y="87"/>
              </a:cxn>
              <a:cxn ang="0">
                <a:pos x="94" y="87"/>
              </a:cxn>
            </a:cxnLst>
            <a:rect l="0" t="0" r="r" b="b"/>
            <a:pathLst>
              <a:path w="99" h="118">
                <a:moveTo>
                  <a:pt x="94" y="87"/>
                </a:moveTo>
                <a:cubicBezTo>
                  <a:pt x="90" y="101"/>
                  <a:pt x="77" y="113"/>
                  <a:pt x="58" y="113"/>
                </a:cubicBezTo>
                <a:cubicBezTo>
                  <a:pt x="38" y="113"/>
                  <a:pt x="38" y="113"/>
                  <a:pt x="38" y="113"/>
                </a:cubicBezTo>
                <a:cubicBezTo>
                  <a:pt x="38" y="113"/>
                  <a:pt x="38" y="106"/>
                  <a:pt x="38" y="102"/>
                </a:cubicBezTo>
                <a:cubicBezTo>
                  <a:pt x="38" y="98"/>
                  <a:pt x="38" y="64"/>
                  <a:pt x="38" y="59"/>
                </a:cubicBezTo>
                <a:cubicBezTo>
                  <a:pt x="78" y="59"/>
                  <a:pt x="78" y="59"/>
                  <a:pt x="78" y="59"/>
                </a:cubicBezTo>
                <a:cubicBezTo>
                  <a:pt x="78" y="53"/>
                  <a:pt x="78" y="53"/>
                  <a:pt x="78" y="53"/>
                </a:cubicBezTo>
                <a:cubicBezTo>
                  <a:pt x="38" y="53"/>
                  <a:pt x="38" y="53"/>
                  <a:pt x="38" y="53"/>
                </a:cubicBezTo>
                <a:cubicBezTo>
                  <a:pt x="38" y="19"/>
                  <a:pt x="38" y="19"/>
                  <a:pt x="38" y="19"/>
                </a:cubicBezTo>
                <a:cubicBezTo>
                  <a:pt x="38" y="14"/>
                  <a:pt x="38" y="5"/>
                  <a:pt x="38" y="5"/>
                </a:cubicBezTo>
                <a:cubicBezTo>
                  <a:pt x="57" y="5"/>
                  <a:pt x="57" y="5"/>
                  <a:pt x="57" y="5"/>
                </a:cubicBezTo>
                <a:cubicBezTo>
                  <a:pt x="79" y="5"/>
                  <a:pt x="88" y="19"/>
                  <a:pt x="91" y="30"/>
                </a:cubicBezTo>
                <a:cubicBezTo>
                  <a:pt x="96" y="30"/>
                  <a:pt x="96" y="30"/>
                  <a:pt x="96" y="30"/>
                </a:cubicBezTo>
                <a:cubicBezTo>
                  <a:pt x="95" y="0"/>
                  <a:pt x="95" y="0"/>
                  <a:pt x="95" y="0"/>
                </a:cubicBezTo>
                <a:cubicBezTo>
                  <a:pt x="0" y="0"/>
                  <a:pt x="0" y="0"/>
                  <a:pt x="0" y="0"/>
                </a:cubicBezTo>
                <a:cubicBezTo>
                  <a:pt x="0" y="3"/>
                  <a:pt x="0" y="3"/>
                  <a:pt x="0" y="3"/>
                </a:cubicBezTo>
                <a:cubicBezTo>
                  <a:pt x="11" y="7"/>
                  <a:pt x="11" y="7"/>
                  <a:pt x="11" y="7"/>
                </a:cubicBezTo>
                <a:cubicBezTo>
                  <a:pt x="11" y="7"/>
                  <a:pt x="11" y="15"/>
                  <a:pt x="11" y="19"/>
                </a:cubicBezTo>
                <a:cubicBezTo>
                  <a:pt x="11" y="99"/>
                  <a:pt x="11" y="99"/>
                  <a:pt x="11" y="99"/>
                </a:cubicBezTo>
                <a:cubicBezTo>
                  <a:pt x="11" y="103"/>
                  <a:pt x="11" y="111"/>
                  <a:pt x="11" y="111"/>
                </a:cubicBezTo>
                <a:cubicBezTo>
                  <a:pt x="0" y="115"/>
                  <a:pt x="0" y="115"/>
                  <a:pt x="0" y="115"/>
                </a:cubicBezTo>
                <a:cubicBezTo>
                  <a:pt x="0" y="118"/>
                  <a:pt x="0" y="118"/>
                  <a:pt x="0" y="118"/>
                </a:cubicBezTo>
                <a:cubicBezTo>
                  <a:pt x="56" y="118"/>
                  <a:pt x="56" y="118"/>
                  <a:pt x="56" y="118"/>
                </a:cubicBezTo>
                <a:cubicBezTo>
                  <a:pt x="98" y="118"/>
                  <a:pt x="98" y="118"/>
                  <a:pt x="98" y="118"/>
                </a:cubicBezTo>
                <a:cubicBezTo>
                  <a:pt x="99" y="87"/>
                  <a:pt x="99" y="87"/>
                  <a:pt x="99" y="87"/>
                </a:cubicBezTo>
                <a:lnTo>
                  <a:pt x="94" y="87"/>
                </a:ln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30" name="Freeform 58"/>
          <p:cNvSpPr>
            <a:spLocks/>
          </p:cNvSpPr>
          <p:nvPr userDrawn="1"/>
        </p:nvSpPr>
        <p:spPr bwMode="auto">
          <a:xfrm>
            <a:off x="8009468" y="915988"/>
            <a:ext cx="512233" cy="374650"/>
          </a:xfrm>
          <a:custGeom>
            <a:avLst/>
            <a:gdLst/>
            <a:ahLst/>
            <a:cxnLst>
              <a:cxn ang="0">
                <a:pos x="121" y="0"/>
              </a:cxn>
              <a:cxn ang="0">
                <a:pos x="93" y="0"/>
              </a:cxn>
              <a:cxn ang="0">
                <a:pos x="93" y="3"/>
              </a:cxn>
              <a:cxn ang="0">
                <a:pos x="103" y="7"/>
              </a:cxn>
              <a:cxn ang="0">
                <a:pos x="103" y="7"/>
              </a:cxn>
              <a:cxn ang="0">
                <a:pos x="103" y="19"/>
              </a:cxn>
              <a:cxn ang="0">
                <a:pos x="103" y="77"/>
              </a:cxn>
              <a:cxn ang="0">
                <a:pos x="43" y="0"/>
              </a:cxn>
              <a:cxn ang="0">
                <a:pos x="0" y="0"/>
              </a:cxn>
              <a:cxn ang="0">
                <a:pos x="0" y="3"/>
              </a:cxn>
              <a:cxn ang="0">
                <a:pos x="11" y="7"/>
              </a:cxn>
              <a:cxn ang="0">
                <a:pos x="11" y="7"/>
              </a:cxn>
              <a:cxn ang="0">
                <a:pos x="11" y="19"/>
              </a:cxn>
              <a:cxn ang="0">
                <a:pos x="11" y="98"/>
              </a:cxn>
              <a:cxn ang="0">
                <a:pos x="11" y="111"/>
              </a:cxn>
              <a:cxn ang="0">
                <a:pos x="11" y="111"/>
              </a:cxn>
              <a:cxn ang="0">
                <a:pos x="0" y="115"/>
              </a:cxn>
              <a:cxn ang="0">
                <a:pos x="0" y="118"/>
              </a:cxn>
              <a:cxn ang="0">
                <a:pos x="29" y="118"/>
              </a:cxn>
              <a:cxn ang="0">
                <a:pos x="29" y="115"/>
              </a:cxn>
              <a:cxn ang="0">
                <a:pos x="18" y="111"/>
              </a:cxn>
              <a:cxn ang="0">
                <a:pos x="18" y="111"/>
              </a:cxn>
              <a:cxn ang="0">
                <a:pos x="18" y="98"/>
              </a:cxn>
              <a:cxn ang="0">
                <a:pos x="18" y="24"/>
              </a:cxn>
              <a:cxn ang="0">
                <a:pos x="18" y="10"/>
              </a:cxn>
              <a:cxn ang="0">
                <a:pos x="103" y="118"/>
              </a:cxn>
              <a:cxn ang="0">
                <a:pos x="109" y="118"/>
              </a:cxn>
              <a:cxn ang="0">
                <a:pos x="110" y="118"/>
              </a:cxn>
              <a:cxn ang="0">
                <a:pos x="110" y="118"/>
              </a:cxn>
              <a:cxn ang="0">
                <a:pos x="110" y="19"/>
              </a:cxn>
              <a:cxn ang="0">
                <a:pos x="111" y="7"/>
              </a:cxn>
              <a:cxn ang="0">
                <a:pos x="111" y="7"/>
              </a:cxn>
              <a:cxn ang="0">
                <a:pos x="121" y="3"/>
              </a:cxn>
              <a:cxn ang="0">
                <a:pos x="121" y="0"/>
              </a:cxn>
            </a:cxnLst>
            <a:rect l="0" t="0" r="r" b="b"/>
            <a:pathLst>
              <a:path w="121" h="118">
                <a:moveTo>
                  <a:pt x="121" y="0"/>
                </a:moveTo>
                <a:cubicBezTo>
                  <a:pt x="93" y="0"/>
                  <a:pt x="93" y="0"/>
                  <a:pt x="93" y="0"/>
                </a:cubicBezTo>
                <a:cubicBezTo>
                  <a:pt x="93" y="3"/>
                  <a:pt x="93" y="3"/>
                  <a:pt x="93" y="3"/>
                </a:cubicBezTo>
                <a:cubicBezTo>
                  <a:pt x="103" y="7"/>
                  <a:pt x="103" y="7"/>
                  <a:pt x="103" y="7"/>
                </a:cubicBezTo>
                <a:cubicBezTo>
                  <a:pt x="103" y="7"/>
                  <a:pt x="103" y="7"/>
                  <a:pt x="103" y="7"/>
                </a:cubicBezTo>
                <a:cubicBezTo>
                  <a:pt x="103" y="7"/>
                  <a:pt x="103" y="15"/>
                  <a:pt x="103" y="19"/>
                </a:cubicBezTo>
                <a:cubicBezTo>
                  <a:pt x="103" y="77"/>
                  <a:pt x="103" y="77"/>
                  <a:pt x="103" y="77"/>
                </a:cubicBezTo>
                <a:cubicBezTo>
                  <a:pt x="43" y="0"/>
                  <a:pt x="43" y="0"/>
                  <a:pt x="43" y="0"/>
                </a:cubicBezTo>
                <a:cubicBezTo>
                  <a:pt x="0" y="0"/>
                  <a:pt x="0" y="0"/>
                  <a:pt x="0" y="0"/>
                </a:cubicBezTo>
                <a:cubicBezTo>
                  <a:pt x="0" y="3"/>
                  <a:pt x="0" y="3"/>
                  <a:pt x="0" y="3"/>
                </a:cubicBezTo>
                <a:cubicBezTo>
                  <a:pt x="11" y="7"/>
                  <a:pt x="11" y="7"/>
                  <a:pt x="11" y="7"/>
                </a:cubicBezTo>
                <a:cubicBezTo>
                  <a:pt x="11" y="7"/>
                  <a:pt x="11" y="7"/>
                  <a:pt x="11" y="7"/>
                </a:cubicBezTo>
                <a:cubicBezTo>
                  <a:pt x="11" y="7"/>
                  <a:pt x="11" y="15"/>
                  <a:pt x="11" y="19"/>
                </a:cubicBezTo>
                <a:cubicBezTo>
                  <a:pt x="11" y="98"/>
                  <a:pt x="11" y="98"/>
                  <a:pt x="11" y="98"/>
                </a:cubicBezTo>
                <a:cubicBezTo>
                  <a:pt x="11" y="102"/>
                  <a:pt x="11" y="111"/>
                  <a:pt x="11" y="111"/>
                </a:cubicBezTo>
                <a:cubicBezTo>
                  <a:pt x="11" y="111"/>
                  <a:pt x="11" y="111"/>
                  <a:pt x="11" y="111"/>
                </a:cubicBezTo>
                <a:cubicBezTo>
                  <a:pt x="0" y="115"/>
                  <a:pt x="0" y="115"/>
                  <a:pt x="0" y="115"/>
                </a:cubicBezTo>
                <a:cubicBezTo>
                  <a:pt x="0" y="118"/>
                  <a:pt x="0" y="118"/>
                  <a:pt x="0" y="118"/>
                </a:cubicBezTo>
                <a:cubicBezTo>
                  <a:pt x="29" y="118"/>
                  <a:pt x="29" y="118"/>
                  <a:pt x="29" y="118"/>
                </a:cubicBezTo>
                <a:cubicBezTo>
                  <a:pt x="29" y="115"/>
                  <a:pt x="29" y="115"/>
                  <a:pt x="29" y="115"/>
                </a:cubicBezTo>
                <a:cubicBezTo>
                  <a:pt x="18" y="111"/>
                  <a:pt x="18" y="111"/>
                  <a:pt x="18" y="111"/>
                </a:cubicBezTo>
                <a:cubicBezTo>
                  <a:pt x="18" y="111"/>
                  <a:pt x="18" y="111"/>
                  <a:pt x="18" y="111"/>
                </a:cubicBezTo>
                <a:cubicBezTo>
                  <a:pt x="18" y="111"/>
                  <a:pt x="18" y="102"/>
                  <a:pt x="18" y="98"/>
                </a:cubicBezTo>
                <a:cubicBezTo>
                  <a:pt x="18" y="24"/>
                  <a:pt x="18" y="24"/>
                  <a:pt x="18" y="24"/>
                </a:cubicBezTo>
                <a:cubicBezTo>
                  <a:pt x="18" y="20"/>
                  <a:pt x="18" y="12"/>
                  <a:pt x="18" y="10"/>
                </a:cubicBezTo>
                <a:cubicBezTo>
                  <a:pt x="103" y="118"/>
                  <a:pt x="103" y="118"/>
                  <a:pt x="103" y="118"/>
                </a:cubicBezTo>
                <a:cubicBezTo>
                  <a:pt x="109" y="118"/>
                  <a:pt x="109" y="118"/>
                  <a:pt x="109" y="118"/>
                </a:cubicBezTo>
                <a:cubicBezTo>
                  <a:pt x="110" y="118"/>
                  <a:pt x="110" y="118"/>
                  <a:pt x="110" y="118"/>
                </a:cubicBezTo>
                <a:cubicBezTo>
                  <a:pt x="110" y="118"/>
                  <a:pt x="110" y="118"/>
                  <a:pt x="110" y="118"/>
                </a:cubicBezTo>
                <a:cubicBezTo>
                  <a:pt x="110" y="19"/>
                  <a:pt x="110" y="19"/>
                  <a:pt x="110" y="19"/>
                </a:cubicBezTo>
                <a:cubicBezTo>
                  <a:pt x="110" y="15"/>
                  <a:pt x="111" y="7"/>
                  <a:pt x="111" y="7"/>
                </a:cubicBezTo>
                <a:cubicBezTo>
                  <a:pt x="111" y="7"/>
                  <a:pt x="111" y="7"/>
                  <a:pt x="111" y="7"/>
                </a:cubicBezTo>
                <a:cubicBezTo>
                  <a:pt x="121" y="3"/>
                  <a:pt x="121" y="3"/>
                  <a:pt x="121" y="3"/>
                </a:cubicBezTo>
                <a:lnTo>
                  <a:pt x="121" y="0"/>
                </a:ln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31" name="Freeform 59"/>
          <p:cNvSpPr>
            <a:spLocks/>
          </p:cNvSpPr>
          <p:nvPr userDrawn="1"/>
        </p:nvSpPr>
        <p:spPr bwMode="auto">
          <a:xfrm>
            <a:off x="9975850" y="915988"/>
            <a:ext cx="626533" cy="374650"/>
          </a:xfrm>
          <a:custGeom>
            <a:avLst/>
            <a:gdLst/>
            <a:ahLst/>
            <a:cxnLst>
              <a:cxn ang="0">
                <a:pos x="136" y="7"/>
              </a:cxn>
              <a:cxn ang="0">
                <a:pos x="148" y="3"/>
              </a:cxn>
              <a:cxn ang="0">
                <a:pos x="148" y="0"/>
              </a:cxn>
              <a:cxn ang="0">
                <a:pos x="109" y="0"/>
              </a:cxn>
              <a:cxn ang="0">
                <a:pos x="109" y="0"/>
              </a:cxn>
              <a:cxn ang="0">
                <a:pos x="73" y="85"/>
              </a:cxn>
              <a:cxn ang="0">
                <a:pos x="40" y="0"/>
              </a:cxn>
              <a:cxn ang="0">
                <a:pos x="0" y="0"/>
              </a:cxn>
              <a:cxn ang="0">
                <a:pos x="0" y="3"/>
              </a:cxn>
              <a:cxn ang="0">
                <a:pos x="10" y="7"/>
              </a:cxn>
              <a:cxn ang="0">
                <a:pos x="10" y="7"/>
              </a:cxn>
              <a:cxn ang="0">
                <a:pos x="11" y="19"/>
              </a:cxn>
              <a:cxn ang="0">
                <a:pos x="11" y="100"/>
              </a:cxn>
              <a:cxn ang="0">
                <a:pos x="10" y="111"/>
              </a:cxn>
              <a:cxn ang="0">
                <a:pos x="10" y="111"/>
              </a:cxn>
              <a:cxn ang="0">
                <a:pos x="0" y="115"/>
              </a:cxn>
              <a:cxn ang="0">
                <a:pos x="0" y="118"/>
              </a:cxn>
              <a:cxn ang="0">
                <a:pos x="31" y="118"/>
              </a:cxn>
              <a:cxn ang="0">
                <a:pos x="31" y="115"/>
              </a:cxn>
              <a:cxn ang="0">
                <a:pos x="18" y="111"/>
              </a:cxn>
              <a:cxn ang="0">
                <a:pos x="18" y="111"/>
              </a:cxn>
              <a:cxn ang="0">
                <a:pos x="18" y="100"/>
              </a:cxn>
              <a:cxn ang="0">
                <a:pos x="18" y="14"/>
              </a:cxn>
              <a:cxn ang="0">
                <a:pos x="22" y="25"/>
              </a:cxn>
              <a:cxn ang="0">
                <a:pos x="59" y="118"/>
              </a:cxn>
              <a:cxn ang="0">
                <a:pos x="66" y="118"/>
              </a:cxn>
              <a:cxn ang="0">
                <a:pos x="67" y="118"/>
              </a:cxn>
              <a:cxn ang="0">
                <a:pos x="110" y="14"/>
              </a:cxn>
              <a:cxn ang="0">
                <a:pos x="110" y="100"/>
              </a:cxn>
              <a:cxn ang="0">
                <a:pos x="109" y="111"/>
              </a:cxn>
              <a:cxn ang="0">
                <a:pos x="97" y="115"/>
              </a:cxn>
              <a:cxn ang="0">
                <a:pos x="97" y="118"/>
              </a:cxn>
              <a:cxn ang="0">
                <a:pos x="148" y="118"/>
              </a:cxn>
              <a:cxn ang="0">
                <a:pos x="148" y="115"/>
              </a:cxn>
              <a:cxn ang="0">
                <a:pos x="136" y="111"/>
              </a:cxn>
              <a:cxn ang="0">
                <a:pos x="136" y="100"/>
              </a:cxn>
              <a:cxn ang="0">
                <a:pos x="136" y="19"/>
              </a:cxn>
              <a:cxn ang="0">
                <a:pos x="136" y="7"/>
              </a:cxn>
            </a:cxnLst>
            <a:rect l="0" t="0" r="r" b="b"/>
            <a:pathLst>
              <a:path w="148" h="118">
                <a:moveTo>
                  <a:pt x="136" y="7"/>
                </a:moveTo>
                <a:cubicBezTo>
                  <a:pt x="148" y="3"/>
                  <a:pt x="148" y="3"/>
                  <a:pt x="148" y="3"/>
                </a:cubicBezTo>
                <a:cubicBezTo>
                  <a:pt x="148" y="0"/>
                  <a:pt x="148" y="0"/>
                  <a:pt x="148" y="0"/>
                </a:cubicBezTo>
                <a:cubicBezTo>
                  <a:pt x="109" y="0"/>
                  <a:pt x="109" y="0"/>
                  <a:pt x="109" y="0"/>
                </a:cubicBezTo>
                <a:cubicBezTo>
                  <a:pt x="109" y="0"/>
                  <a:pt x="109" y="0"/>
                  <a:pt x="109" y="0"/>
                </a:cubicBezTo>
                <a:cubicBezTo>
                  <a:pt x="73" y="85"/>
                  <a:pt x="73" y="85"/>
                  <a:pt x="73" y="85"/>
                </a:cubicBezTo>
                <a:cubicBezTo>
                  <a:pt x="40" y="0"/>
                  <a:pt x="40" y="0"/>
                  <a:pt x="40" y="0"/>
                </a:cubicBezTo>
                <a:cubicBezTo>
                  <a:pt x="0" y="0"/>
                  <a:pt x="0" y="0"/>
                  <a:pt x="0" y="0"/>
                </a:cubicBezTo>
                <a:cubicBezTo>
                  <a:pt x="0" y="3"/>
                  <a:pt x="0" y="3"/>
                  <a:pt x="0" y="3"/>
                </a:cubicBezTo>
                <a:cubicBezTo>
                  <a:pt x="10" y="7"/>
                  <a:pt x="10" y="7"/>
                  <a:pt x="10" y="7"/>
                </a:cubicBezTo>
                <a:cubicBezTo>
                  <a:pt x="10" y="7"/>
                  <a:pt x="10" y="7"/>
                  <a:pt x="10" y="7"/>
                </a:cubicBezTo>
                <a:cubicBezTo>
                  <a:pt x="10" y="7"/>
                  <a:pt x="11" y="15"/>
                  <a:pt x="11" y="19"/>
                </a:cubicBezTo>
                <a:cubicBezTo>
                  <a:pt x="11" y="100"/>
                  <a:pt x="11" y="100"/>
                  <a:pt x="11" y="100"/>
                </a:cubicBezTo>
                <a:cubicBezTo>
                  <a:pt x="11" y="103"/>
                  <a:pt x="10" y="111"/>
                  <a:pt x="10" y="111"/>
                </a:cubicBezTo>
                <a:cubicBezTo>
                  <a:pt x="10" y="111"/>
                  <a:pt x="10" y="111"/>
                  <a:pt x="10" y="111"/>
                </a:cubicBezTo>
                <a:cubicBezTo>
                  <a:pt x="0" y="115"/>
                  <a:pt x="0" y="115"/>
                  <a:pt x="0" y="115"/>
                </a:cubicBezTo>
                <a:cubicBezTo>
                  <a:pt x="0" y="118"/>
                  <a:pt x="0" y="118"/>
                  <a:pt x="0" y="118"/>
                </a:cubicBezTo>
                <a:cubicBezTo>
                  <a:pt x="31" y="118"/>
                  <a:pt x="31" y="118"/>
                  <a:pt x="31" y="118"/>
                </a:cubicBezTo>
                <a:cubicBezTo>
                  <a:pt x="31" y="115"/>
                  <a:pt x="31" y="115"/>
                  <a:pt x="31" y="115"/>
                </a:cubicBezTo>
                <a:cubicBezTo>
                  <a:pt x="18" y="111"/>
                  <a:pt x="18" y="111"/>
                  <a:pt x="18" y="111"/>
                </a:cubicBezTo>
                <a:cubicBezTo>
                  <a:pt x="18" y="111"/>
                  <a:pt x="18" y="111"/>
                  <a:pt x="18" y="111"/>
                </a:cubicBezTo>
                <a:cubicBezTo>
                  <a:pt x="18" y="111"/>
                  <a:pt x="18" y="104"/>
                  <a:pt x="18" y="100"/>
                </a:cubicBezTo>
                <a:cubicBezTo>
                  <a:pt x="18" y="14"/>
                  <a:pt x="18" y="14"/>
                  <a:pt x="18" y="14"/>
                </a:cubicBezTo>
                <a:cubicBezTo>
                  <a:pt x="19" y="19"/>
                  <a:pt x="20" y="20"/>
                  <a:pt x="22" y="25"/>
                </a:cubicBezTo>
                <a:cubicBezTo>
                  <a:pt x="59" y="118"/>
                  <a:pt x="59" y="118"/>
                  <a:pt x="59" y="118"/>
                </a:cubicBezTo>
                <a:cubicBezTo>
                  <a:pt x="66" y="118"/>
                  <a:pt x="66" y="118"/>
                  <a:pt x="66" y="118"/>
                </a:cubicBezTo>
                <a:cubicBezTo>
                  <a:pt x="67" y="118"/>
                  <a:pt x="67" y="118"/>
                  <a:pt x="67" y="118"/>
                </a:cubicBezTo>
                <a:cubicBezTo>
                  <a:pt x="110" y="14"/>
                  <a:pt x="110" y="14"/>
                  <a:pt x="110" y="14"/>
                </a:cubicBezTo>
                <a:cubicBezTo>
                  <a:pt x="110" y="100"/>
                  <a:pt x="110" y="100"/>
                  <a:pt x="110" y="100"/>
                </a:cubicBezTo>
                <a:cubicBezTo>
                  <a:pt x="110" y="103"/>
                  <a:pt x="109" y="111"/>
                  <a:pt x="109" y="111"/>
                </a:cubicBezTo>
                <a:cubicBezTo>
                  <a:pt x="97" y="115"/>
                  <a:pt x="97" y="115"/>
                  <a:pt x="97" y="115"/>
                </a:cubicBezTo>
                <a:cubicBezTo>
                  <a:pt x="97" y="118"/>
                  <a:pt x="97" y="118"/>
                  <a:pt x="97" y="118"/>
                </a:cubicBezTo>
                <a:cubicBezTo>
                  <a:pt x="148" y="118"/>
                  <a:pt x="148" y="118"/>
                  <a:pt x="148" y="118"/>
                </a:cubicBezTo>
                <a:cubicBezTo>
                  <a:pt x="148" y="115"/>
                  <a:pt x="148" y="115"/>
                  <a:pt x="148" y="115"/>
                </a:cubicBezTo>
                <a:cubicBezTo>
                  <a:pt x="136" y="111"/>
                  <a:pt x="136" y="111"/>
                  <a:pt x="136" y="111"/>
                </a:cubicBezTo>
                <a:cubicBezTo>
                  <a:pt x="136" y="111"/>
                  <a:pt x="136" y="104"/>
                  <a:pt x="136" y="100"/>
                </a:cubicBezTo>
                <a:cubicBezTo>
                  <a:pt x="136" y="19"/>
                  <a:pt x="136" y="19"/>
                  <a:pt x="136" y="19"/>
                </a:cubicBezTo>
                <a:cubicBezTo>
                  <a:pt x="136" y="15"/>
                  <a:pt x="136" y="7"/>
                  <a:pt x="136" y="7"/>
                </a:cubicBezTo>
              </a:path>
            </a:pathLst>
          </a:custGeom>
          <a:solidFill>
            <a:srgbClr val="A3968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32" name="Freeform 60"/>
          <p:cNvSpPr>
            <a:spLocks/>
          </p:cNvSpPr>
          <p:nvPr userDrawn="1"/>
        </p:nvSpPr>
        <p:spPr bwMode="auto">
          <a:xfrm>
            <a:off x="9239249" y="906463"/>
            <a:ext cx="228600" cy="393700"/>
          </a:xfrm>
          <a:custGeom>
            <a:avLst/>
            <a:gdLst/>
            <a:ahLst/>
            <a:cxnLst>
              <a:cxn ang="0">
                <a:pos x="0" y="62"/>
              </a:cxn>
              <a:cxn ang="0">
                <a:pos x="54" y="124"/>
              </a:cxn>
              <a:cxn ang="0">
                <a:pos x="31" y="62"/>
              </a:cxn>
              <a:cxn ang="0">
                <a:pos x="54" y="0"/>
              </a:cxn>
              <a:cxn ang="0">
                <a:pos x="0" y="62"/>
              </a:cxn>
            </a:cxnLst>
            <a:rect l="0" t="0" r="r" b="b"/>
            <a:pathLst>
              <a:path w="54" h="124">
                <a:moveTo>
                  <a:pt x="0" y="62"/>
                </a:moveTo>
                <a:cubicBezTo>
                  <a:pt x="0" y="96"/>
                  <a:pt x="21" y="121"/>
                  <a:pt x="54" y="124"/>
                </a:cubicBezTo>
                <a:cubicBezTo>
                  <a:pt x="33" y="107"/>
                  <a:pt x="31" y="72"/>
                  <a:pt x="31" y="62"/>
                </a:cubicBezTo>
                <a:cubicBezTo>
                  <a:pt x="31" y="51"/>
                  <a:pt x="33" y="17"/>
                  <a:pt x="54" y="0"/>
                </a:cubicBezTo>
                <a:cubicBezTo>
                  <a:pt x="21" y="3"/>
                  <a:pt x="0" y="28"/>
                  <a:pt x="0" y="62"/>
                </a:cubicBezTo>
              </a:path>
            </a:pathLst>
          </a:custGeom>
          <a:solidFill>
            <a:srgbClr val="A79385"/>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33" name="Freeform 61"/>
          <p:cNvSpPr>
            <a:spLocks/>
          </p:cNvSpPr>
          <p:nvPr userDrawn="1"/>
        </p:nvSpPr>
        <p:spPr bwMode="auto">
          <a:xfrm>
            <a:off x="9239249" y="906463"/>
            <a:ext cx="228600" cy="393700"/>
          </a:xfrm>
          <a:custGeom>
            <a:avLst/>
            <a:gdLst/>
            <a:ahLst/>
            <a:cxnLst>
              <a:cxn ang="0">
                <a:pos x="0" y="62"/>
              </a:cxn>
              <a:cxn ang="0">
                <a:pos x="54" y="124"/>
              </a:cxn>
              <a:cxn ang="0">
                <a:pos x="31" y="62"/>
              </a:cxn>
              <a:cxn ang="0">
                <a:pos x="54" y="0"/>
              </a:cxn>
              <a:cxn ang="0">
                <a:pos x="0" y="62"/>
              </a:cxn>
            </a:cxnLst>
            <a:rect l="0" t="0" r="r" b="b"/>
            <a:pathLst>
              <a:path w="54" h="124">
                <a:moveTo>
                  <a:pt x="0" y="62"/>
                </a:moveTo>
                <a:cubicBezTo>
                  <a:pt x="0" y="96"/>
                  <a:pt x="21" y="121"/>
                  <a:pt x="54" y="124"/>
                </a:cubicBezTo>
                <a:cubicBezTo>
                  <a:pt x="33" y="107"/>
                  <a:pt x="31" y="72"/>
                  <a:pt x="31" y="62"/>
                </a:cubicBezTo>
                <a:cubicBezTo>
                  <a:pt x="31" y="51"/>
                  <a:pt x="33" y="17"/>
                  <a:pt x="54" y="0"/>
                </a:cubicBezTo>
                <a:cubicBezTo>
                  <a:pt x="21" y="3"/>
                  <a:pt x="0" y="28"/>
                  <a:pt x="0" y="62"/>
                </a:cubicBezTo>
              </a:path>
            </a:pathLst>
          </a:custGeom>
          <a:solidFill>
            <a:srgbClr val="A3968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3134" name="Freeform 62"/>
          <p:cNvSpPr>
            <a:spLocks noEditPoints="1"/>
          </p:cNvSpPr>
          <p:nvPr userDrawn="1"/>
        </p:nvSpPr>
        <p:spPr bwMode="auto">
          <a:xfrm>
            <a:off x="10691284" y="915988"/>
            <a:ext cx="472017" cy="374650"/>
          </a:xfrm>
          <a:custGeom>
            <a:avLst/>
            <a:gdLst/>
            <a:ahLst/>
            <a:cxnLst>
              <a:cxn ang="0">
                <a:pos x="61" y="77"/>
              </a:cxn>
              <a:cxn ang="0">
                <a:pos x="29" y="77"/>
              </a:cxn>
              <a:cxn ang="0">
                <a:pos x="46" y="33"/>
              </a:cxn>
              <a:cxn ang="0">
                <a:pos x="61" y="77"/>
              </a:cxn>
              <a:cxn ang="0">
                <a:pos x="102" y="111"/>
              </a:cxn>
              <a:cxn ang="0">
                <a:pos x="58" y="0"/>
              </a:cxn>
              <a:cxn ang="0">
                <a:pos x="52" y="0"/>
              </a:cxn>
              <a:cxn ang="0">
                <a:pos x="51" y="0"/>
              </a:cxn>
              <a:cxn ang="0">
                <a:pos x="9" y="111"/>
              </a:cxn>
              <a:cxn ang="0">
                <a:pos x="0" y="115"/>
              </a:cxn>
              <a:cxn ang="0">
                <a:pos x="0" y="118"/>
              </a:cxn>
              <a:cxn ang="0">
                <a:pos x="24" y="118"/>
              </a:cxn>
              <a:cxn ang="0">
                <a:pos x="24" y="115"/>
              </a:cxn>
              <a:cxn ang="0">
                <a:pos x="16" y="111"/>
              </a:cxn>
              <a:cxn ang="0">
                <a:pos x="16" y="111"/>
              </a:cxn>
              <a:cxn ang="0">
                <a:pos x="27" y="83"/>
              </a:cxn>
              <a:cxn ang="0">
                <a:pos x="63" y="83"/>
              </a:cxn>
              <a:cxn ang="0">
                <a:pos x="73" y="111"/>
              </a:cxn>
              <a:cxn ang="0">
                <a:pos x="64" y="115"/>
              </a:cxn>
              <a:cxn ang="0">
                <a:pos x="64" y="118"/>
              </a:cxn>
              <a:cxn ang="0">
                <a:pos x="111" y="118"/>
              </a:cxn>
              <a:cxn ang="0">
                <a:pos x="111" y="115"/>
              </a:cxn>
              <a:cxn ang="0">
                <a:pos x="102" y="111"/>
              </a:cxn>
            </a:cxnLst>
            <a:rect l="0" t="0" r="r" b="b"/>
            <a:pathLst>
              <a:path w="111" h="118">
                <a:moveTo>
                  <a:pt x="61" y="77"/>
                </a:moveTo>
                <a:cubicBezTo>
                  <a:pt x="29" y="77"/>
                  <a:pt x="29" y="77"/>
                  <a:pt x="29" y="77"/>
                </a:cubicBezTo>
                <a:cubicBezTo>
                  <a:pt x="36" y="59"/>
                  <a:pt x="44" y="38"/>
                  <a:pt x="46" y="33"/>
                </a:cubicBezTo>
                <a:lnTo>
                  <a:pt x="61" y="77"/>
                </a:lnTo>
                <a:close/>
                <a:moveTo>
                  <a:pt x="102" y="111"/>
                </a:moveTo>
                <a:cubicBezTo>
                  <a:pt x="58" y="0"/>
                  <a:pt x="58" y="0"/>
                  <a:pt x="58" y="0"/>
                </a:cubicBezTo>
                <a:cubicBezTo>
                  <a:pt x="52" y="0"/>
                  <a:pt x="52" y="0"/>
                  <a:pt x="52" y="0"/>
                </a:cubicBezTo>
                <a:cubicBezTo>
                  <a:pt x="51" y="0"/>
                  <a:pt x="51" y="0"/>
                  <a:pt x="51" y="0"/>
                </a:cubicBezTo>
                <a:cubicBezTo>
                  <a:pt x="9" y="111"/>
                  <a:pt x="9" y="111"/>
                  <a:pt x="9" y="111"/>
                </a:cubicBezTo>
                <a:cubicBezTo>
                  <a:pt x="0" y="115"/>
                  <a:pt x="0" y="115"/>
                  <a:pt x="0" y="115"/>
                </a:cubicBezTo>
                <a:cubicBezTo>
                  <a:pt x="0" y="118"/>
                  <a:pt x="0" y="118"/>
                  <a:pt x="0" y="118"/>
                </a:cubicBezTo>
                <a:cubicBezTo>
                  <a:pt x="24" y="118"/>
                  <a:pt x="24" y="118"/>
                  <a:pt x="24" y="118"/>
                </a:cubicBezTo>
                <a:cubicBezTo>
                  <a:pt x="24" y="115"/>
                  <a:pt x="24" y="115"/>
                  <a:pt x="24" y="115"/>
                </a:cubicBezTo>
                <a:cubicBezTo>
                  <a:pt x="16" y="111"/>
                  <a:pt x="16" y="111"/>
                  <a:pt x="16" y="111"/>
                </a:cubicBezTo>
                <a:cubicBezTo>
                  <a:pt x="16" y="111"/>
                  <a:pt x="16" y="111"/>
                  <a:pt x="16" y="111"/>
                </a:cubicBezTo>
                <a:cubicBezTo>
                  <a:pt x="16" y="111"/>
                  <a:pt x="21" y="98"/>
                  <a:pt x="27" y="83"/>
                </a:cubicBezTo>
                <a:cubicBezTo>
                  <a:pt x="63" y="83"/>
                  <a:pt x="63" y="83"/>
                  <a:pt x="63" y="83"/>
                </a:cubicBezTo>
                <a:cubicBezTo>
                  <a:pt x="73" y="111"/>
                  <a:pt x="73" y="111"/>
                  <a:pt x="73" y="111"/>
                </a:cubicBezTo>
                <a:cubicBezTo>
                  <a:pt x="64" y="115"/>
                  <a:pt x="64" y="115"/>
                  <a:pt x="64" y="115"/>
                </a:cubicBezTo>
                <a:cubicBezTo>
                  <a:pt x="64" y="118"/>
                  <a:pt x="64" y="118"/>
                  <a:pt x="64" y="118"/>
                </a:cubicBezTo>
                <a:cubicBezTo>
                  <a:pt x="111" y="118"/>
                  <a:pt x="111" y="118"/>
                  <a:pt x="111" y="118"/>
                </a:cubicBezTo>
                <a:cubicBezTo>
                  <a:pt x="111" y="115"/>
                  <a:pt x="111" y="115"/>
                  <a:pt x="111" y="115"/>
                </a:cubicBezTo>
                <a:lnTo>
                  <a:pt x="102" y="111"/>
                </a:lnTo>
                <a:close/>
              </a:path>
            </a:pathLst>
          </a:custGeom>
          <a:solidFill>
            <a:srgbClr val="A3968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2" name="Title 1"/>
          <p:cNvSpPr>
            <a:spLocks noGrp="1"/>
          </p:cNvSpPr>
          <p:nvPr>
            <p:ph type="ctrTitle" hasCustomPrompt="1"/>
          </p:nvPr>
        </p:nvSpPr>
        <p:spPr>
          <a:xfrm>
            <a:off x="2029934" y="2440214"/>
            <a:ext cx="7179401" cy="1092200"/>
          </a:xfrm>
          <a:prstGeom prst="rect">
            <a:avLst/>
          </a:prstGeom>
        </p:spPr>
        <p:txBody>
          <a:bodyPr lIns="0" tIns="0" rIns="0" bIns="0" anchor="b" anchorCtr="0">
            <a:noAutofit/>
          </a:bodyPr>
          <a:lstStyle>
            <a:lvl1pPr algn="l">
              <a:lnSpc>
                <a:spcPct val="90000"/>
              </a:lnSpc>
              <a:spcAft>
                <a:spcPts val="0"/>
              </a:spcAft>
              <a:defRPr sz="3650" b="1" cap="none" baseline="0">
                <a:solidFill>
                  <a:srgbClr val="582E91"/>
                </a:solidFill>
                <a:latin typeface="Arial" pitchFamily="34" charset="0"/>
                <a:cs typeface="Arial" pitchFamily="34" charset="0"/>
              </a:defRPr>
            </a:lvl1pPr>
          </a:lstStyle>
          <a:p>
            <a:r>
              <a:rPr lang="fr-FR" dirty="0"/>
              <a:t>Titre de la présentation </a:t>
            </a:r>
            <a:r>
              <a:rPr lang="fr-FR" dirty="0" err="1"/>
              <a:t>powerpoint</a:t>
            </a:r>
            <a:endParaRPr lang="fr-FR" dirty="0"/>
          </a:p>
        </p:txBody>
      </p:sp>
      <p:sp>
        <p:nvSpPr>
          <p:cNvPr id="70" name="Text Placeholder 69"/>
          <p:cNvSpPr>
            <a:spLocks noGrp="1"/>
          </p:cNvSpPr>
          <p:nvPr>
            <p:ph type="body" sz="quarter" idx="10" hasCustomPrompt="1"/>
          </p:nvPr>
        </p:nvSpPr>
        <p:spPr>
          <a:xfrm>
            <a:off x="2029934" y="3606800"/>
            <a:ext cx="7179401" cy="596900"/>
          </a:xfrm>
        </p:spPr>
        <p:txBody>
          <a:bodyPr/>
          <a:lstStyle>
            <a:lvl1pPr>
              <a:defRPr sz="2650" cap="all" baseline="0">
                <a:solidFill>
                  <a:srgbClr val="A3968E"/>
                </a:solidFill>
                <a:latin typeface="+mj-lt"/>
              </a:defRPr>
            </a:lvl1pPr>
            <a:lvl2pPr>
              <a:defRPr sz="2600" cap="all" baseline="0"/>
            </a:lvl2pPr>
            <a:lvl3pPr>
              <a:defRPr sz="2600" cap="all" baseline="0"/>
            </a:lvl3pPr>
            <a:lvl4pPr>
              <a:defRPr sz="2600" cap="all" baseline="0"/>
            </a:lvl4pPr>
            <a:lvl5pPr>
              <a:defRPr sz="2600" cap="all" baseline="0"/>
            </a:lvl5pPr>
          </a:lstStyle>
          <a:p>
            <a:pPr lvl="0"/>
            <a:r>
              <a:rPr lang="en-US" dirty="0" err="1"/>
              <a:t>Sous</a:t>
            </a:r>
            <a:r>
              <a:rPr lang="en-US" dirty="0"/>
              <a:t> </a:t>
            </a:r>
            <a:r>
              <a:rPr lang="en-US" dirty="0" err="1"/>
              <a:t>Titre</a:t>
            </a:r>
            <a:endParaRPr lang="en-US" dirty="0"/>
          </a:p>
        </p:txBody>
      </p:sp>
      <p:sp>
        <p:nvSpPr>
          <p:cNvPr id="71" name="Text Placeholder 69"/>
          <p:cNvSpPr>
            <a:spLocks noGrp="1"/>
          </p:cNvSpPr>
          <p:nvPr>
            <p:ph type="body" sz="quarter" idx="11" hasCustomPrompt="1"/>
          </p:nvPr>
        </p:nvSpPr>
        <p:spPr>
          <a:xfrm>
            <a:off x="2029934" y="4394200"/>
            <a:ext cx="7179401" cy="596900"/>
          </a:xfrm>
        </p:spPr>
        <p:txBody>
          <a:bodyPr/>
          <a:lstStyle>
            <a:lvl1pPr>
              <a:defRPr sz="2100" cap="all" baseline="0">
                <a:solidFill>
                  <a:srgbClr val="582E91"/>
                </a:solidFill>
                <a:latin typeface="Arial Black" pitchFamily="34" charset="0"/>
              </a:defRPr>
            </a:lvl1pPr>
            <a:lvl2pPr>
              <a:defRPr sz="2600" cap="all" baseline="0"/>
            </a:lvl2pPr>
            <a:lvl3pPr>
              <a:defRPr sz="2600" cap="all" baseline="0"/>
            </a:lvl3pPr>
            <a:lvl4pPr>
              <a:defRPr sz="2600" cap="all" baseline="0"/>
            </a:lvl4pPr>
            <a:lvl5pPr>
              <a:defRPr sz="2600" cap="all" baseline="0"/>
            </a:lvl5pPr>
          </a:lstStyle>
          <a:p>
            <a:pPr lvl="0"/>
            <a:r>
              <a:rPr lang="en-US" dirty="0"/>
              <a:t>Date</a:t>
            </a:r>
          </a:p>
        </p:txBody>
      </p:sp>
    </p:spTree>
    <p:extLst>
      <p:ext uri="{BB962C8B-B14F-4D97-AF65-F5344CB8AC3E}">
        <p14:creationId xmlns:p14="http://schemas.microsoft.com/office/powerpoint/2010/main" val="188375082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pic>
        <p:nvPicPr>
          <p:cNvPr id="5" name="Picture 7" descr="bar_06.png"/>
          <p:cNvPicPr>
            <a:picLocks noChangeAspect="1"/>
          </p:cNvPicPr>
          <p:nvPr/>
        </p:nvPicPr>
        <p:blipFill>
          <a:blip r:embed="rId2">
            <a:duotone>
              <a:schemeClr val="accent4">
                <a:shade val="45000"/>
                <a:satMod val="135000"/>
              </a:schemeClr>
              <a:prstClr val="white"/>
            </a:duotone>
          </a:blip>
          <a:stretch>
            <a:fillRect/>
          </a:stretch>
        </p:blipFill>
        <p:spPr>
          <a:xfrm>
            <a:off x="0" y="403860"/>
            <a:ext cx="12192000" cy="53340"/>
          </a:xfrm>
          <a:prstGeom prst="rect">
            <a:avLst/>
          </a:prstGeom>
        </p:spPr>
      </p:pic>
      <p:pic>
        <p:nvPicPr>
          <p:cNvPr id="6" name="Picture 8" descr="3_01.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21920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14"/>
          <p:cNvGrpSpPr>
            <a:grpSpLocks/>
          </p:cNvGrpSpPr>
          <p:nvPr/>
        </p:nvGrpSpPr>
        <p:grpSpPr bwMode="auto">
          <a:xfrm>
            <a:off x="0" y="6630988"/>
            <a:ext cx="12192000" cy="228600"/>
            <a:chOff x="0" y="6583680"/>
            <a:chExt cx="9144000" cy="228600"/>
          </a:xfrm>
        </p:grpSpPr>
        <p:sp>
          <p:nvSpPr>
            <p:cNvPr id="8" name="Rectangle 7"/>
            <p:cNvSpPr/>
            <p:nvPr/>
          </p:nvSpPr>
          <p:spPr>
            <a:xfrm>
              <a:off x="8763000" y="6583680"/>
              <a:ext cx="381000" cy="228600"/>
            </a:xfrm>
            <a:prstGeom prst="rect">
              <a:avLst/>
            </a:prstGeom>
            <a:solidFill>
              <a:schemeClr val="bg1">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effectLst>
                  <a:outerShdw blurRad="38100" dist="38100" dir="2700000" algn="tl">
                    <a:srgbClr val="000000">
                      <a:alpha val="43137"/>
                    </a:srgbClr>
                  </a:outerShdw>
                </a:effectLst>
              </a:endParaRPr>
            </a:p>
          </p:txBody>
        </p:sp>
        <p:sp>
          <p:nvSpPr>
            <p:cNvPr id="9" name="Rectangle 8"/>
            <p:cNvSpPr/>
            <p:nvPr/>
          </p:nvSpPr>
          <p:spPr>
            <a:xfrm>
              <a:off x="7142163" y="6583680"/>
              <a:ext cx="1582737" cy="228600"/>
            </a:xfrm>
            <a:prstGeom prst="rect">
              <a:avLst/>
            </a:prstGeom>
            <a:solidFill>
              <a:schemeClr val="bg1">
                <a:alpha val="3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effectLst>
                  <a:outerShdw blurRad="38100" dist="38100" dir="2700000" algn="tl">
                    <a:srgbClr val="000000">
                      <a:alpha val="43137"/>
                    </a:srgbClr>
                  </a:outerShdw>
                </a:effectLst>
              </a:endParaRPr>
            </a:p>
          </p:txBody>
        </p:sp>
        <p:sp>
          <p:nvSpPr>
            <p:cNvPr id="10" name="Rectangle 9"/>
            <p:cNvSpPr/>
            <p:nvPr/>
          </p:nvSpPr>
          <p:spPr>
            <a:xfrm>
              <a:off x="0" y="6583680"/>
              <a:ext cx="7102475" cy="228600"/>
            </a:xfrm>
            <a:prstGeom prst="rect">
              <a:avLst/>
            </a:prstGeom>
            <a:solidFill>
              <a:schemeClr val="bg1">
                <a:alpha val="2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800">
                <a:effectLst>
                  <a:outerShdw blurRad="38100" dist="38100" dir="2700000" algn="tl">
                    <a:srgbClr val="000000">
                      <a:alpha val="43137"/>
                    </a:srgbClr>
                  </a:outerShdw>
                </a:effectLst>
              </a:endParaRPr>
            </a:p>
          </p:txBody>
        </p:sp>
      </p:grpSp>
      <p:sp>
        <p:nvSpPr>
          <p:cNvPr id="11" name="Rectangle 21"/>
          <p:cNvSpPr>
            <a:spLocks noChangeArrowheads="1"/>
          </p:cNvSpPr>
          <p:nvPr userDrawn="1"/>
        </p:nvSpPr>
        <p:spPr bwMode="auto">
          <a:xfrm>
            <a:off x="9381067" y="6400800"/>
            <a:ext cx="284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algn="r" eaLnBrk="1" hangingPunct="1">
              <a:defRPr/>
            </a:pPr>
            <a:r>
              <a:rPr lang="en-US" altLang="fr-FR" sz="1000">
                <a:effectLst>
                  <a:outerShdw blurRad="38100" dist="38100" dir="2700000" algn="tl">
                    <a:srgbClr val="FFFFFF"/>
                  </a:outerShdw>
                </a:effectLst>
                <a:latin typeface="Times New Roman" panose="02020603050405020304" pitchFamily="18" charset="0"/>
                <a:ea typeface="ＭＳ Ｐゴシック" panose="020B0600070205080204" pitchFamily="34" charset="-128"/>
              </a:rPr>
              <a:t>4-</a:t>
            </a:r>
            <a:fld id="{C2D0F1AC-E737-4910-9B86-1CE764765390}" type="slidenum">
              <a:rPr lang="en-US" altLang="fr-FR" sz="1000" smtClean="0">
                <a:effectLst>
                  <a:outerShdw blurRad="38100" dist="38100" dir="2700000" algn="tl">
                    <a:srgbClr val="FFFFFF"/>
                  </a:outerShdw>
                </a:effectLst>
                <a:latin typeface="Times New Roman" panose="02020603050405020304" pitchFamily="18" charset="0"/>
                <a:ea typeface="ＭＳ Ｐゴシック" panose="020B0600070205080204" pitchFamily="34" charset="-128"/>
              </a:rPr>
              <a:pPr algn="r" eaLnBrk="1" hangingPunct="1">
                <a:defRPr/>
              </a:pPr>
              <a:t>‹N°›</a:t>
            </a:fld>
            <a:endParaRPr lang="en-US" altLang="fr-FR" sz="1000">
              <a:effectLst>
                <a:outerShdw blurRad="38100" dist="38100" dir="2700000" algn="tl">
                  <a:srgbClr val="FFFFFF"/>
                </a:outerShdw>
              </a:effectLst>
              <a:latin typeface="Times New Roman" panose="02020603050405020304" pitchFamily="18" charset="0"/>
              <a:ea typeface="ＭＳ Ｐゴシック" panose="020B0600070205080204" pitchFamily="34" charset="-128"/>
            </a:endParaRPr>
          </a:p>
        </p:txBody>
      </p:sp>
      <p:sp>
        <p:nvSpPr>
          <p:cNvPr id="2" name="Title 1"/>
          <p:cNvSpPr>
            <a:spLocks noGrp="1"/>
          </p:cNvSpPr>
          <p:nvPr>
            <p:ph type="title"/>
          </p:nvPr>
        </p:nvSpPr>
        <p:spPr/>
        <p:txBody>
          <a:bodyPr/>
          <a:lstStyle/>
          <a:p>
            <a:r>
              <a:rPr lang="en-US"/>
              <a:t>Click to edit Master title style</a:t>
            </a:r>
          </a:p>
        </p:txBody>
      </p:sp>
      <p:sp>
        <p:nvSpPr>
          <p:cNvPr id="14" name="Content Placeholder 13"/>
          <p:cNvSpPr>
            <a:spLocks noGrp="1"/>
          </p:cNvSpPr>
          <p:nvPr>
            <p:ph sz="quarter" idx="13"/>
          </p:nvPr>
        </p:nvSpPr>
        <p:spPr>
          <a:xfrm>
            <a:off x="609600" y="1981200"/>
            <a:ext cx="5384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4"/>
          </p:nvPr>
        </p:nvSpPr>
        <p:spPr>
          <a:xfrm>
            <a:off x="6197600" y="1981200"/>
            <a:ext cx="5384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19"/>
          <p:cNvSpPr>
            <a:spLocks noGrp="1"/>
          </p:cNvSpPr>
          <p:nvPr>
            <p:ph type="dt" sz="half" idx="15"/>
          </p:nvPr>
        </p:nvSpPr>
        <p:spPr/>
        <p:txBody>
          <a:bodyPr/>
          <a:lstStyle>
            <a:lvl1pPr>
              <a:defRPr/>
            </a:lvl1pPr>
          </a:lstStyle>
          <a:p>
            <a:pPr>
              <a:defRPr/>
            </a:pPr>
            <a:r>
              <a:rPr lang="en-US"/>
              <a:t>McGraw-Hill/Irwin</a:t>
            </a:r>
            <a:endParaRPr lang="en-US" dirty="0"/>
          </a:p>
        </p:txBody>
      </p:sp>
      <p:sp>
        <p:nvSpPr>
          <p:cNvPr id="13" name="Slide Number Placeholder 20"/>
          <p:cNvSpPr>
            <a:spLocks noGrp="1"/>
          </p:cNvSpPr>
          <p:nvPr>
            <p:ph type="sldNum" sz="quarter" idx="16"/>
          </p:nvPr>
        </p:nvSpPr>
        <p:spPr/>
        <p:txBody>
          <a:bodyPr/>
          <a:lstStyle>
            <a:lvl1pPr>
              <a:defRPr smtClean="0"/>
            </a:lvl1pPr>
          </a:lstStyle>
          <a:p>
            <a:pPr>
              <a:defRPr/>
            </a:pPr>
            <a:fld id="{C9739AA4-FCFC-472A-B64C-15E7662DE4A3}" type="slidenum">
              <a:rPr lang="en-US" altLang="fr-FR"/>
              <a:pPr>
                <a:defRPr/>
              </a:pPr>
              <a:t>‹N°›</a:t>
            </a:fld>
            <a:endParaRPr lang="en-US" altLang="fr-FR"/>
          </a:p>
        </p:txBody>
      </p:sp>
      <p:sp>
        <p:nvSpPr>
          <p:cNvPr id="15" name="Footer Placeholder 21"/>
          <p:cNvSpPr>
            <a:spLocks noGrp="1"/>
          </p:cNvSpPr>
          <p:nvPr>
            <p:ph type="ftr" sz="quarter" idx="17"/>
          </p:nvPr>
        </p:nvSpPr>
        <p:spPr/>
        <p:txBody>
          <a:bodyPr/>
          <a:lstStyle>
            <a:lvl1pPr>
              <a:defRPr/>
            </a:lvl1pPr>
          </a:lstStyle>
          <a:p>
            <a:pPr>
              <a:defRPr/>
            </a:pPr>
            <a:r>
              <a:rPr lang="en-US"/>
              <a:t>Copyright © 2013 by The McGraw-Hill Companies, Inc. All rights reserved</a:t>
            </a:r>
          </a:p>
        </p:txBody>
      </p:sp>
    </p:spTree>
    <p:extLst>
      <p:ext uri="{BB962C8B-B14F-4D97-AF65-F5344CB8AC3E}">
        <p14:creationId xmlns:p14="http://schemas.microsoft.com/office/powerpoint/2010/main" val="118025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Partie 6">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953" y="1590"/>
          <a:ext cx="1953"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3" y="1590"/>
                        <a:ext cx="1953"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Freeform 7"/>
          <p:cNvSpPr>
            <a:spLocks noEditPoints="1"/>
          </p:cNvSpPr>
          <p:nvPr userDrawn="1"/>
        </p:nvSpPr>
        <p:spPr bwMode="auto">
          <a:xfrm>
            <a:off x="-6351" y="1944688"/>
            <a:ext cx="11705168" cy="3586163"/>
          </a:xfrm>
          <a:custGeom>
            <a:avLst/>
            <a:gdLst/>
            <a:ahLst/>
            <a:cxnLst>
              <a:cxn ang="0">
                <a:pos x="147" y="1123"/>
              </a:cxn>
              <a:cxn ang="0">
                <a:pos x="344" y="1125"/>
              </a:cxn>
              <a:cxn ang="0">
                <a:pos x="476" y="1127"/>
              </a:cxn>
              <a:cxn ang="0">
                <a:pos x="589" y="1125"/>
              </a:cxn>
              <a:cxn ang="0">
                <a:pos x="818" y="1120"/>
              </a:cxn>
              <a:cxn ang="0">
                <a:pos x="944" y="1116"/>
              </a:cxn>
              <a:cxn ang="0">
                <a:pos x="1115" y="1109"/>
              </a:cxn>
              <a:cxn ang="0">
                <a:pos x="1270" y="1108"/>
              </a:cxn>
              <a:cxn ang="0">
                <a:pos x="1405" y="1105"/>
              </a:cxn>
              <a:cxn ang="0">
                <a:pos x="1579" y="1103"/>
              </a:cxn>
              <a:cxn ang="0">
                <a:pos x="1696" y="1096"/>
              </a:cxn>
              <a:cxn ang="0">
                <a:pos x="1804" y="1095"/>
              </a:cxn>
              <a:cxn ang="0">
                <a:pos x="1943" y="1090"/>
              </a:cxn>
              <a:cxn ang="0">
                <a:pos x="2046" y="1088"/>
              </a:cxn>
              <a:cxn ang="0">
                <a:pos x="2139" y="1084"/>
              </a:cxn>
              <a:cxn ang="0">
                <a:pos x="2288" y="1083"/>
              </a:cxn>
              <a:cxn ang="0">
                <a:pos x="2463" y="1077"/>
              </a:cxn>
              <a:cxn ang="0">
                <a:pos x="2548" y="1074"/>
              </a:cxn>
              <a:cxn ang="0">
                <a:pos x="2670" y="983"/>
              </a:cxn>
              <a:cxn ang="0">
                <a:pos x="2724" y="970"/>
              </a:cxn>
              <a:cxn ang="0">
                <a:pos x="2759" y="908"/>
              </a:cxn>
              <a:cxn ang="0">
                <a:pos x="2756" y="830"/>
              </a:cxn>
              <a:cxn ang="0">
                <a:pos x="2755" y="789"/>
              </a:cxn>
              <a:cxn ang="0">
                <a:pos x="2748" y="742"/>
              </a:cxn>
              <a:cxn ang="0">
                <a:pos x="2750" y="698"/>
              </a:cxn>
              <a:cxn ang="0">
                <a:pos x="2740" y="663"/>
              </a:cxn>
              <a:cxn ang="0">
                <a:pos x="2720" y="582"/>
              </a:cxn>
              <a:cxn ang="0">
                <a:pos x="2747" y="482"/>
              </a:cxn>
              <a:cxn ang="0">
                <a:pos x="2748" y="421"/>
              </a:cxn>
              <a:cxn ang="0">
                <a:pos x="2749" y="387"/>
              </a:cxn>
              <a:cxn ang="0">
                <a:pos x="2755" y="348"/>
              </a:cxn>
              <a:cxn ang="0">
                <a:pos x="2754" y="308"/>
              </a:cxn>
              <a:cxn ang="0">
                <a:pos x="2752" y="281"/>
              </a:cxn>
              <a:cxn ang="0">
                <a:pos x="2736" y="152"/>
              </a:cxn>
              <a:cxn ang="0">
                <a:pos x="2671" y="106"/>
              </a:cxn>
              <a:cxn ang="0">
                <a:pos x="2659" y="76"/>
              </a:cxn>
              <a:cxn ang="0">
                <a:pos x="2645" y="18"/>
              </a:cxn>
              <a:cxn ang="0">
                <a:pos x="2585" y="40"/>
              </a:cxn>
              <a:cxn ang="0">
                <a:pos x="2453" y="49"/>
              </a:cxn>
              <a:cxn ang="0">
                <a:pos x="2295" y="41"/>
              </a:cxn>
              <a:cxn ang="0">
                <a:pos x="2163" y="15"/>
              </a:cxn>
              <a:cxn ang="0">
                <a:pos x="2058" y="4"/>
              </a:cxn>
              <a:cxn ang="0">
                <a:pos x="1916" y="4"/>
              </a:cxn>
              <a:cxn ang="0">
                <a:pos x="1821" y="6"/>
              </a:cxn>
              <a:cxn ang="0">
                <a:pos x="1689" y="10"/>
              </a:cxn>
              <a:cxn ang="0">
                <a:pos x="1539" y="10"/>
              </a:cxn>
              <a:cxn ang="0">
                <a:pos x="1377" y="11"/>
              </a:cxn>
              <a:cxn ang="0">
                <a:pos x="1241" y="13"/>
              </a:cxn>
              <a:cxn ang="0">
                <a:pos x="1061" y="12"/>
              </a:cxn>
              <a:cxn ang="0">
                <a:pos x="921" y="22"/>
              </a:cxn>
              <a:cxn ang="0">
                <a:pos x="786" y="24"/>
              </a:cxn>
              <a:cxn ang="0">
                <a:pos x="636" y="29"/>
              </a:cxn>
              <a:cxn ang="0">
                <a:pos x="527" y="33"/>
              </a:cxn>
              <a:cxn ang="0">
                <a:pos x="370" y="37"/>
              </a:cxn>
              <a:cxn ang="0">
                <a:pos x="174" y="47"/>
              </a:cxn>
              <a:cxn ang="0">
                <a:pos x="0" y="229"/>
              </a:cxn>
              <a:cxn ang="0">
                <a:pos x="2703" y="601"/>
              </a:cxn>
              <a:cxn ang="0">
                <a:pos x="2652" y="1008"/>
              </a:cxn>
              <a:cxn ang="0">
                <a:pos x="647" y="575"/>
              </a:cxn>
            </a:cxnLst>
            <a:rect l="0" t="0" r="r" b="b"/>
            <a:pathLst>
              <a:path w="2762" h="1128">
                <a:moveTo>
                  <a:pt x="23" y="1124"/>
                </a:moveTo>
                <a:cubicBezTo>
                  <a:pt x="29" y="1125"/>
                  <a:pt x="38" y="1123"/>
                  <a:pt x="45" y="1124"/>
                </a:cubicBezTo>
                <a:cubicBezTo>
                  <a:pt x="57" y="1122"/>
                  <a:pt x="68" y="1124"/>
                  <a:pt x="79" y="1124"/>
                </a:cubicBezTo>
                <a:cubicBezTo>
                  <a:pt x="88" y="1124"/>
                  <a:pt x="91" y="1125"/>
                  <a:pt x="101" y="1124"/>
                </a:cubicBezTo>
                <a:cubicBezTo>
                  <a:pt x="103" y="1124"/>
                  <a:pt x="105" y="1124"/>
                  <a:pt x="106" y="1124"/>
                </a:cubicBezTo>
                <a:cubicBezTo>
                  <a:pt x="109" y="1125"/>
                  <a:pt x="112" y="1124"/>
                  <a:pt x="116" y="1124"/>
                </a:cubicBezTo>
                <a:cubicBezTo>
                  <a:pt x="126" y="1123"/>
                  <a:pt x="137" y="1122"/>
                  <a:pt x="147" y="1123"/>
                </a:cubicBezTo>
                <a:cubicBezTo>
                  <a:pt x="159" y="1124"/>
                  <a:pt x="171" y="1124"/>
                  <a:pt x="183" y="1124"/>
                </a:cubicBezTo>
                <a:cubicBezTo>
                  <a:pt x="196" y="1123"/>
                  <a:pt x="209" y="1123"/>
                  <a:pt x="222" y="1123"/>
                </a:cubicBezTo>
                <a:cubicBezTo>
                  <a:pt x="234" y="1123"/>
                  <a:pt x="247" y="1123"/>
                  <a:pt x="257" y="1125"/>
                </a:cubicBezTo>
                <a:cubicBezTo>
                  <a:pt x="263" y="1123"/>
                  <a:pt x="270" y="1124"/>
                  <a:pt x="276" y="1123"/>
                </a:cubicBezTo>
                <a:cubicBezTo>
                  <a:pt x="283" y="1123"/>
                  <a:pt x="290" y="1123"/>
                  <a:pt x="297" y="1123"/>
                </a:cubicBezTo>
                <a:cubicBezTo>
                  <a:pt x="299" y="1121"/>
                  <a:pt x="305" y="1121"/>
                  <a:pt x="309" y="1119"/>
                </a:cubicBezTo>
                <a:cubicBezTo>
                  <a:pt x="318" y="1123"/>
                  <a:pt x="331" y="1124"/>
                  <a:pt x="344" y="1125"/>
                </a:cubicBezTo>
                <a:cubicBezTo>
                  <a:pt x="352" y="1125"/>
                  <a:pt x="361" y="1124"/>
                  <a:pt x="369" y="1124"/>
                </a:cubicBezTo>
                <a:cubicBezTo>
                  <a:pt x="377" y="1123"/>
                  <a:pt x="385" y="1125"/>
                  <a:pt x="393" y="1123"/>
                </a:cubicBezTo>
                <a:cubicBezTo>
                  <a:pt x="395" y="1123"/>
                  <a:pt x="398" y="1123"/>
                  <a:pt x="401" y="1123"/>
                </a:cubicBezTo>
                <a:cubicBezTo>
                  <a:pt x="407" y="1125"/>
                  <a:pt x="414" y="1125"/>
                  <a:pt x="422" y="1127"/>
                </a:cubicBezTo>
                <a:cubicBezTo>
                  <a:pt x="432" y="1126"/>
                  <a:pt x="443" y="1126"/>
                  <a:pt x="454" y="1126"/>
                </a:cubicBezTo>
                <a:cubicBezTo>
                  <a:pt x="457" y="1126"/>
                  <a:pt x="460" y="1125"/>
                  <a:pt x="463" y="1126"/>
                </a:cubicBezTo>
                <a:cubicBezTo>
                  <a:pt x="467" y="1126"/>
                  <a:pt x="471" y="1127"/>
                  <a:pt x="476" y="1127"/>
                </a:cubicBezTo>
                <a:cubicBezTo>
                  <a:pt x="482" y="1127"/>
                  <a:pt x="487" y="1127"/>
                  <a:pt x="493" y="1127"/>
                </a:cubicBezTo>
                <a:cubicBezTo>
                  <a:pt x="502" y="1126"/>
                  <a:pt x="511" y="1127"/>
                  <a:pt x="519" y="1128"/>
                </a:cubicBezTo>
                <a:cubicBezTo>
                  <a:pt x="521" y="1128"/>
                  <a:pt x="522" y="1128"/>
                  <a:pt x="523" y="1128"/>
                </a:cubicBezTo>
                <a:cubicBezTo>
                  <a:pt x="534" y="1126"/>
                  <a:pt x="546" y="1127"/>
                  <a:pt x="558" y="1126"/>
                </a:cubicBezTo>
                <a:cubicBezTo>
                  <a:pt x="562" y="1126"/>
                  <a:pt x="566" y="1125"/>
                  <a:pt x="570" y="1126"/>
                </a:cubicBezTo>
                <a:cubicBezTo>
                  <a:pt x="572" y="1127"/>
                  <a:pt x="577" y="1126"/>
                  <a:pt x="580" y="1125"/>
                </a:cubicBezTo>
                <a:cubicBezTo>
                  <a:pt x="584" y="1125"/>
                  <a:pt x="585" y="1127"/>
                  <a:pt x="589" y="1125"/>
                </a:cubicBezTo>
                <a:cubicBezTo>
                  <a:pt x="592" y="1124"/>
                  <a:pt x="595" y="1126"/>
                  <a:pt x="600" y="1126"/>
                </a:cubicBezTo>
                <a:cubicBezTo>
                  <a:pt x="614" y="1125"/>
                  <a:pt x="629" y="1125"/>
                  <a:pt x="643" y="1125"/>
                </a:cubicBezTo>
                <a:cubicBezTo>
                  <a:pt x="658" y="1124"/>
                  <a:pt x="671" y="1124"/>
                  <a:pt x="686" y="1123"/>
                </a:cubicBezTo>
                <a:cubicBezTo>
                  <a:pt x="703" y="1121"/>
                  <a:pt x="736" y="1121"/>
                  <a:pt x="756" y="1123"/>
                </a:cubicBezTo>
                <a:cubicBezTo>
                  <a:pt x="763" y="1124"/>
                  <a:pt x="768" y="1123"/>
                  <a:pt x="774" y="1122"/>
                </a:cubicBezTo>
                <a:cubicBezTo>
                  <a:pt x="781" y="1121"/>
                  <a:pt x="789" y="1120"/>
                  <a:pt x="797" y="1121"/>
                </a:cubicBezTo>
                <a:cubicBezTo>
                  <a:pt x="804" y="1122"/>
                  <a:pt x="811" y="1121"/>
                  <a:pt x="818" y="1120"/>
                </a:cubicBezTo>
                <a:cubicBezTo>
                  <a:pt x="823" y="1120"/>
                  <a:pt x="827" y="1119"/>
                  <a:pt x="832" y="1120"/>
                </a:cubicBezTo>
                <a:cubicBezTo>
                  <a:pt x="833" y="1120"/>
                  <a:pt x="835" y="1120"/>
                  <a:pt x="836" y="1120"/>
                </a:cubicBezTo>
                <a:cubicBezTo>
                  <a:pt x="845" y="1118"/>
                  <a:pt x="853" y="1118"/>
                  <a:pt x="863" y="1118"/>
                </a:cubicBezTo>
                <a:cubicBezTo>
                  <a:pt x="877" y="1118"/>
                  <a:pt x="891" y="1118"/>
                  <a:pt x="905" y="1117"/>
                </a:cubicBezTo>
                <a:cubicBezTo>
                  <a:pt x="912" y="1117"/>
                  <a:pt x="917" y="1115"/>
                  <a:pt x="924" y="1116"/>
                </a:cubicBezTo>
                <a:cubicBezTo>
                  <a:pt x="927" y="1116"/>
                  <a:pt x="929" y="1117"/>
                  <a:pt x="933" y="1116"/>
                </a:cubicBezTo>
                <a:cubicBezTo>
                  <a:pt x="935" y="1115"/>
                  <a:pt x="939" y="1116"/>
                  <a:pt x="944" y="1116"/>
                </a:cubicBezTo>
                <a:cubicBezTo>
                  <a:pt x="958" y="1116"/>
                  <a:pt x="958" y="1117"/>
                  <a:pt x="972" y="1115"/>
                </a:cubicBezTo>
                <a:cubicBezTo>
                  <a:pt x="973" y="1115"/>
                  <a:pt x="974" y="1114"/>
                  <a:pt x="976" y="1114"/>
                </a:cubicBezTo>
                <a:cubicBezTo>
                  <a:pt x="991" y="1115"/>
                  <a:pt x="1005" y="1112"/>
                  <a:pt x="1020" y="1112"/>
                </a:cubicBezTo>
                <a:cubicBezTo>
                  <a:pt x="1025" y="1108"/>
                  <a:pt x="1025" y="1108"/>
                  <a:pt x="1036" y="1109"/>
                </a:cubicBezTo>
                <a:cubicBezTo>
                  <a:pt x="1045" y="1111"/>
                  <a:pt x="1055" y="1111"/>
                  <a:pt x="1065" y="1111"/>
                </a:cubicBezTo>
                <a:cubicBezTo>
                  <a:pt x="1070" y="1110"/>
                  <a:pt x="1076" y="1110"/>
                  <a:pt x="1080" y="1110"/>
                </a:cubicBezTo>
                <a:cubicBezTo>
                  <a:pt x="1093" y="1112"/>
                  <a:pt x="1104" y="1110"/>
                  <a:pt x="1115" y="1109"/>
                </a:cubicBezTo>
                <a:cubicBezTo>
                  <a:pt x="1122" y="1108"/>
                  <a:pt x="1130" y="1107"/>
                  <a:pt x="1135" y="1108"/>
                </a:cubicBezTo>
                <a:cubicBezTo>
                  <a:pt x="1143" y="1109"/>
                  <a:pt x="1148" y="1108"/>
                  <a:pt x="1152" y="1107"/>
                </a:cubicBezTo>
                <a:cubicBezTo>
                  <a:pt x="1160" y="1108"/>
                  <a:pt x="1166" y="1109"/>
                  <a:pt x="1173" y="1110"/>
                </a:cubicBezTo>
                <a:cubicBezTo>
                  <a:pt x="1187" y="1106"/>
                  <a:pt x="1203" y="1107"/>
                  <a:pt x="1219" y="1106"/>
                </a:cubicBezTo>
                <a:cubicBezTo>
                  <a:pt x="1222" y="1109"/>
                  <a:pt x="1230" y="1107"/>
                  <a:pt x="1235" y="1108"/>
                </a:cubicBezTo>
                <a:cubicBezTo>
                  <a:pt x="1239" y="1109"/>
                  <a:pt x="1247" y="1108"/>
                  <a:pt x="1254" y="1108"/>
                </a:cubicBezTo>
                <a:cubicBezTo>
                  <a:pt x="1259" y="1108"/>
                  <a:pt x="1264" y="1108"/>
                  <a:pt x="1270" y="1108"/>
                </a:cubicBezTo>
                <a:cubicBezTo>
                  <a:pt x="1277" y="1109"/>
                  <a:pt x="1286" y="1108"/>
                  <a:pt x="1294" y="1107"/>
                </a:cubicBezTo>
                <a:cubicBezTo>
                  <a:pt x="1296" y="1107"/>
                  <a:pt x="1298" y="1106"/>
                  <a:pt x="1300" y="1105"/>
                </a:cubicBezTo>
                <a:cubicBezTo>
                  <a:pt x="1304" y="1105"/>
                  <a:pt x="1310" y="1104"/>
                  <a:pt x="1313" y="1105"/>
                </a:cubicBezTo>
                <a:cubicBezTo>
                  <a:pt x="1323" y="1106"/>
                  <a:pt x="1332" y="1105"/>
                  <a:pt x="1342" y="1105"/>
                </a:cubicBezTo>
                <a:cubicBezTo>
                  <a:pt x="1349" y="1105"/>
                  <a:pt x="1357" y="1104"/>
                  <a:pt x="1364" y="1106"/>
                </a:cubicBezTo>
                <a:cubicBezTo>
                  <a:pt x="1367" y="1106"/>
                  <a:pt x="1367" y="1104"/>
                  <a:pt x="1372" y="1104"/>
                </a:cubicBezTo>
                <a:cubicBezTo>
                  <a:pt x="1381" y="1107"/>
                  <a:pt x="1394" y="1105"/>
                  <a:pt x="1405" y="1105"/>
                </a:cubicBezTo>
                <a:cubicBezTo>
                  <a:pt x="1413" y="1103"/>
                  <a:pt x="1422" y="1104"/>
                  <a:pt x="1429" y="1105"/>
                </a:cubicBezTo>
                <a:cubicBezTo>
                  <a:pt x="1435" y="1105"/>
                  <a:pt x="1440" y="1106"/>
                  <a:pt x="1445" y="1105"/>
                </a:cubicBezTo>
                <a:cubicBezTo>
                  <a:pt x="1451" y="1105"/>
                  <a:pt x="1456" y="1106"/>
                  <a:pt x="1462" y="1104"/>
                </a:cubicBezTo>
                <a:cubicBezTo>
                  <a:pt x="1465" y="1104"/>
                  <a:pt x="1471" y="1104"/>
                  <a:pt x="1476" y="1104"/>
                </a:cubicBezTo>
                <a:cubicBezTo>
                  <a:pt x="1489" y="1103"/>
                  <a:pt x="1502" y="1103"/>
                  <a:pt x="1515" y="1103"/>
                </a:cubicBezTo>
                <a:cubicBezTo>
                  <a:pt x="1530" y="1104"/>
                  <a:pt x="1546" y="1103"/>
                  <a:pt x="1562" y="1102"/>
                </a:cubicBezTo>
                <a:cubicBezTo>
                  <a:pt x="1568" y="1102"/>
                  <a:pt x="1573" y="1103"/>
                  <a:pt x="1579" y="1103"/>
                </a:cubicBezTo>
                <a:cubicBezTo>
                  <a:pt x="1585" y="1103"/>
                  <a:pt x="1590" y="1101"/>
                  <a:pt x="1595" y="1100"/>
                </a:cubicBezTo>
                <a:cubicBezTo>
                  <a:pt x="1596" y="1100"/>
                  <a:pt x="1597" y="1100"/>
                  <a:pt x="1598" y="1101"/>
                </a:cubicBezTo>
                <a:cubicBezTo>
                  <a:pt x="1604" y="1102"/>
                  <a:pt x="1612" y="1100"/>
                  <a:pt x="1617" y="1101"/>
                </a:cubicBezTo>
                <a:cubicBezTo>
                  <a:pt x="1629" y="1097"/>
                  <a:pt x="1640" y="1095"/>
                  <a:pt x="1652" y="1098"/>
                </a:cubicBezTo>
                <a:cubicBezTo>
                  <a:pt x="1657" y="1098"/>
                  <a:pt x="1662" y="1099"/>
                  <a:pt x="1665" y="1098"/>
                </a:cubicBezTo>
                <a:cubicBezTo>
                  <a:pt x="1669" y="1097"/>
                  <a:pt x="1674" y="1097"/>
                  <a:pt x="1678" y="1097"/>
                </a:cubicBezTo>
                <a:cubicBezTo>
                  <a:pt x="1684" y="1097"/>
                  <a:pt x="1691" y="1096"/>
                  <a:pt x="1696" y="1096"/>
                </a:cubicBezTo>
                <a:cubicBezTo>
                  <a:pt x="1703" y="1097"/>
                  <a:pt x="1708" y="1096"/>
                  <a:pt x="1714" y="1096"/>
                </a:cubicBezTo>
                <a:cubicBezTo>
                  <a:pt x="1718" y="1096"/>
                  <a:pt x="1721" y="1094"/>
                  <a:pt x="1726" y="1095"/>
                </a:cubicBezTo>
                <a:cubicBezTo>
                  <a:pt x="1729" y="1096"/>
                  <a:pt x="1735" y="1096"/>
                  <a:pt x="1739" y="1094"/>
                </a:cubicBezTo>
                <a:cubicBezTo>
                  <a:pt x="1741" y="1094"/>
                  <a:pt x="1744" y="1094"/>
                  <a:pt x="1747" y="1094"/>
                </a:cubicBezTo>
                <a:cubicBezTo>
                  <a:pt x="1759" y="1096"/>
                  <a:pt x="1766" y="1096"/>
                  <a:pt x="1780" y="1095"/>
                </a:cubicBezTo>
                <a:cubicBezTo>
                  <a:pt x="1783" y="1095"/>
                  <a:pt x="1788" y="1094"/>
                  <a:pt x="1789" y="1095"/>
                </a:cubicBezTo>
                <a:cubicBezTo>
                  <a:pt x="1794" y="1096"/>
                  <a:pt x="1799" y="1095"/>
                  <a:pt x="1804" y="1095"/>
                </a:cubicBezTo>
                <a:cubicBezTo>
                  <a:pt x="1811" y="1095"/>
                  <a:pt x="1817" y="1095"/>
                  <a:pt x="1825" y="1095"/>
                </a:cubicBezTo>
                <a:cubicBezTo>
                  <a:pt x="1827" y="1093"/>
                  <a:pt x="1832" y="1092"/>
                  <a:pt x="1836" y="1092"/>
                </a:cubicBezTo>
                <a:cubicBezTo>
                  <a:pt x="1843" y="1092"/>
                  <a:pt x="1848" y="1095"/>
                  <a:pt x="1856" y="1092"/>
                </a:cubicBezTo>
                <a:cubicBezTo>
                  <a:pt x="1858" y="1091"/>
                  <a:pt x="1864" y="1091"/>
                  <a:pt x="1869" y="1092"/>
                </a:cubicBezTo>
                <a:cubicBezTo>
                  <a:pt x="1878" y="1093"/>
                  <a:pt x="1889" y="1091"/>
                  <a:pt x="1898" y="1093"/>
                </a:cubicBezTo>
                <a:cubicBezTo>
                  <a:pt x="1909" y="1090"/>
                  <a:pt x="1922" y="1091"/>
                  <a:pt x="1934" y="1091"/>
                </a:cubicBezTo>
                <a:cubicBezTo>
                  <a:pt x="1937" y="1090"/>
                  <a:pt x="1941" y="1091"/>
                  <a:pt x="1943" y="1090"/>
                </a:cubicBezTo>
                <a:cubicBezTo>
                  <a:pt x="1950" y="1088"/>
                  <a:pt x="1958" y="1089"/>
                  <a:pt x="1964" y="1090"/>
                </a:cubicBezTo>
                <a:cubicBezTo>
                  <a:pt x="1970" y="1091"/>
                  <a:pt x="1976" y="1091"/>
                  <a:pt x="1981" y="1090"/>
                </a:cubicBezTo>
                <a:cubicBezTo>
                  <a:pt x="1986" y="1089"/>
                  <a:pt x="1992" y="1089"/>
                  <a:pt x="1995" y="1089"/>
                </a:cubicBezTo>
                <a:cubicBezTo>
                  <a:pt x="2001" y="1090"/>
                  <a:pt x="2005" y="1090"/>
                  <a:pt x="2010" y="1090"/>
                </a:cubicBezTo>
                <a:cubicBezTo>
                  <a:pt x="2017" y="1089"/>
                  <a:pt x="2024" y="1087"/>
                  <a:pt x="2031" y="1089"/>
                </a:cubicBezTo>
                <a:cubicBezTo>
                  <a:pt x="2032" y="1089"/>
                  <a:pt x="2034" y="1088"/>
                  <a:pt x="2035" y="1088"/>
                </a:cubicBezTo>
                <a:cubicBezTo>
                  <a:pt x="2039" y="1088"/>
                  <a:pt x="2043" y="1087"/>
                  <a:pt x="2046" y="1088"/>
                </a:cubicBezTo>
                <a:cubicBezTo>
                  <a:pt x="2051" y="1089"/>
                  <a:pt x="2055" y="1089"/>
                  <a:pt x="2059" y="1088"/>
                </a:cubicBezTo>
                <a:cubicBezTo>
                  <a:pt x="2061" y="1087"/>
                  <a:pt x="2064" y="1087"/>
                  <a:pt x="2066" y="1087"/>
                </a:cubicBezTo>
                <a:cubicBezTo>
                  <a:pt x="2072" y="1087"/>
                  <a:pt x="2079" y="1087"/>
                  <a:pt x="2083" y="1086"/>
                </a:cubicBezTo>
                <a:cubicBezTo>
                  <a:pt x="2089" y="1084"/>
                  <a:pt x="2092" y="1087"/>
                  <a:pt x="2098" y="1086"/>
                </a:cubicBezTo>
                <a:cubicBezTo>
                  <a:pt x="2103" y="1086"/>
                  <a:pt x="2109" y="1085"/>
                  <a:pt x="2114" y="1087"/>
                </a:cubicBezTo>
                <a:cubicBezTo>
                  <a:pt x="2114" y="1087"/>
                  <a:pt x="2116" y="1087"/>
                  <a:pt x="2118" y="1086"/>
                </a:cubicBezTo>
                <a:cubicBezTo>
                  <a:pt x="2125" y="1085"/>
                  <a:pt x="2132" y="1084"/>
                  <a:pt x="2139" y="1084"/>
                </a:cubicBezTo>
                <a:cubicBezTo>
                  <a:pt x="2144" y="1083"/>
                  <a:pt x="2150" y="1083"/>
                  <a:pt x="2156" y="1082"/>
                </a:cubicBezTo>
                <a:cubicBezTo>
                  <a:pt x="2171" y="1079"/>
                  <a:pt x="2187" y="1077"/>
                  <a:pt x="2204" y="1077"/>
                </a:cubicBezTo>
                <a:cubicBezTo>
                  <a:pt x="2208" y="1075"/>
                  <a:pt x="2214" y="1074"/>
                  <a:pt x="2220" y="1074"/>
                </a:cubicBezTo>
                <a:cubicBezTo>
                  <a:pt x="2230" y="1074"/>
                  <a:pt x="2232" y="1078"/>
                  <a:pt x="2239" y="1079"/>
                </a:cubicBezTo>
                <a:cubicBezTo>
                  <a:pt x="2244" y="1080"/>
                  <a:pt x="2250" y="1078"/>
                  <a:pt x="2256" y="1079"/>
                </a:cubicBezTo>
                <a:cubicBezTo>
                  <a:pt x="2261" y="1080"/>
                  <a:pt x="2267" y="1077"/>
                  <a:pt x="2275" y="1079"/>
                </a:cubicBezTo>
                <a:cubicBezTo>
                  <a:pt x="2279" y="1080"/>
                  <a:pt x="2284" y="1081"/>
                  <a:pt x="2288" y="1083"/>
                </a:cubicBezTo>
                <a:cubicBezTo>
                  <a:pt x="2299" y="1083"/>
                  <a:pt x="2309" y="1084"/>
                  <a:pt x="2319" y="1083"/>
                </a:cubicBezTo>
                <a:cubicBezTo>
                  <a:pt x="2319" y="1083"/>
                  <a:pt x="2320" y="1083"/>
                  <a:pt x="2321" y="1084"/>
                </a:cubicBezTo>
                <a:cubicBezTo>
                  <a:pt x="2330" y="1085"/>
                  <a:pt x="2339" y="1083"/>
                  <a:pt x="2347" y="1084"/>
                </a:cubicBezTo>
                <a:cubicBezTo>
                  <a:pt x="2356" y="1082"/>
                  <a:pt x="2366" y="1084"/>
                  <a:pt x="2376" y="1082"/>
                </a:cubicBezTo>
                <a:cubicBezTo>
                  <a:pt x="2386" y="1079"/>
                  <a:pt x="2400" y="1078"/>
                  <a:pt x="2412" y="1076"/>
                </a:cubicBezTo>
                <a:cubicBezTo>
                  <a:pt x="2423" y="1073"/>
                  <a:pt x="2434" y="1073"/>
                  <a:pt x="2445" y="1076"/>
                </a:cubicBezTo>
                <a:cubicBezTo>
                  <a:pt x="2450" y="1077"/>
                  <a:pt x="2456" y="1078"/>
                  <a:pt x="2463" y="1077"/>
                </a:cubicBezTo>
                <a:cubicBezTo>
                  <a:pt x="2468" y="1078"/>
                  <a:pt x="2473" y="1080"/>
                  <a:pt x="2475" y="1082"/>
                </a:cubicBezTo>
                <a:cubicBezTo>
                  <a:pt x="2478" y="1082"/>
                  <a:pt x="2480" y="1082"/>
                  <a:pt x="2481" y="1082"/>
                </a:cubicBezTo>
                <a:cubicBezTo>
                  <a:pt x="2490" y="1080"/>
                  <a:pt x="2500" y="1077"/>
                  <a:pt x="2511" y="1078"/>
                </a:cubicBezTo>
                <a:cubicBezTo>
                  <a:pt x="2512" y="1078"/>
                  <a:pt x="2514" y="1077"/>
                  <a:pt x="2515" y="1077"/>
                </a:cubicBezTo>
                <a:cubicBezTo>
                  <a:pt x="2519" y="1076"/>
                  <a:pt x="2522" y="1076"/>
                  <a:pt x="2526" y="1075"/>
                </a:cubicBezTo>
                <a:cubicBezTo>
                  <a:pt x="2532" y="1074"/>
                  <a:pt x="2540" y="1076"/>
                  <a:pt x="2547" y="1074"/>
                </a:cubicBezTo>
                <a:cubicBezTo>
                  <a:pt x="2547" y="1074"/>
                  <a:pt x="2547" y="1074"/>
                  <a:pt x="2548" y="1074"/>
                </a:cubicBezTo>
                <a:cubicBezTo>
                  <a:pt x="2551" y="1075"/>
                  <a:pt x="2556" y="1074"/>
                  <a:pt x="2559" y="1074"/>
                </a:cubicBezTo>
                <a:cubicBezTo>
                  <a:pt x="2573" y="1077"/>
                  <a:pt x="2582" y="1072"/>
                  <a:pt x="2594" y="1071"/>
                </a:cubicBezTo>
                <a:cubicBezTo>
                  <a:pt x="2597" y="1067"/>
                  <a:pt x="2609" y="1066"/>
                  <a:pt x="2617" y="1064"/>
                </a:cubicBezTo>
                <a:cubicBezTo>
                  <a:pt x="2625" y="1065"/>
                  <a:pt x="2625" y="1065"/>
                  <a:pt x="2637" y="1063"/>
                </a:cubicBezTo>
                <a:cubicBezTo>
                  <a:pt x="2656" y="1063"/>
                  <a:pt x="2681" y="1048"/>
                  <a:pt x="2684" y="1047"/>
                </a:cubicBezTo>
                <a:cubicBezTo>
                  <a:pt x="2689" y="1045"/>
                  <a:pt x="2678" y="1033"/>
                  <a:pt x="2678" y="1032"/>
                </a:cubicBezTo>
                <a:cubicBezTo>
                  <a:pt x="2675" y="1031"/>
                  <a:pt x="2663" y="984"/>
                  <a:pt x="2670" y="983"/>
                </a:cubicBezTo>
                <a:cubicBezTo>
                  <a:pt x="2673" y="982"/>
                  <a:pt x="2676" y="982"/>
                  <a:pt x="2677" y="982"/>
                </a:cubicBezTo>
                <a:cubicBezTo>
                  <a:pt x="2682" y="983"/>
                  <a:pt x="2688" y="983"/>
                  <a:pt x="2693" y="983"/>
                </a:cubicBezTo>
                <a:cubicBezTo>
                  <a:pt x="2700" y="983"/>
                  <a:pt x="2706" y="982"/>
                  <a:pt x="2713" y="981"/>
                </a:cubicBezTo>
                <a:cubicBezTo>
                  <a:pt x="2719" y="980"/>
                  <a:pt x="2719" y="977"/>
                  <a:pt x="2721" y="976"/>
                </a:cubicBezTo>
                <a:cubicBezTo>
                  <a:pt x="2715" y="977"/>
                  <a:pt x="2688" y="980"/>
                  <a:pt x="2696" y="977"/>
                </a:cubicBezTo>
                <a:cubicBezTo>
                  <a:pt x="2697" y="977"/>
                  <a:pt x="2700" y="977"/>
                  <a:pt x="2702" y="977"/>
                </a:cubicBezTo>
                <a:cubicBezTo>
                  <a:pt x="2711" y="979"/>
                  <a:pt x="2723" y="973"/>
                  <a:pt x="2724" y="970"/>
                </a:cubicBezTo>
                <a:cubicBezTo>
                  <a:pt x="2733" y="970"/>
                  <a:pt x="2728" y="969"/>
                  <a:pt x="2736" y="968"/>
                </a:cubicBezTo>
                <a:cubicBezTo>
                  <a:pt x="2743" y="967"/>
                  <a:pt x="2750" y="967"/>
                  <a:pt x="2751" y="964"/>
                </a:cubicBezTo>
                <a:cubicBezTo>
                  <a:pt x="2752" y="963"/>
                  <a:pt x="2755" y="962"/>
                  <a:pt x="2757" y="962"/>
                </a:cubicBezTo>
                <a:cubicBezTo>
                  <a:pt x="2761" y="961"/>
                  <a:pt x="2762" y="950"/>
                  <a:pt x="2759" y="950"/>
                </a:cubicBezTo>
                <a:cubicBezTo>
                  <a:pt x="2762" y="949"/>
                  <a:pt x="2758" y="920"/>
                  <a:pt x="2759" y="916"/>
                </a:cubicBezTo>
                <a:cubicBezTo>
                  <a:pt x="2760" y="914"/>
                  <a:pt x="2754" y="911"/>
                  <a:pt x="2759" y="909"/>
                </a:cubicBezTo>
                <a:cubicBezTo>
                  <a:pt x="2759" y="908"/>
                  <a:pt x="2759" y="908"/>
                  <a:pt x="2759" y="908"/>
                </a:cubicBezTo>
                <a:cubicBezTo>
                  <a:pt x="2754" y="905"/>
                  <a:pt x="2756" y="902"/>
                  <a:pt x="2751" y="899"/>
                </a:cubicBezTo>
                <a:cubicBezTo>
                  <a:pt x="2750" y="899"/>
                  <a:pt x="2748" y="899"/>
                  <a:pt x="2746" y="899"/>
                </a:cubicBezTo>
                <a:cubicBezTo>
                  <a:pt x="2747" y="898"/>
                  <a:pt x="2749" y="898"/>
                  <a:pt x="2749" y="898"/>
                </a:cubicBezTo>
                <a:cubicBezTo>
                  <a:pt x="2742" y="894"/>
                  <a:pt x="2747" y="892"/>
                  <a:pt x="2753" y="889"/>
                </a:cubicBezTo>
                <a:cubicBezTo>
                  <a:pt x="2756" y="887"/>
                  <a:pt x="2741" y="853"/>
                  <a:pt x="2744" y="852"/>
                </a:cubicBezTo>
                <a:cubicBezTo>
                  <a:pt x="2747" y="850"/>
                  <a:pt x="2750" y="838"/>
                  <a:pt x="2758" y="836"/>
                </a:cubicBezTo>
                <a:cubicBezTo>
                  <a:pt x="2752" y="834"/>
                  <a:pt x="2760" y="832"/>
                  <a:pt x="2756" y="830"/>
                </a:cubicBezTo>
                <a:cubicBezTo>
                  <a:pt x="2753" y="828"/>
                  <a:pt x="2748" y="828"/>
                  <a:pt x="2747" y="826"/>
                </a:cubicBezTo>
                <a:cubicBezTo>
                  <a:pt x="2743" y="821"/>
                  <a:pt x="2741" y="817"/>
                  <a:pt x="2749" y="812"/>
                </a:cubicBezTo>
                <a:cubicBezTo>
                  <a:pt x="2751" y="811"/>
                  <a:pt x="2749" y="809"/>
                  <a:pt x="2756" y="809"/>
                </a:cubicBezTo>
                <a:cubicBezTo>
                  <a:pt x="2756" y="808"/>
                  <a:pt x="2760" y="807"/>
                  <a:pt x="2759" y="805"/>
                </a:cubicBezTo>
                <a:cubicBezTo>
                  <a:pt x="2759" y="804"/>
                  <a:pt x="2760" y="798"/>
                  <a:pt x="2759" y="797"/>
                </a:cubicBezTo>
                <a:cubicBezTo>
                  <a:pt x="2758" y="796"/>
                  <a:pt x="2759" y="795"/>
                  <a:pt x="2758" y="795"/>
                </a:cubicBezTo>
                <a:cubicBezTo>
                  <a:pt x="2753" y="794"/>
                  <a:pt x="2757" y="792"/>
                  <a:pt x="2755" y="789"/>
                </a:cubicBezTo>
                <a:cubicBezTo>
                  <a:pt x="2757" y="789"/>
                  <a:pt x="2759" y="779"/>
                  <a:pt x="2755" y="778"/>
                </a:cubicBezTo>
                <a:cubicBezTo>
                  <a:pt x="2752" y="777"/>
                  <a:pt x="2752" y="775"/>
                  <a:pt x="2752" y="774"/>
                </a:cubicBezTo>
                <a:cubicBezTo>
                  <a:pt x="2752" y="771"/>
                  <a:pt x="2750" y="769"/>
                  <a:pt x="2746" y="767"/>
                </a:cubicBezTo>
                <a:cubicBezTo>
                  <a:pt x="2743" y="765"/>
                  <a:pt x="2739" y="764"/>
                  <a:pt x="2737" y="763"/>
                </a:cubicBezTo>
                <a:cubicBezTo>
                  <a:pt x="2740" y="759"/>
                  <a:pt x="2742" y="755"/>
                  <a:pt x="2746" y="752"/>
                </a:cubicBezTo>
                <a:cubicBezTo>
                  <a:pt x="2749" y="751"/>
                  <a:pt x="2749" y="749"/>
                  <a:pt x="2748" y="748"/>
                </a:cubicBezTo>
                <a:cubicBezTo>
                  <a:pt x="2745" y="746"/>
                  <a:pt x="2745" y="744"/>
                  <a:pt x="2748" y="742"/>
                </a:cubicBezTo>
                <a:cubicBezTo>
                  <a:pt x="2750" y="740"/>
                  <a:pt x="2745" y="737"/>
                  <a:pt x="2742" y="736"/>
                </a:cubicBezTo>
                <a:cubicBezTo>
                  <a:pt x="2741" y="734"/>
                  <a:pt x="2745" y="734"/>
                  <a:pt x="2744" y="733"/>
                </a:cubicBezTo>
                <a:cubicBezTo>
                  <a:pt x="2738" y="730"/>
                  <a:pt x="2738" y="730"/>
                  <a:pt x="2741" y="727"/>
                </a:cubicBezTo>
                <a:cubicBezTo>
                  <a:pt x="2746" y="721"/>
                  <a:pt x="2746" y="721"/>
                  <a:pt x="2735" y="716"/>
                </a:cubicBezTo>
                <a:cubicBezTo>
                  <a:pt x="2734" y="716"/>
                  <a:pt x="2735" y="715"/>
                  <a:pt x="2735" y="714"/>
                </a:cubicBezTo>
                <a:cubicBezTo>
                  <a:pt x="2743" y="712"/>
                  <a:pt x="2743" y="709"/>
                  <a:pt x="2750" y="707"/>
                </a:cubicBezTo>
                <a:cubicBezTo>
                  <a:pt x="2750" y="704"/>
                  <a:pt x="2750" y="701"/>
                  <a:pt x="2750" y="698"/>
                </a:cubicBezTo>
                <a:cubicBezTo>
                  <a:pt x="2750" y="698"/>
                  <a:pt x="2750" y="698"/>
                  <a:pt x="2749" y="697"/>
                </a:cubicBezTo>
                <a:cubicBezTo>
                  <a:pt x="2744" y="696"/>
                  <a:pt x="2746" y="694"/>
                  <a:pt x="2747" y="692"/>
                </a:cubicBezTo>
                <a:cubicBezTo>
                  <a:pt x="2749" y="690"/>
                  <a:pt x="2745" y="689"/>
                  <a:pt x="2747" y="687"/>
                </a:cubicBezTo>
                <a:cubicBezTo>
                  <a:pt x="2750" y="683"/>
                  <a:pt x="2749" y="683"/>
                  <a:pt x="2747" y="678"/>
                </a:cubicBezTo>
                <a:cubicBezTo>
                  <a:pt x="2746" y="677"/>
                  <a:pt x="2743" y="676"/>
                  <a:pt x="2743" y="675"/>
                </a:cubicBezTo>
                <a:cubicBezTo>
                  <a:pt x="2743" y="673"/>
                  <a:pt x="2742" y="671"/>
                  <a:pt x="2743" y="669"/>
                </a:cubicBezTo>
                <a:cubicBezTo>
                  <a:pt x="2744" y="667"/>
                  <a:pt x="2739" y="665"/>
                  <a:pt x="2740" y="663"/>
                </a:cubicBezTo>
                <a:cubicBezTo>
                  <a:pt x="2741" y="659"/>
                  <a:pt x="2740" y="638"/>
                  <a:pt x="2738" y="636"/>
                </a:cubicBezTo>
                <a:cubicBezTo>
                  <a:pt x="2737" y="634"/>
                  <a:pt x="2732" y="631"/>
                  <a:pt x="2729" y="629"/>
                </a:cubicBezTo>
                <a:cubicBezTo>
                  <a:pt x="2728" y="628"/>
                  <a:pt x="2731" y="625"/>
                  <a:pt x="2725" y="623"/>
                </a:cubicBezTo>
                <a:cubicBezTo>
                  <a:pt x="2731" y="620"/>
                  <a:pt x="2736" y="610"/>
                  <a:pt x="2730" y="610"/>
                </a:cubicBezTo>
                <a:cubicBezTo>
                  <a:pt x="2730" y="608"/>
                  <a:pt x="2723" y="607"/>
                  <a:pt x="2723" y="606"/>
                </a:cubicBezTo>
                <a:cubicBezTo>
                  <a:pt x="2722" y="603"/>
                  <a:pt x="2724" y="590"/>
                  <a:pt x="2728" y="589"/>
                </a:cubicBezTo>
                <a:cubicBezTo>
                  <a:pt x="2729" y="586"/>
                  <a:pt x="2726" y="584"/>
                  <a:pt x="2720" y="582"/>
                </a:cubicBezTo>
                <a:cubicBezTo>
                  <a:pt x="2718" y="582"/>
                  <a:pt x="2719" y="581"/>
                  <a:pt x="2719" y="581"/>
                </a:cubicBezTo>
                <a:cubicBezTo>
                  <a:pt x="2721" y="579"/>
                  <a:pt x="2725" y="579"/>
                  <a:pt x="2728" y="578"/>
                </a:cubicBezTo>
                <a:cubicBezTo>
                  <a:pt x="2727" y="575"/>
                  <a:pt x="2725" y="572"/>
                  <a:pt x="2718" y="570"/>
                </a:cubicBezTo>
                <a:cubicBezTo>
                  <a:pt x="2719" y="568"/>
                  <a:pt x="2718" y="565"/>
                  <a:pt x="2721" y="562"/>
                </a:cubicBezTo>
                <a:cubicBezTo>
                  <a:pt x="2723" y="559"/>
                  <a:pt x="2727" y="526"/>
                  <a:pt x="2721" y="520"/>
                </a:cubicBezTo>
                <a:cubicBezTo>
                  <a:pt x="2720" y="520"/>
                  <a:pt x="2725" y="494"/>
                  <a:pt x="2733" y="494"/>
                </a:cubicBezTo>
                <a:cubicBezTo>
                  <a:pt x="2738" y="493"/>
                  <a:pt x="2745" y="483"/>
                  <a:pt x="2747" y="482"/>
                </a:cubicBezTo>
                <a:cubicBezTo>
                  <a:pt x="2748" y="481"/>
                  <a:pt x="2750" y="480"/>
                  <a:pt x="2753" y="479"/>
                </a:cubicBezTo>
                <a:cubicBezTo>
                  <a:pt x="2762" y="478"/>
                  <a:pt x="2762" y="460"/>
                  <a:pt x="2759" y="459"/>
                </a:cubicBezTo>
                <a:cubicBezTo>
                  <a:pt x="2760" y="457"/>
                  <a:pt x="2755" y="442"/>
                  <a:pt x="2753" y="439"/>
                </a:cubicBezTo>
                <a:cubicBezTo>
                  <a:pt x="2751" y="437"/>
                  <a:pt x="2747" y="435"/>
                  <a:pt x="2749" y="433"/>
                </a:cubicBezTo>
                <a:cubicBezTo>
                  <a:pt x="2751" y="431"/>
                  <a:pt x="2748" y="429"/>
                  <a:pt x="2749" y="427"/>
                </a:cubicBezTo>
                <a:cubicBezTo>
                  <a:pt x="2750" y="425"/>
                  <a:pt x="2750" y="424"/>
                  <a:pt x="2748" y="422"/>
                </a:cubicBezTo>
                <a:cubicBezTo>
                  <a:pt x="2748" y="422"/>
                  <a:pt x="2749" y="421"/>
                  <a:pt x="2748" y="421"/>
                </a:cubicBezTo>
                <a:cubicBezTo>
                  <a:pt x="2747" y="420"/>
                  <a:pt x="2752" y="418"/>
                  <a:pt x="2750" y="418"/>
                </a:cubicBezTo>
                <a:cubicBezTo>
                  <a:pt x="2745" y="416"/>
                  <a:pt x="2752" y="415"/>
                  <a:pt x="2751" y="414"/>
                </a:cubicBezTo>
                <a:cubicBezTo>
                  <a:pt x="2751" y="413"/>
                  <a:pt x="2749" y="410"/>
                  <a:pt x="2751" y="410"/>
                </a:cubicBezTo>
                <a:cubicBezTo>
                  <a:pt x="2757" y="408"/>
                  <a:pt x="2754" y="397"/>
                  <a:pt x="2748" y="394"/>
                </a:cubicBezTo>
                <a:cubicBezTo>
                  <a:pt x="2750" y="392"/>
                  <a:pt x="2752" y="390"/>
                  <a:pt x="2754" y="389"/>
                </a:cubicBezTo>
                <a:cubicBezTo>
                  <a:pt x="2753" y="388"/>
                  <a:pt x="2752" y="388"/>
                  <a:pt x="2752" y="388"/>
                </a:cubicBezTo>
                <a:cubicBezTo>
                  <a:pt x="2751" y="388"/>
                  <a:pt x="2750" y="387"/>
                  <a:pt x="2749" y="387"/>
                </a:cubicBezTo>
                <a:cubicBezTo>
                  <a:pt x="2747" y="388"/>
                  <a:pt x="2746" y="388"/>
                  <a:pt x="2745" y="388"/>
                </a:cubicBezTo>
                <a:cubicBezTo>
                  <a:pt x="2744" y="388"/>
                  <a:pt x="2741" y="369"/>
                  <a:pt x="2741" y="369"/>
                </a:cubicBezTo>
                <a:cubicBezTo>
                  <a:pt x="2743" y="366"/>
                  <a:pt x="2742" y="365"/>
                  <a:pt x="2747" y="363"/>
                </a:cubicBezTo>
                <a:cubicBezTo>
                  <a:pt x="2745" y="362"/>
                  <a:pt x="2749" y="360"/>
                  <a:pt x="2745" y="359"/>
                </a:cubicBezTo>
                <a:cubicBezTo>
                  <a:pt x="2742" y="357"/>
                  <a:pt x="2743" y="356"/>
                  <a:pt x="2747" y="355"/>
                </a:cubicBezTo>
                <a:cubicBezTo>
                  <a:pt x="2751" y="353"/>
                  <a:pt x="2751" y="352"/>
                  <a:pt x="2746" y="351"/>
                </a:cubicBezTo>
                <a:cubicBezTo>
                  <a:pt x="2749" y="350"/>
                  <a:pt x="2753" y="349"/>
                  <a:pt x="2755" y="348"/>
                </a:cubicBezTo>
                <a:cubicBezTo>
                  <a:pt x="2757" y="345"/>
                  <a:pt x="2756" y="343"/>
                  <a:pt x="2752" y="341"/>
                </a:cubicBezTo>
                <a:cubicBezTo>
                  <a:pt x="2747" y="339"/>
                  <a:pt x="2751" y="337"/>
                  <a:pt x="2746" y="335"/>
                </a:cubicBezTo>
                <a:cubicBezTo>
                  <a:pt x="2750" y="334"/>
                  <a:pt x="2748" y="332"/>
                  <a:pt x="2749" y="330"/>
                </a:cubicBezTo>
                <a:cubicBezTo>
                  <a:pt x="2751" y="329"/>
                  <a:pt x="2750" y="327"/>
                  <a:pt x="2752" y="325"/>
                </a:cubicBezTo>
                <a:cubicBezTo>
                  <a:pt x="2757" y="323"/>
                  <a:pt x="2754" y="321"/>
                  <a:pt x="2755" y="319"/>
                </a:cubicBezTo>
                <a:cubicBezTo>
                  <a:pt x="2756" y="318"/>
                  <a:pt x="2752" y="316"/>
                  <a:pt x="2754" y="314"/>
                </a:cubicBezTo>
                <a:cubicBezTo>
                  <a:pt x="2756" y="312"/>
                  <a:pt x="2755" y="310"/>
                  <a:pt x="2754" y="308"/>
                </a:cubicBezTo>
                <a:cubicBezTo>
                  <a:pt x="2754" y="307"/>
                  <a:pt x="2753" y="307"/>
                  <a:pt x="2753" y="307"/>
                </a:cubicBezTo>
                <a:cubicBezTo>
                  <a:pt x="2750" y="305"/>
                  <a:pt x="2749" y="304"/>
                  <a:pt x="2746" y="303"/>
                </a:cubicBezTo>
                <a:cubicBezTo>
                  <a:pt x="2742" y="301"/>
                  <a:pt x="2750" y="299"/>
                  <a:pt x="2748" y="297"/>
                </a:cubicBezTo>
                <a:cubicBezTo>
                  <a:pt x="2748" y="297"/>
                  <a:pt x="2748" y="297"/>
                  <a:pt x="2748" y="296"/>
                </a:cubicBezTo>
                <a:cubicBezTo>
                  <a:pt x="2749" y="295"/>
                  <a:pt x="2744" y="294"/>
                  <a:pt x="2744" y="292"/>
                </a:cubicBezTo>
                <a:cubicBezTo>
                  <a:pt x="2745" y="291"/>
                  <a:pt x="2749" y="290"/>
                  <a:pt x="2748" y="288"/>
                </a:cubicBezTo>
                <a:cubicBezTo>
                  <a:pt x="2746" y="285"/>
                  <a:pt x="2750" y="283"/>
                  <a:pt x="2752" y="281"/>
                </a:cubicBezTo>
                <a:cubicBezTo>
                  <a:pt x="2754" y="279"/>
                  <a:pt x="2754" y="278"/>
                  <a:pt x="2751" y="277"/>
                </a:cubicBezTo>
                <a:cubicBezTo>
                  <a:pt x="2745" y="274"/>
                  <a:pt x="2748" y="271"/>
                  <a:pt x="2747" y="268"/>
                </a:cubicBezTo>
                <a:cubicBezTo>
                  <a:pt x="2749" y="267"/>
                  <a:pt x="2751" y="266"/>
                  <a:pt x="2753" y="265"/>
                </a:cubicBezTo>
                <a:cubicBezTo>
                  <a:pt x="2753" y="264"/>
                  <a:pt x="2755" y="261"/>
                  <a:pt x="2752" y="260"/>
                </a:cubicBezTo>
                <a:cubicBezTo>
                  <a:pt x="2747" y="257"/>
                  <a:pt x="2746" y="164"/>
                  <a:pt x="2748" y="161"/>
                </a:cubicBezTo>
                <a:cubicBezTo>
                  <a:pt x="2748" y="159"/>
                  <a:pt x="2748" y="158"/>
                  <a:pt x="2748" y="157"/>
                </a:cubicBezTo>
                <a:cubicBezTo>
                  <a:pt x="2747" y="154"/>
                  <a:pt x="2744" y="152"/>
                  <a:pt x="2736" y="152"/>
                </a:cubicBezTo>
                <a:cubicBezTo>
                  <a:pt x="2734" y="152"/>
                  <a:pt x="2740" y="146"/>
                  <a:pt x="2736" y="143"/>
                </a:cubicBezTo>
                <a:cubicBezTo>
                  <a:pt x="2729" y="143"/>
                  <a:pt x="2670" y="136"/>
                  <a:pt x="2672" y="130"/>
                </a:cubicBezTo>
                <a:cubicBezTo>
                  <a:pt x="2665" y="129"/>
                  <a:pt x="2668" y="124"/>
                  <a:pt x="2672" y="123"/>
                </a:cubicBezTo>
                <a:cubicBezTo>
                  <a:pt x="2672" y="121"/>
                  <a:pt x="2673" y="119"/>
                  <a:pt x="2671" y="118"/>
                </a:cubicBezTo>
                <a:cubicBezTo>
                  <a:pt x="2667" y="117"/>
                  <a:pt x="2669" y="115"/>
                  <a:pt x="2668" y="113"/>
                </a:cubicBezTo>
                <a:cubicBezTo>
                  <a:pt x="2668" y="112"/>
                  <a:pt x="2672" y="111"/>
                  <a:pt x="2668" y="110"/>
                </a:cubicBezTo>
                <a:cubicBezTo>
                  <a:pt x="2665" y="109"/>
                  <a:pt x="2671" y="107"/>
                  <a:pt x="2671" y="106"/>
                </a:cubicBezTo>
                <a:cubicBezTo>
                  <a:pt x="2672" y="104"/>
                  <a:pt x="2670" y="103"/>
                  <a:pt x="2665" y="102"/>
                </a:cubicBezTo>
                <a:cubicBezTo>
                  <a:pt x="2665" y="100"/>
                  <a:pt x="2666" y="98"/>
                  <a:pt x="2664" y="98"/>
                </a:cubicBezTo>
                <a:cubicBezTo>
                  <a:pt x="2660" y="96"/>
                  <a:pt x="2665" y="95"/>
                  <a:pt x="2665" y="94"/>
                </a:cubicBezTo>
                <a:cubicBezTo>
                  <a:pt x="2664" y="92"/>
                  <a:pt x="2664" y="90"/>
                  <a:pt x="2665" y="88"/>
                </a:cubicBezTo>
                <a:cubicBezTo>
                  <a:pt x="2665" y="86"/>
                  <a:pt x="2662" y="85"/>
                  <a:pt x="2664" y="83"/>
                </a:cubicBezTo>
                <a:cubicBezTo>
                  <a:pt x="2665" y="81"/>
                  <a:pt x="2660" y="79"/>
                  <a:pt x="2661" y="77"/>
                </a:cubicBezTo>
                <a:cubicBezTo>
                  <a:pt x="2661" y="77"/>
                  <a:pt x="2660" y="76"/>
                  <a:pt x="2659" y="76"/>
                </a:cubicBezTo>
                <a:cubicBezTo>
                  <a:pt x="2653" y="74"/>
                  <a:pt x="2654" y="72"/>
                  <a:pt x="2657" y="70"/>
                </a:cubicBezTo>
                <a:cubicBezTo>
                  <a:pt x="2659" y="67"/>
                  <a:pt x="2659" y="65"/>
                  <a:pt x="2654" y="62"/>
                </a:cubicBezTo>
                <a:cubicBezTo>
                  <a:pt x="2661" y="58"/>
                  <a:pt x="2661" y="58"/>
                  <a:pt x="2659" y="51"/>
                </a:cubicBezTo>
                <a:cubicBezTo>
                  <a:pt x="2652" y="50"/>
                  <a:pt x="2656" y="46"/>
                  <a:pt x="2648" y="45"/>
                </a:cubicBezTo>
                <a:cubicBezTo>
                  <a:pt x="2645" y="40"/>
                  <a:pt x="2653" y="34"/>
                  <a:pt x="2650" y="29"/>
                </a:cubicBezTo>
                <a:cubicBezTo>
                  <a:pt x="2650" y="27"/>
                  <a:pt x="2651" y="25"/>
                  <a:pt x="2648" y="24"/>
                </a:cubicBezTo>
                <a:cubicBezTo>
                  <a:pt x="2654" y="21"/>
                  <a:pt x="2646" y="20"/>
                  <a:pt x="2645" y="18"/>
                </a:cubicBezTo>
                <a:cubicBezTo>
                  <a:pt x="2643" y="16"/>
                  <a:pt x="2641" y="14"/>
                  <a:pt x="2632" y="13"/>
                </a:cubicBezTo>
                <a:cubicBezTo>
                  <a:pt x="2623" y="15"/>
                  <a:pt x="2620" y="20"/>
                  <a:pt x="2607" y="21"/>
                </a:cubicBezTo>
                <a:cubicBezTo>
                  <a:pt x="2605" y="22"/>
                  <a:pt x="2604" y="24"/>
                  <a:pt x="2602" y="25"/>
                </a:cubicBezTo>
                <a:cubicBezTo>
                  <a:pt x="2599" y="25"/>
                  <a:pt x="2596" y="25"/>
                  <a:pt x="2593" y="26"/>
                </a:cubicBezTo>
                <a:cubicBezTo>
                  <a:pt x="2598" y="27"/>
                  <a:pt x="2600" y="30"/>
                  <a:pt x="2597" y="31"/>
                </a:cubicBezTo>
                <a:cubicBezTo>
                  <a:pt x="2593" y="33"/>
                  <a:pt x="2596" y="35"/>
                  <a:pt x="2593" y="37"/>
                </a:cubicBezTo>
                <a:cubicBezTo>
                  <a:pt x="2592" y="38"/>
                  <a:pt x="2588" y="39"/>
                  <a:pt x="2585" y="40"/>
                </a:cubicBezTo>
                <a:cubicBezTo>
                  <a:pt x="2585" y="42"/>
                  <a:pt x="2588" y="44"/>
                  <a:pt x="2580" y="46"/>
                </a:cubicBezTo>
                <a:cubicBezTo>
                  <a:pt x="2577" y="46"/>
                  <a:pt x="2576" y="45"/>
                  <a:pt x="2572" y="45"/>
                </a:cubicBezTo>
                <a:cubicBezTo>
                  <a:pt x="2570" y="47"/>
                  <a:pt x="2560" y="49"/>
                  <a:pt x="2560" y="49"/>
                </a:cubicBezTo>
                <a:cubicBezTo>
                  <a:pt x="2563" y="52"/>
                  <a:pt x="2493" y="57"/>
                  <a:pt x="2495" y="53"/>
                </a:cubicBezTo>
                <a:cubicBezTo>
                  <a:pt x="2490" y="51"/>
                  <a:pt x="2486" y="50"/>
                  <a:pt x="2481" y="48"/>
                </a:cubicBezTo>
                <a:cubicBezTo>
                  <a:pt x="2476" y="49"/>
                  <a:pt x="2471" y="49"/>
                  <a:pt x="2466" y="49"/>
                </a:cubicBezTo>
                <a:cubicBezTo>
                  <a:pt x="2461" y="51"/>
                  <a:pt x="2457" y="49"/>
                  <a:pt x="2453" y="49"/>
                </a:cubicBezTo>
                <a:cubicBezTo>
                  <a:pt x="2438" y="50"/>
                  <a:pt x="2424" y="49"/>
                  <a:pt x="2410" y="48"/>
                </a:cubicBezTo>
                <a:cubicBezTo>
                  <a:pt x="2404" y="48"/>
                  <a:pt x="2397" y="48"/>
                  <a:pt x="2391" y="48"/>
                </a:cubicBezTo>
                <a:cubicBezTo>
                  <a:pt x="2384" y="48"/>
                  <a:pt x="2377" y="48"/>
                  <a:pt x="2371" y="46"/>
                </a:cubicBezTo>
                <a:cubicBezTo>
                  <a:pt x="2370" y="46"/>
                  <a:pt x="2365" y="46"/>
                  <a:pt x="2361" y="47"/>
                </a:cubicBezTo>
                <a:cubicBezTo>
                  <a:pt x="2349" y="49"/>
                  <a:pt x="2332" y="49"/>
                  <a:pt x="2321" y="47"/>
                </a:cubicBezTo>
                <a:cubicBezTo>
                  <a:pt x="2319" y="46"/>
                  <a:pt x="2318" y="43"/>
                  <a:pt x="2314" y="43"/>
                </a:cubicBezTo>
                <a:cubicBezTo>
                  <a:pt x="2306" y="43"/>
                  <a:pt x="2302" y="41"/>
                  <a:pt x="2295" y="41"/>
                </a:cubicBezTo>
                <a:cubicBezTo>
                  <a:pt x="2283" y="40"/>
                  <a:pt x="2274" y="37"/>
                  <a:pt x="2263" y="35"/>
                </a:cubicBezTo>
                <a:cubicBezTo>
                  <a:pt x="2263" y="33"/>
                  <a:pt x="2263" y="31"/>
                  <a:pt x="2263" y="29"/>
                </a:cubicBezTo>
                <a:cubicBezTo>
                  <a:pt x="2261" y="28"/>
                  <a:pt x="2260" y="28"/>
                  <a:pt x="2258" y="27"/>
                </a:cubicBezTo>
                <a:cubicBezTo>
                  <a:pt x="2252" y="25"/>
                  <a:pt x="2245" y="23"/>
                  <a:pt x="2235" y="24"/>
                </a:cubicBezTo>
                <a:cubicBezTo>
                  <a:pt x="2225" y="22"/>
                  <a:pt x="2212" y="25"/>
                  <a:pt x="2202" y="22"/>
                </a:cubicBezTo>
                <a:cubicBezTo>
                  <a:pt x="2187" y="18"/>
                  <a:pt x="2187" y="18"/>
                  <a:pt x="2176" y="18"/>
                </a:cubicBezTo>
                <a:cubicBezTo>
                  <a:pt x="2171" y="17"/>
                  <a:pt x="2167" y="16"/>
                  <a:pt x="2163" y="15"/>
                </a:cubicBezTo>
                <a:cubicBezTo>
                  <a:pt x="2163" y="12"/>
                  <a:pt x="2163" y="10"/>
                  <a:pt x="2163" y="8"/>
                </a:cubicBezTo>
                <a:cubicBezTo>
                  <a:pt x="2156" y="7"/>
                  <a:pt x="2150" y="6"/>
                  <a:pt x="2143" y="5"/>
                </a:cubicBezTo>
                <a:cubicBezTo>
                  <a:pt x="2139" y="5"/>
                  <a:pt x="2135" y="5"/>
                  <a:pt x="2131" y="4"/>
                </a:cubicBezTo>
                <a:cubicBezTo>
                  <a:pt x="2127" y="3"/>
                  <a:pt x="2122" y="2"/>
                  <a:pt x="2115" y="4"/>
                </a:cubicBezTo>
                <a:cubicBezTo>
                  <a:pt x="2110" y="5"/>
                  <a:pt x="2101" y="5"/>
                  <a:pt x="2096" y="4"/>
                </a:cubicBezTo>
                <a:cubicBezTo>
                  <a:pt x="2089" y="3"/>
                  <a:pt x="2082" y="5"/>
                  <a:pt x="2077" y="4"/>
                </a:cubicBezTo>
                <a:cubicBezTo>
                  <a:pt x="2070" y="2"/>
                  <a:pt x="2064" y="3"/>
                  <a:pt x="2058" y="4"/>
                </a:cubicBezTo>
                <a:cubicBezTo>
                  <a:pt x="2046" y="4"/>
                  <a:pt x="2037" y="2"/>
                  <a:pt x="2026" y="2"/>
                </a:cubicBezTo>
                <a:cubicBezTo>
                  <a:pt x="2024" y="2"/>
                  <a:pt x="2023" y="2"/>
                  <a:pt x="2022" y="2"/>
                </a:cubicBezTo>
                <a:cubicBezTo>
                  <a:pt x="2010" y="0"/>
                  <a:pt x="1990" y="0"/>
                  <a:pt x="1980" y="3"/>
                </a:cubicBezTo>
                <a:cubicBezTo>
                  <a:pt x="1975" y="4"/>
                  <a:pt x="1971" y="4"/>
                  <a:pt x="1966" y="3"/>
                </a:cubicBezTo>
                <a:cubicBezTo>
                  <a:pt x="1958" y="3"/>
                  <a:pt x="1950" y="2"/>
                  <a:pt x="1941" y="2"/>
                </a:cubicBezTo>
                <a:cubicBezTo>
                  <a:pt x="1937" y="3"/>
                  <a:pt x="1933" y="3"/>
                  <a:pt x="1929" y="3"/>
                </a:cubicBezTo>
                <a:cubicBezTo>
                  <a:pt x="1924" y="3"/>
                  <a:pt x="1921" y="4"/>
                  <a:pt x="1916" y="4"/>
                </a:cubicBezTo>
                <a:cubicBezTo>
                  <a:pt x="1910" y="4"/>
                  <a:pt x="1903" y="5"/>
                  <a:pt x="1897" y="4"/>
                </a:cubicBezTo>
                <a:cubicBezTo>
                  <a:pt x="1891" y="6"/>
                  <a:pt x="1884" y="5"/>
                  <a:pt x="1877" y="5"/>
                </a:cubicBezTo>
                <a:cubicBezTo>
                  <a:pt x="1873" y="6"/>
                  <a:pt x="1870" y="5"/>
                  <a:pt x="1867" y="5"/>
                </a:cubicBezTo>
                <a:cubicBezTo>
                  <a:pt x="1863" y="5"/>
                  <a:pt x="1861" y="6"/>
                  <a:pt x="1856" y="6"/>
                </a:cubicBezTo>
                <a:cubicBezTo>
                  <a:pt x="1852" y="6"/>
                  <a:pt x="1848" y="6"/>
                  <a:pt x="1844" y="6"/>
                </a:cubicBezTo>
                <a:cubicBezTo>
                  <a:pt x="1839" y="6"/>
                  <a:pt x="1835" y="6"/>
                  <a:pt x="1831" y="7"/>
                </a:cubicBezTo>
                <a:cubicBezTo>
                  <a:pt x="1827" y="7"/>
                  <a:pt x="1823" y="6"/>
                  <a:pt x="1821" y="6"/>
                </a:cubicBezTo>
                <a:cubicBezTo>
                  <a:pt x="1816" y="7"/>
                  <a:pt x="1813" y="7"/>
                  <a:pt x="1809" y="7"/>
                </a:cubicBezTo>
                <a:cubicBezTo>
                  <a:pt x="1807" y="7"/>
                  <a:pt x="1805" y="7"/>
                  <a:pt x="1803" y="7"/>
                </a:cubicBezTo>
                <a:cubicBezTo>
                  <a:pt x="1787" y="6"/>
                  <a:pt x="1777" y="7"/>
                  <a:pt x="1763" y="8"/>
                </a:cubicBezTo>
                <a:cubicBezTo>
                  <a:pt x="1754" y="9"/>
                  <a:pt x="1745" y="10"/>
                  <a:pt x="1737" y="9"/>
                </a:cubicBezTo>
                <a:cubicBezTo>
                  <a:pt x="1730" y="8"/>
                  <a:pt x="1723" y="8"/>
                  <a:pt x="1715" y="8"/>
                </a:cubicBezTo>
                <a:cubicBezTo>
                  <a:pt x="1709" y="8"/>
                  <a:pt x="1700" y="7"/>
                  <a:pt x="1693" y="9"/>
                </a:cubicBezTo>
                <a:cubicBezTo>
                  <a:pt x="1693" y="10"/>
                  <a:pt x="1690" y="10"/>
                  <a:pt x="1689" y="10"/>
                </a:cubicBezTo>
                <a:cubicBezTo>
                  <a:pt x="1680" y="8"/>
                  <a:pt x="1670" y="9"/>
                  <a:pt x="1661" y="9"/>
                </a:cubicBezTo>
                <a:cubicBezTo>
                  <a:pt x="1652" y="9"/>
                  <a:pt x="1643" y="10"/>
                  <a:pt x="1635" y="9"/>
                </a:cubicBezTo>
                <a:cubicBezTo>
                  <a:pt x="1633" y="9"/>
                  <a:pt x="1630" y="9"/>
                  <a:pt x="1628" y="9"/>
                </a:cubicBezTo>
                <a:cubicBezTo>
                  <a:pt x="1618" y="12"/>
                  <a:pt x="1609" y="11"/>
                  <a:pt x="1601" y="9"/>
                </a:cubicBezTo>
                <a:cubicBezTo>
                  <a:pt x="1592" y="11"/>
                  <a:pt x="1583" y="11"/>
                  <a:pt x="1575" y="10"/>
                </a:cubicBezTo>
                <a:cubicBezTo>
                  <a:pt x="1569" y="10"/>
                  <a:pt x="1563" y="11"/>
                  <a:pt x="1558" y="10"/>
                </a:cubicBezTo>
                <a:cubicBezTo>
                  <a:pt x="1551" y="9"/>
                  <a:pt x="1545" y="9"/>
                  <a:pt x="1539" y="10"/>
                </a:cubicBezTo>
                <a:cubicBezTo>
                  <a:pt x="1528" y="10"/>
                  <a:pt x="1517" y="10"/>
                  <a:pt x="1506" y="10"/>
                </a:cubicBezTo>
                <a:cubicBezTo>
                  <a:pt x="1498" y="11"/>
                  <a:pt x="1490" y="11"/>
                  <a:pt x="1483" y="9"/>
                </a:cubicBezTo>
                <a:cubicBezTo>
                  <a:pt x="1480" y="9"/>
                  <a:pt x="1477" y="9"/>
                  <a:pt x="1474" y="9"/>
                </a:cubicBezTo>
                <a:cubicBezTo>
                  <a:pt x="1464" y="9"/>
                  <a:pt x="1455" y="11"/>
                  <a:pt x="1446" y="11"/>
                </a:cubicBezTo>
                <a:cubicBezTo>
                  <a:pt x="1433" y="12"/>
                  <a:pt x="1421" y="11"/>
                  <a:pt x="1408" y="11"/>
                </a:cubicBezTo>
                <a:cubicBezTo>
                  <a:pt x="1402" y="11"/>
                  <a:pt x="1396" y="12"/>
                  <a:pt x="1390" y="11"/>
                </a:cubicBezTo>
                <a:cubicBezTo>
                  <a:pt x="1388" y="10"/>
                  <a:pt x="1382" y="10"/>
                  <a:pt x="1377" y="11"/>
                </a:cubicBezTo>
                <a:cubicBezTo>
                  <a:pt x="1373" y="12"/>
                  <a:pt x="1369" y="12"/>
                  <a:pt x="1365" y="12"/>
                </a:cubicBezTo>
                <a:cubicBezTo>
                  <a:pt x="1360" y="11"/>
                  <a:pt x="1355" y="11"/>
                  <a:pt x="1352" y="12"/>
                </a:cubicBezTo>
                <a:cubicBezTo>
                  <a:pt x="1346" y="15"/>
                  <a:pt x="1339" y="14"/>
                  <a:pt x="1333" y="13"/>
                </a:cubicBezTo>
                <a:cubicBezTo>
                  <a:pt x="1328" y="12"/>
                  <a:pt x="1322" y="12"/>
                  <a:pt x="1318" y="13"/>
                </a:cubicBezTo>
                <a:cubicBezTo>
                  <a:pt x="1306" y="15"/>
                  <a:pt x="1295" y="13"/>
                  <a:pt x="1285" y="13"/>
                </a:cubicBezTo>
                <a:cubicBezTo>
                  <a:pt x="1276" y="13"/>
                  <a:pt x="1269" y="12"/>
                  <a:pt x="1260" y="13"/>
                </a:cubicBezTo>
                <a:cubicBezTo>
                  <a:pt x="1254" y="14"/>
                  <a:pt x="1247" y="14"/>
                  <a:pt x="1241" y="13"/>
                </a:cubicBezTo>
                <a:cubicBezTo>
                  <a:pt x="1236" y="13"/>
                  <a:pt x="1231" y="12"/>
                  <a:pt x="1225" y="13"/>
                </a:cubicBezTo>
                <a:cubicBezTo>
                  <a:pt x="1220" y="14"/>
                  <a:pt x="1214" y="12"/>
                  <a:pt x="1207" y="12"/>
                </a:cubicBezTo>
                <a:cubicBezTo>
                  <a:pt x="1192" y="13"/>
                  <a:pt x="1176" y="14"/>
                  <a:pt x="1160" y="13"/>
                </a:cubicBezTo>
                <a:cubicBezTo>
                  <a:pt x="1154" y="13"/>
                  <a:pt x="1146" y="12"/>
                  <a:pt x="1140" y="14"/>
                </a:cubicBezTo>
                <a:cubicBezTo>
                  <a:pt x="1132" y="13"/>
                  <a:pt x="1125" y="14"/>
                  <a:pt x="1120" y="15"/>
                </a:cubicBezTo>
                <a:cubicBezTo>
                  <a:pt x="1110" y="17"/>
                  <a:pt x="1102" y="17"/>
                  <a:pt x="1094" y="15"/>
                </a:cubicBezTo>
                <a:cubicBezTo>
                  <a:pt x="1084" y="14"/>
                  <a:pt x="1072" y="14"/>
                  <a:pt x="1061" y="12"/>
                </a:cubicBezTo>
                <a:cubicBezTo>
                  <a:pt x="1059" y="12"/>
                  <a:pt x="1056" y="13"/>
                  <a:pt x="1053" y="13"/>
                </a:cubicBezTo>
                <a:cubicBezTo>
                  <a:pt x="1045" y="14"/>
                  <a:pt x="1037" y="15"/>
                  <a:pt x="1029" y="13"/>
                </a:cubicBezTo>
                <a:cubicBezTo>
                  <a:pt x="1026" y="16"/>
                  <a:pt x="1019" y="17"/>
                  <a:pt x="1009" y="17"/>
                </a:cubicBezTo>
                <a:cubicBezTo>
                  <a:pt x="1008" y="16"/>
                  <a:pt x="1006" y="16"/>
                  <a:pt x="1004" y="15"/>
                </a:cubicBezTo>
                <a:cubicBezTo>
                  <a:pt x="991" y="14"/>
                  <a:pt x="979" y="19"/>
                  <a:pt x="967" y="16"/>
                </a:cubicBezTo>
                <a:cubicBezTo>
                  <a:pt x="954" y="17"/>
                  <a:pt x="942" y="19"/>
                  <a:pt x="930" y="19"/>
                </a:cubicBezTo>
                <a:cubicBezTo>
                  <a:pt x="927" y="20"/>
                  <a:pt x="925" y="22"/>
                  <a:pt x="921" y="22"/>
                </a:cubicBezTo>
                <a:cubicBezTo>
                  <a:pt x="916" y="20"/>
                  <a:pt x="911" y="18"/>
                  <a:pt x="905" y="18"/>
                </a:cubicBezTo>
                <a:cubicBezTo>
                  <a:pt x="899" y="19"/>
                  <a:pt x="895" y="21"/>
                  <a:pt x="888" y="20"/>
                </a:cubicBezTo>
                <a:cubicBezTo>
                  <a:pt x="878" y="20"/>
                  <a:pt x="870" y="22"/>
                  <a:pt x="861" y="23"/>
                </a:cubicBezTo>
                <a:cubicBezTo>
                  <a:pt x="856" y="24"/>
                  <a:pt x="852" y="25"/>
                  <a:pt x="846" y="24"/>
                </a:cubicBezTo>
                <a:cubicBezTo>
                  <a:pt x="838" y="23"/>
                  <a:pt x="830" y="23"/>
                  <a:pt x="821" y="24"/>
                </a:cubicBezTo>
                <a:cubicBezTo>
                  <a:pt x="813" y="25"/>
                  <a:pt x="802" y="27"/>
                  <a:pt x="793" y="24"/>
                </a:cubicBezTo>
                <a:cubicBezTo>
                  <a:pt x="791" y="24"/>
                  <a:pt x="789" y="24"/>
                  <a:pt x="786" y="24"/>
                </a:cubicBezTo>
                <a:cubicBezTo>
                  <a:pt x="772" y="24"/>
                  <a:pt x="759" y="26"/>
                  <a:pt x="745" y="26"/>
                </a:cubicBezTo>
                <a:cubicBezTo>
                  <a:pt x="742" y="26"/>
                  <a:pt x="741" y="27"/>
                  <a:pt x="739" y="28"/>
                </a:cubicBezTo>
                <a:cubicBezTo>
                  <a:pt x="734" y="28"/>
                  <a:pt x="730" y="29"/>
                  <a:pt x="725" y="29"/>
                </a:cubicBezTo>
                <a:cubicBezTo>
                  <a:pt x="714" y="29"/>
                  <a:pt x="704" y="28"/>
                  <a:pt x="693" y="29"/>
                </a:cubicBezTo>
                <a:cubicBezTo>
                  <a:pt x="683" y="30"/>
                  <a:pt x="672" y="30"/>
                  <a:pt x="662" y="28"/>
                </a:cubicBezTo>
                <a:cubicBezTo>
                  <a:pt x="660" y="28"/>
                  <a:pt x="656" y="28"/>
                  <a:pt x="654" y="28"/>
                </a:cubicBezTo>
                <a:cubicBezTo>
                  <a:pt x="648" y="29"/>
                  <a:pt x="642" y="29"/>
                  <a:pt x="636" y="29"/>
                </a:cubicBezTo>
                <a:cubicBezTo>
                  <a:pt x="634" y="28"/>
                  <a:pt x="630" y="28"/>
                  <a:pt x="628" y="29"/>
                </a:cubicBezTo>
                <a:cubicBezTo>
                  <a:pt x="623" y="30"/>
                  <a:pt x="616" y="30"/>
                  <a:pt x="611" y="30"/>
                </a:cubicBezTo>
                <a:cubicBezTo>
                  <a:pt x="602" y="31"/>
                  <a:pt x="594" y="30"/>
                  <a:pt x="585" y="30"/>
                </a:cubicBezTo>
                <a:cubicBezTo>
                  <a:pt x="577" y="30"/>
                  <a:pt x="568" y="30"/>
                  <a:pt x="559" y="31"/>
                </a:cubicBezTo>
                <a:cubicBezTo>
                  <a:pt x="558" y="31"/>
                  <a:pt x="558" y="31"/>
                  <a:pt x="557" y="31"/>
                </a:cubicBezTo>
                <a:cubicBezTo>
                  <a:pt x="552" y="29"/>
                  <a:pt x="546" y="31"/>
                  <a:pt x="542" y="31"/>
                </a:cubicBezTo>
                <a:cubicBezTo>
                  <a:pt x="537" y="32"/>
                  <a:pt x="532" y="32"/>
                  <a:pt x="527" y="33"/>
                </a:cubicBezTo>
                <a:cubicBezTo>
                  <a:pt x="513" y="33"/>
                  <a:pt x="500" y="32"/>
                  <a:pt x="486" y="33"/>
                </a:cubicBezTo>
                <a:cubicBezTo>
                  <a:pt x="474" y="31"/>
                  <a:pt x="461" y="33"/>
                  <a:pt x="450" y="33"/>
                </a:cubicBezTo>
                <a:cubicBezTo>
                  <a:pt x="447" y="34"/>
                  <a:pt x="445" y="35"/>
                  <a:pt x="442" y="35"/>
                </a:cubicBezTo>
                <a:cubicBezTo>
                  <a:pt x="439" y="35"/>
                  <a:pt x="436" y="34"/>
                  <a:pt x="432" y="34"/>
                </a:cubicBezTo>
                <a:cubicBezTo>
                  <a:pt x="424" y="34"/>
                  <a:pt x="417" y="36"/>
                  <a:pt x="409" y="36"/>
                </a:cubicBezTo>
                <a:cubicBezTo>
                  <a:pt x="402" y="36"/>
                  <a:pt x="396" y="36"/>
                  <a:pt x="390" y="36"/>
                </a:cubicBezTo>
                <a:cubicBezTo>
                  <a:pt x="383" y="37"/>
                  <a:pt x="376" y="37"/>
                  <a:pt x="370" y="37"/>
                </a:cubicBezTo>
                <a:cubicBezTo>
                  <a:pt x="364" y="36"/>
                  <a:pt x="359" y="40"/>
                  <a:pt x="353" y="37"/>
                </a:cubicBezTo>
                <a:cubicBezTo>
                  <a:pt x="341" y="40"/>
                  <a:pt x="326" y="38"/>
                  <a:pt x="312" y="40"/>
                </a:cubicBezTo>
                <a:cubicBezTo>
                  <a:pt x="305" y="42"/>
                  <a:pt x="296" y="41"/>
                  <a:pt x="288" y="41"/>
                </a:cubicBezTo>
                <a:cubicBezTo>
                  <a:pt x="279" y="41"/>
                  <a:pt x="272" y="43"/>
                  <a:pt x="264" y="43"/>
                </a:cubicBezTo>
                <a:cubicBezTo>
                  <a:pt x="256" y="44"/>
                  <a:pt x="248" y="45"/>
                  <a:pt x="239" y="45"/>
                </a:cubicBezTo>
                <a:cubicBezTo>
                  <a:pt x="224" y="47"/>
                  <a:pt x="208" y="47"/>
                  <a:pt x="193" y="47"/>
                </a:cubicBezTo>
                <a:cubicBezTo>
                  <a:pt x="186" y="46"/>
                  <a:pt x="180" y="46"/>
                  <a:pt x="174" y="47"/>
                </a:cubicBezTo>
                <a:cubicBezTo>
                  <a:pt x="144" y="52"/>
                  <a:pt x="144" y="52"/>
                  <a:pt x="113" y="52"/>
                </a:cubicBezTo>
                <a:cubicBezTo>
                  <a:pt x="97" y="53"/>
                  <a:pt x="83" y="54"/>
                  <a:pt x="69" y="56"/>
                </a:cubicBezTo>
                <a:cubicBezTo>
                  <a:pt x="61" y="57"/>
                  <a:pt x="54" y="57"/>
                  <a:pt x="46" y="58"/>
                </a:cubicBezTo>
                <a:cubicBezTo>
                  <a:pt x="44" y="58"/>
                  <a:pt x="43" y="56"/>
                  <a:pt x="40" y="57"/>
                </a:cubicBezTo>
                <a:cubicBezTo>
                  <a:pt x="27" y="59"/>
                  <a:pt x="14" y="58"/>
                  <a:pt x="1" y="59"/>
                </a:cubicBezTo>
                <a:cubicBezTo>
                  <a:pt x="0" y="59"/>
                  <a:pt x="0" y="59"/>
                  <a:pt x="0" y="59"/>
                </a:cubicBezTo>
                <a:cubicBezTo>
                  <a:pt x="0" y="229"/>
                  <a:pt x="0" y="229"/>
                  <a:pt x="0" y="229"/>
                </a:cubicBezTo>
                <a:cubicBezTo>
                  <a:pt x="67" y="166"/>
                  <a:pt x="156" y="125"/>
                  <a:pt x="262" y="115"/>
                </a:cubicBezTo>
                <a:cubicBezTo>
                  <a:pt x="111" y="239"/>
                  <a:pt x="91" y="496"/>
                  <a:pt x="91" y="575"/>
                </a:cubicBezTo>
                <a:cubicBezTo>
                  <a:pt x="91" y="654"/>
                  <a:pt x="111" y="910"/>
                  <a:pt x="262" y="1035"/>
                </a:cubicBezTo>
                <a:cubicBezTo>
                  <a:pt x="156" y="1024"/>
                  <a:pt x="67" y="984"/>
                  <a:pt x="0" y="921"/>
                </a:cubicBezTo>
                <a:cubicBezTo>
                  <a:pt x="0" y="1124"/>
                  <a:pt x="0" y="1124"/>
                  <a:pt x="0" y="1124"/>
                </a:cubicBezTo>
                <a:cubicBezTo>
                  <a:pt x="8" y="1124"/>
                  <a:pt x="16" y="1123"/>
                  <a:pt x="23" y="1124"/>
                </a:cubicBezTo>
                <a:close/>
                <a:moveTo>
                  <a:pt x="2703" y="601"/>
                </a:moveTo>
                <a:cubicBezTo>
                  <a:pt x="2703" y="601"/>
                  <a:pt x="2703" y="602"/>
                  <a:pt x="2703" y="603"/>
                </a:cubicBezTo>
                <a:cubicBezTo>
                  <a:pt x="2700" y="603"/>
                  <a:pt x="2697" y="603"/>
                  <a:pt x="2695" y="603"/>
                </a:cubicBezTo>
                <a:cubicBezTo>
                  <a:pt x="2694" y="602"/>
                  <a:pt x="2694" y="602"/>
                  <a:pt x="2694" y="601"/>
                </a:cubicBezTo>
                <a:cubicBezTo>
                  <a:pt x="2698" y="601"/>
                  <a:pt x="2700" y="601"/>
                  <a:pt x="2703" y="601"/>
                </a:cubicBezTo>
                <a:close/>
                <a:moveTo>
                  <a:pt x="2652" y="1008"/>
                </a:moveTo>
                <a:cubicBezTo>
                  <a:pt x="2645" y="1007"/>
                  <a:pt x="2641" y="1007"/>
                  <a:pt x="2642" y="1006"/>
                </a:cubicBezTo>
                <a:cubicBezTo>
                  <a:pt x="2646" y="1006"/>
                  <a:pt x="2647" y="1007"/>
                  <a:pt x="2652" y="1008"/>
                </a:cubicBezTo>
                <a:close/>
                <a:moveTo>
                  <a:pt x="1287" y="655"/>
                </a:moveTo>
                <a:cubicBezTo>
                  <a:pt x="1110" y="655"/>
                  <a:pt x="1110" y="655"/>
                  <a:pt x="1110" y="655"/>
                </a:cubicBezTo>
                <a:lnTo>
                  <a:pt x="1287" y="655"/>
                </a:lnTo>
                <a:close/>
                <a:moveTo>
                  <a:pt x="477" y="115"/>
                </a:moveTo>
                <a:cubicBezTo>
                  <a:pt x="718" y="139"/>
                  <a:pt x="875" y="320"/>
                  <a:pt x="875" y="575"/>
                </a:cubicBezTo>
                <a:cubicBezTo>
                  <a:pt x="875" y="830"/>
                  <a:pt x="718" y="1011"/>
                  <a:pt x="477" y="1035"/>
                </a:cubicBezTo>
                <a:cubicBezTo>
                  <a:pt x="627" y="911"/>
                  <a:pt x="647" y="653"/>
                  <a:pt x="647" y="575"/>
                </a:cubicBezTo>
                <a:cubicBezTo>
                  <a:pt x="647" y="496"/>
                  <a:pt x="627" y="239"/>
                  <a:pt x="477" y="115"/>
                </a:cubicBezTo>
                <a:close/>
              </a:path>
            </a:pathLst>
          </a:custGeom>
          <a:solidFill>
            <a:srgbClr val="CFC6C0"/>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78" name="Rectangle 77"/>
          <p:cNvSpPr/>
          <p:nvPr userDrawn="1"/>
        </p:nvSpPr>
        <p:spPr>
          <a:xfrm>
            <a:off x="0" y="2219093"/>
            <a:ext cx="4222595" cy="3200400"/>
          </a:xfrm>
          <a:prstGeom prst="rect">
            <a:avLst/>
          </a:prstGeom>
          <a:solidFill>
            <a:srgbClr val="CFC6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274" name="Freeform 10"/>
          <p:cNvSpPr>
            <a:spLocks/>
          </p:cNvSpPr>
          <p:nvPr userDrawn="1"/>
        </p:nvSpPr>
        <p:spPr bwMode="auto">
          <a:xfrm>
            <a:off x="2015067" y="2309813"/>
            <a:ext cx="1686984" cy="2925763"/>
          </a:xfrm>
          <a:custGeom>
            <a:avLst/>
            <a:gdLst/>
            <a:ahLst/>
            <a:cxnLst>
              <a:cxn ang="0">
                <a:pos x="0" y="920"/>
              </a:cxn>
              <a:cxn ang="0">
                <a:pos x="398" y="460"/>
              </a:cxn>
              <a:cxn ang="0">
                <a:pos x="0" y="0"/>
              </a:cxn>
              <a:cxn ang="0">
                <a:pos x="170" y="460"/>
              </a:cxn>
              <a:cxn ang="0">
                <a:pos x="0" y="920"/>
              </a:cxn>
            </a:cxnLst>
            <a:rect l="0" t="0" r="r" b="b"/>
            <a:pathLst>
              <a:path w="398" h="920">
                <a:moveTo>
                  <a:pt x="0" y="920"/>
                </a:moveTo>
                <a:cubicBezTo>
                  <a:pt x="241" y="896"/>
                  <a:pt x="398" y="715"/>
                  <a:pt x="398" y="460"/>
                </a:cubicBezTo>
                <a:cubicBezTo>
                  <a:pt x="398" y="205"/>
                  <a:pt x="241" y="24"/>
                  <a:pt x="0" y="0"/>
                </a:cubicBezTo>
                <a:cubicBezTo>
                  <a:pt x="150" y="124"/>
                  <a:pt x="170" y="381"/>
                  <a:pt x="170" y="460"/>
                </a:cubicBezTo>
                <a:cubicBezTo>
                  <a:pt x="170" y="538"/>
                  <a:pt x="150" y="796"/>
                  <a:pt x="0" y="920"/>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75" name="Freeform 11"/>
          <p:cNvSpPr>
            <a:spLocks/>
          </p:cNvSpPr>
          <p:nvPr userDrawn="1"/>
        </p:nvSpPr>
        <p:spPr bwMode="auto">
          <a:xfrm>
            <a:off x="-6351" y="2309813"/>
            <a:ext cx="1111251" cy="2925763"/>
          </a:xfrm>
          <a:custGeom>
            <a:avLst/>
            <a:gdLst/>
            <a:ahLst/>
            <a:cxnLst>
              <a:cxn ang="0">
                <a:pos x="91" y="460"/>
              </a:cxn>
              <a:cxn ang="0">
                <a:pos x="262" y="0"/>
              </a:cxn>
              <a:cxn ang="0">
                <a:pos x="0" y="114"/>
              </a:cxn>
              <a:cxn ang="0">
                <a:pos x="0" y="806"/>
              </a:cxn>
              <a:cxn ang="0">
                <a:pos x="262" y="920"/>
              </a:cxn>
              <a:cxn ang="0">
                <a:pos x="91" y="460"/>
              </a:cxn>
            </a:cxnLst>
            <a:rect l="0" t="0" r="r" b="b"/>
            <a:pathLst>
              <a:path w="262" h="920">
                <a:moveTo>
                  <a:pt x="91" y="460"/>
                </a:moveTo>
                <a:cubicBezTo>
                  <a:pt x="91" y="381"/>
                  <a:pt x="111" y="124"/>
                  <a:pt x="262" y="0"/>
                </a:cubicBezTo>
                <a:cubicBezTo>
                  <a:pt x="156" y="10"/>
                  <a:pt x="67" y="51"/>
                  <a:pt x="0" y="114"/>
                </a:cubicBezTo>
                <a:cubicBezTo>
                  <a:pt x="0" y="806"/>
                  <a:pt x="0" y="806"/>
                  <a:pt x="0" y="806"/>
                </a:cubicBezTo>
                <a:cubicBezTo>
                  <a:pt x="67" y="869"/>
                  <a:pt x="156" y="909"/>
                  <a:pt x="262" y="920"/>
                </a:cubicBezTo>
                <a:cubicBezTo>
                  <a:pt x="111" y="795"/>
                  <a:pt x="91" y="539"/>
                  <a:pt x="91" y="46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76" name="Freeform 12"/>
          <p:cNvSpPr>
            <a:spLocks/>
          </p:cNvSpPr>
          <p:nvPr userDrawn="1"/>
        </p:nvSpPr>
        <p:spPr bwMode="auto">
          <a:xfrm>
            <a:off x="10219267" y="1047751"/>
            <a:ext cx="12700" cy="3175"/>
          </a:xfrm>
          <a:custGeom>
            <a:avLst/>
            <a:gdLst/>
            <a:ahLst/>
            <a:cxnLst>
              <a:cxn ang="0">
                <a:pos x="0" y="1"/>
              </a:cxn>
              <a:cxn ang="0">
                <a:pos x="3" y="1"/>
              </a:cxn>
              <a:cxn ang="0">
                <a:pos x="0" y="1"/>
              </a:cxn>
            </a:cxnLst>
            <a:rect l="0" t="0" r="r" b="b"/>
            <a:pathLst>
              <a:path w="3" h="1">
                <a:moveTo>
                  <a:pt x="0" y="1"/>
                </a:moveTo>
                <a:cubicBezTo>
                  <a:pt x="1" y="1"/>
                  <a:pt x="2" y="1"/>
                  <a:pt x="3" y="1"/>
                </a:cubicBezTo>
                <a:cubicBezTo>
                  <a:pt x="2" y="0"/>
                  <a:pt x="1" y="0"/>
                  <a:pt x="0" y="1"/>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77" name="Freeform 13"/>
          <p:cNvSpPr>
            <a:spLocks/>
          </p:cNvSpPr>
          <p:nvPr userDrawn="1"/>
        </p:nvSpPr>
        <p:spPr bwMode="auto">
          <a:xfrm>
            <a:off x="9817100" y="1044575"/>
            <a:ext cx="8467" cy="3175"/>
          </a:xfrm>
          <a:custGeom>
            <a:avLst/>
            <a:gdLst/>
            <a:ahLst/>
            <a:cxnLst>
              <a:cxn ang="0">
                <a:pos x="1" y="0"/>
              </a:cxn>
              <a:cxn ang="0">
                <a:pos x="2" y="1"/>
              </a:cxn>
              <a:cxn ang="0">
                <a:pos x="1" y="0"/>
              </a:cxn>
            </a:cxnLst>
            <a:rect l="0" t="0" r="r" b="b"/>
            <a:pathLst>
              <a:path w="2" h="1">
                <a:moveTo>
                  <a:pt x="1" y="0"/>
                </a:moveTo>
                <a:cubicBezTo>
                  <a:pt x="1" y="1"/>
                  <a:pt x="1" y="1"/>
                  <a:pt x="2" y="1"/>
                </a:cubicBezTo>
                <a:cubicBezTo>
                  <a:pt x="2" y="1"/>
                  <a:pt x="0" y="0"/>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78" name="Freeform 14"/>
          <p:cNvSpPr>
            <a:spLocks/>
          </p:cNvSpPr>
          <p:nvPr userDrawn="1"/>
        </p:nvSpPr>
        <p:spPr bwMode="auto">
          <a:xfrm>
            <a:off x="10231968" y="1050925"/>
            <a:ext cx="4233" cy="1588"/>
          </a:xfrm>
          <a:custGeom>
            <a:avLst/>
            <a:gdLst/>
            <a:ahLst/>
            <a:cxnLst>
              <a:cxn ang="0">
                <a:pos x="1" y="0"/>
              </a:cxn>
              <a:cxn ang="0">
                <a:pos x="1" y="0"/>
              </a:cxn>
              <a:cxn ang="0">
                <a:pos x="0" y="0"/>
              </a:cxn>
              <a:cxn ang="0">
                <a:pos x="1" y="0"/>
              </a:cxn>
            </a:cxnLst>
            <a:rect l="0" t="0" r="r" b="b"/>
            <a:pathLst>
              <a:path w="1">
                <a:moveTo>
                  <a:pt x="1" y="0"/>
                </a:moveTo>
                <a:cubicBezTo>
                  <a:pt x="1" y="0"/>
                  <a:pt x="1" y="0"/>
                  <a:pt x="1" y="0"/>
                </a:cubicBezTo>
                <a:cubicBezTo>
                  <a:pt x="1" y="0"/>
                  <a:pt x="0" y="0"/>
                  <a:pt x="0" y="0"/>
                </a:cubicBezTo>
                <a:cubicBezTo>
                  <a:pt x="0" y="0"/>
                  <a:pt x="1" y="0"/>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79" name="Freeform 15"/>
          <p:cNvSpPr>
            <a:spLocks/>
          </p:cNvSpPr>
          <p:nvPr userDrawn="1"/>
        </p:nvSpPr>
        <p:spPr bwMode="auto">
          <a:xfrm>
            <a:off x="10392834" y="1050925"/>
            <a:ext cx="211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0" name="Freeform 16"/>
          <p:cNvSpPr>
            <a:spLocks/>
          </p:cNvSpPr>
          <p:nvPr userDrawn="1"/>
        </p:nvSpPr>
        <p:spPr bwMode="auto">
          <a:xfrm>
            <a:off x="9372601" y="835026"/>
            <a:ext cx="4233" cy="3175"/>
          </a:xfrm>
          <a:custGeom>
            <a:avLst/>
            <a:gdLst/>
            <a:ahLst/>
            <a:cxnLst>
              <a:cxn ang="0">
                <a:pos x="1" y="0"/>
              </a:cxn>
              <a:cxn ang="0">
                <a:pos x="0" y="0"/>
              </a:cxn>
              <a:cxn ang="0">
                <a:pos x="1" y="0"/>
              </a:cxn>
            </a:cxnLst>
            <a:rect l="0" t="0" r="r" b="b"/>
            <a:pathLst>
              <a:path w="1" h="1">
                <a:moveTo>
                  <a:pt x="1" y="0"/>
                </a:moveTo>
                <a:cubicBezTo>
                  <a:pt x="0" y="0"/>
                  <a:pt x="0" y="0"/>
                  <a:pt x="0" y="0"/>
                </a:cubicBezTo>
                <a:cubicBezTo>
                  <a:pt x="0" y="1"/>
                  <a:pt x="1" y="1"/>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1" name="Freeform 17"/>
          <p:cNvSpPr>
            <a:spLocks/>
          </p:cNvSpPr>
          <p:nvPr userDrawn="1"/>
        </p:nvSpPr>
        <p:spPr bwMode="auto">
          <a:xfrm>
            <a:off x="9368368" y="835025"/>
            <a:ext cx="4233" cy="1588"/>
          </a:xfrm>
          <a:custGeom>
            <a:avLst/>
            <a:gdLst/>
            <a:ahLst/>
            <a:cxnLst>
              <a:cxn ang="0">
                <a:pos x="0" y="0"/>
              </a:cxn>
              <a:cxn ang="0">
                <a:pos x="0" y="0"/>
              </a:cxn>
              <a:cxn ang="0">
                <a:pos x="1" y="0"/>
              </a:cxn>
              <a:cxn ang="0">
                <a:pos x="0" y="0"/>
              </a:cxn>
            </a:cxnLst>
            <a:rect l="0" t="0" r="r" b="b"/>
            <a:pathLst>
              <a:path w="1">
                <a:moveTo>
                  <a:pt x="0" y="0"/>
                </a:moveTo>
                <a:cubicBezTo>
                  <a:pt x="0" y="0"/>
                  <a:pt x="0" y="0"/>
                  <a:pt x="0" y="0"/>
                </a:cubicBezTo>
                <a:cubicBezTo>
                  <a:pt x="0" y="0"/>
                  <a:pt x="0" y="0"/>
                  <a:pt x="1" y="0"/>
                </a:cubicBezTo>
                <a:cubicBezTo>
                  <a:pt x="0" y="0"/>
                  <a:pt x="0" y="0"/>
                  <a:pt x="0"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2" name="Freeform 18"/>
          <p:cNvSpPr>
            <a:spLocks/>
          </p:cNvSpPr>
          <p:nvPr userDrawn="1"/>
        </p:nvSpPr>
        <p:spPr bwMode="auto">
          <a:xfrm>
            <a:off x="9338733" y="838200"/>
            <a:ext cx="8467" cy="1588"/>
          </a:xfrm>
          <a:custGeom>
            <a:avLst/>
            <a:gdLst/>
            <a:ahLst/>
            <a:cxnLst>
              <a:cxn ang="0">
                <a:pos x="2" y="0"/>
              </a:cxn>
              <a:cxn ang="0">
                <a:pos x="1" y="0"/>
              </a:cxn>
              <a:cxn ang="0">
                <a:pos x="0" y="0"/>
              </a:cxn>
              <a:cxn ang="0">
                <a:pos x="2" y="0"/>
              </a:cxn>
            </a:cxnLst>
            <a:rect l="0" t="0" r="r" b="b"/>
            <a:pathLst>
              <a:path w="2">
                <a:moveTo>
                  <a:pt x="2" y="0"/>
                </a:moveTo>
                <a:cubicBezTo>
                  <a:pt x="2" y="0"/>
                  <a:pt x="2" y="0"/>
                  <a:pt x="1" y="0"/>
                </a:cubicBezTo>
                <a:cubicBezTo>
                  <a:pt x="1" y="0"/>
                  <a:pt x="0" y="0"/>
                  <a:pt x="0" y="0"/>
                </a:cubicBezTo>
                <a:cubicBezTo>
                  <a:pt x="1" y="0"/>
                  <a:pt x="1" y="0"/>
                  <a:pt x="2"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3" name="Freeform 19"/>
          <p:cNvSpPr>
            <a:spLocks/>
          </p:cNvSpPr>
          <p:nvPr userDrawn="1"/>
        </p:nvSpPr>
        <p:spPr bwMode="auto">
          <a:xfrm>
            <a:off x="10583334" y="1054101"/>
            <a:ext cx="4233" cy="3175"/>
          </a:xfrm>
          <a:custGeom>
            <a:avLst/>
            <a:gdLst/>
            <a:ahLst/>
            <a:cxnLst>
              <a:cxn ang="0">
                <a:pos x="1" y="0"/>
              </a:cxn>
              <a:cxn ang="0">
                <a:pos x="0" y="1"/>
              </a:cxn>
              <a:cxn ang="0">
                <a:pos x="1" y="0"/>
              </a:cxn>
            </a:cxnLst>
            <a:rect l="0" t="0" r="r" b="b"/>
            <a:pathLst>
              <a:path w="1" h="1">
                <a:moveTo>
                  <a:pt x="1" y="0"/>
                </a:moveTo>
                <a:cubicBezTo>
                  <a:pt x="0" y="1"/>
                  <a:pt x="0" y="1"/>
                  <a:pt x="0" y="1"/>
                </a:cubicBezTo>
                <a:cubicBezTo>
                  <a:pt x="0" y="1"/>
                  <a:pt x="0" y="1"/>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4" name="Freeform 20"/>
          <p:cNvSpPr>
            <a:spLocks/>
          </p:cNvSpPr>
          <p:nvPr userDrawn="1"/>
        </p:nvSpPr>
        <p:spPr bwMode="auto">
          <a:xfrm>
            <a:off x="10651068" y="1050925"/>
            <a:ext cx="4233" cy="1588"/>
          </a:xfrm>
          <a:custGeom>
            <a:avLst/>
            <a:gdLst/>
            <a:ahLst/>
            <a:cxnLst>
              <a:cxn ang="0">
                <a:pos x="1" y="0"/>
              </a:cxn>
              <a:cxn ang="0">
                <a:pos x="1" y="0"/>
              </a:cxn>
              <a:cxn ang="0">
                <a:pos x="0" y="0"/>
              </a:cxn>
              <a:cxn ang="0">
                <a:pos x="1" y="0"/>
              </a:cxn>
            </a:cxnLst>
            <a:rect l="0" t="0" r="r" b="b"/>
            <a:pathLst>
              <a:path w="1">
                <a:moveTo>
                  <a:pt x="1" y="0"/>
                </a:moveTo>
                <a:cubicBezTo>
                  <a:pt x="1" y="0"/>
                  <a:pt x="1" y="0"/>
                  <a:pt x="1" y="0"/>
                </a:cubicBezTo>
                <a:cubicBezTo>
                  <a:pt x="0" y="0"/>
                  <a:pt x="0" y="0"/>
                  <a:pt x="0" y="0"/>
                </a:cubicBezTo>
                <a:cubicBezTo>
                  <a:pt x="0" y="0"/>
                  <a:pt x="1" y="0"/>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5" name="Freeform 21"/>
          <p:cNvSpPr>
            <a:spLocks/>
          </p:cNvSpPr>
          <p:nvPr userDrawn="1"/>
        </p:nvSpPr>
        <p:spPr bwMode="auto">
          <a:xfrm>
            <a:off x="10494434" y="1054100"/>
            <a:ext cx="4233" cy="1588"/>
          </a:xfrm>
          <a:custGeom>
            <a:avLst/>
            <a:gdLst/>
            <a:ahLst/>
            <a:cxnLst>
              <a:cxn ang="0">
                <a:pos x="1" y="0"/>
              </a:cxn>
              <a:cxn ang="0">
                <a:pos x="0" y="0"/>
              </a:cxn>
              <a:cxn ang="0">
                <a:pos x="1" y="0"/>
              </a:cxn>
            </a:cxnLst>
            <a:rect l="0" t="0" r="r" b="b"/>
            <a:pathLst>
              <a:path w="1">
                <a:moveTo>
                  <a:pt x="1" y="0"/>
                </a:moveTo>
                <a:cubicBezTo>
                  <a:pt x="1" y="0"/>
                  <a:pt x="0" y="0"/>
                  <a:pt x="0" y="0"/>
                </a:cubicBezTo>
                <a:cubicBezTo>
                  <a:pt x="0" y="0"/>
                  <a:pt x="1" y="0"/>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6" name="Freeform 22"/>
          <p:cNvSpPr>
            <a:spLocks/>
          </p:cNvSpPr>
          <p:nvPr userDrawn="1"/>
        </p:nvSpPr>
        <p:spPr bwMode="auto">
          <a:xfrm>
            <a:off x="10680701" y="1054100"/>
            <a:ext cx="4233" cy="1588"/>
          </a:xfrm>
          <a:custGeom>
            <a:avLst/>
            <a:gdLst/>
            <a:ahLst/>
            <a:cxnLst>
              <a:cxn ang="0">
                <a:pos x="1" y="0"/>
              </a:cxn>
              <a:cxn ang="0">
                <a:pos x="1" y="0"/>
              </a:cxn>
              <a:cxn ang="0">
                <a:pos x="0" y="0"/>
              </a:cxn>
              <a:cxn ang="0">
                <a:pos x="1" y="0"/>
              </a:cxn>
            </a:cxnLst>
            <a:rect l="0" t="0" r="r" b="b"/>
            <a:pathLst>
              <a:path w="1">
                <a:moveTo>
                  <a:pt x="1" y="0"/>
                </a:moveTo>
                <a:cubicBezTo>
                  <a:pt x="1" y="0"/>
                  <a:pt x="1" y="0"/>
                  <a:pt x="1" y="0"/>
                </a:cubicBezTo>
                <a:cubicBezTo>
                  <a:pt x="1" y="0"/>
                  <a:pt x="0" y="0"/>
                  <a:pt x="0" y="0"/>
                </a:cubicBezTo>
                <a:cubicBezTo>
                  <a:pt x="0" y="0"/>
                  <a:pt x="1" y="0"/>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7" name="Freeform 23"/>
          <p:cNvSpPr>
            <a:spLocks/>
          </p:cNvSpPr>
          <p:nvPr userDrawn="1"/>
        </p:nvSpPr>
        <p:spPr bwMode="auto">
          <a:xfrm>
            <a:off x="10668001" y="1054101"/>
            <a:ext cx="12700" cy="3175"/>
          </a:xfrm>
          <a:custGeom>
            <a:avLst/>
            <a:gdLst/>
            <a:ahLst/>
            <a:cxnLst>
              <a:cxn ang="0">
                <a:pos x="3" y="0"/>
              </a:cxn>
              <a:cxn ang="0">
                <a:pos x="0" y="1"/>
              </a:cxn>
              <a:cxn ang="0">
                <a:pos x="3" y="0"/>
              </a:cxn>
            </a:cxnLst>
            <a:rect l="0" t="0" r="r" b="b"/>
            <a:pathLst>
              <a:path w="3" h="1">
                <a:moveTo>
                  <a:pt x="3" y="0"/>
                </a:moveTo>
                <a:cubicBezTo>
                  <a:pt x="2" y="1"/>
                  <a:pt x="0" y="0"/>
                  <a:pt x="0" y="1"/>
                </a:cubicBezTo>
                <a:cubicBezTo>
                  <a:pt x="0" y="1"/>
                  <a:pt x="2" y="1"/>
                  <a:pt x="3"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8" name="Freeform 24"/>
          <p:cNvSpPr>
            <a:spLocks/>
          </p:cNvSpPr>
          <p:nvPr userDrawn="1"/>
        </p:nvSpPr>
        <p:spPr bwMode="auto">
          <a:xfrm>
            <a:off x="10651067" y="1050925"/>
            <a:ext cx="211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89" name="Freeform 25"/>
          <p:cNvSpPr>
            <a:spLocks/>
          </p:cNvSpPr>
          <p:nvPr userDrawn="1"/>
        </p:nvSpPr>
        <p:spPr bwMode="auto">
          <a:xfrm>
            <a:off x="10587567" y="1054100"/>
            <a:ext cx="12700" cy="1588"/>
          </a:xfrm>
          <a:custGeom>
            <a:avLst/>
            <a:gdLst/>
            <a:ahLst/>
            <a:cxnLst>
              <a:cxn ang="0">
                <a:pos x="0" y="0"/>
              </a:cxn>
              <a:cxn ang="0">
                <a:pos x="3" y="0"/>
              </a:cxn>
              <a:cxn ang="0">
                <a:pos x="0" y="0"/>
              </a:cxn>
            </a:cxnLst>
            <a:rect l="0" t="0" r="r" b="b"/>
            <a:pathLst>
              <a:path w="3">
                <a:moveTo>
                  <a:pt x="0" y="0"/>
                </a:moveTo>
                <a:cubicBezTo>
                  <a:pt x="1" y="0"/>
                  <a:pt x="2" y="0"/>
                  <a:pt x="3" y="0"/>
                </a:cubicBezTo>
                <a:cubicBezTo>
                  <a:pt x="2" y="0"/>
                  <a:pt x="1" y="0"/>
                  <a:pt x="0"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0" name="Freeform 26"/>
          <p:cNvSpPr>
            <a:spLocks/>
          </p:cNvSpPr>
          <p:nvPr userDrawn="1"/>
        </p:nvSpPr>
        <p:spPr bwMode="auto">
          <a:xfrm>
            <a:off x="10198101" y="819150"/>
            <a:ext cx="4233" cy="1588"/>
          </a:xfrm>
          <a:custGeom>
            <a:avLst/>
            <a:gdLst/>
            <a:ahLst/>
            <a:cxnLst>
              <a:cxn ang="0">
                <a:pos x="0" y="0"/>
              </a:cxn>
              <a:cxn ang="0">
                <a:pos x="1" y="0"/>
              </a:cxn>
              <a:cxn ang="0">
                <a:pos x="0" y="0"/>
              </a:cxn>
            </a:cxnLst>
            <a:rect l="0" t="0" r="r" b="b"/>
            <a:pathLst>
              <a:path w="1">
                <a:moveTo>
                  <a:pt x="0" y="0"/>
                </a:moveTo>
                <a:cubicBezTo>
                  <a:pt x="0" y="0"/>
                  <a:pt x="1" y="0"/>
                  <a:pt x="1" y="0"/>
                </a:cubicBezTo>
                <a:cubicBezTo>
                  <a:pt x="1" y="0"/>
                  <a:pt x="0" y="0"/>
                  <a:pt x="0"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1" name="Freeform 27"/>
          <p:cNvSpPr>
            <a:spLocks noEditPoints="1"/>
          </p:cNvSpPr>
          <p:nvPr userDrawn="1"/>
        </p:nvSpPr>
        <p:spPr bwMode="auto">
          <a:xfrm>
            <a:off x="8947151" y="812801"/>
            <a:ext cx="2650067" cy="250825"/>
          </a:xfrm>
          <a:custGeom>
            <a:avLst/>
            <a:gdLst/>
            <a:ahLst/>
            <a:cxnLst>
              <a:cxn ang="0">
                <a:pos x="573" y="10"/>
              </a:cxn>
              <a:cxn ang="0">
                <a:pos x="560" y="7"/>
              </a:cxn>
              <a:cxn ang="0">
                <a:pos x="447" y="3"/>
              </a:cxn>
              <a:cxn ang="0">
                <a:pos x="295" y="2"/>
              </a:cxn>
              <a:cxn ang="0">
                <a:pos x="179" y="5"/>
              </a:cxn>
              <a:cxn ang="0">
                <a:pos x="122" y="5"/>
              </a:cxn>
              <a:cxn ang="0">
                <a:pos x="98" y="8"/>
              </a:cxn>
              <a:cxn ang="0">
                <a:pos x="54" y="6"/>
              </a:cxn>
              <a:cxn ang="0">
                <a:pos x="21" y="34"/>
              </a:cxn>
              <a:cxn ang="0">
                <a:pos x="7" y="45"/>
              </a:cxn>
              <a:cxn ang="0">
                <a:pos x="3" y="56"/>
              </a:cxn>
              <a:cxn ang="0">
                <a:pos x="12" y="71"/>
              </a:cxn>
              <a:cxn ang="0">
                <a:pos x="166" y="73"/>
              </a:cxn>
              <a:cxn ang="0">
                <a:pos x="196" y="74"/>
              </a:cxn>
              <a:cxn ang="0">
                <a:pos x="212" y="73"/>
              </a:cxn>
              <a:cxn ang="0">
                <a:pos x="255" y="74"/>
              </a:cxn>
              <a:cxn ang="0">
                <a:pos x="276" y="74"/>
              </a:cxn>
              <a:cxn ang="0">
                <a:pos x="295" y="76"/>
              </a:cxn>
              <a:cxn ang="0">
                <a:pos x="310" y="74"/>
              </a:cxn>
              <a:cxn ang="0">
                <a:pos x="326" y="76"/>
              </a:cxn>
              <a:cxn ang="0">
                <a:pos x="340" y="75"/>
              </a:cxn>
              <a:cxn ang="0">
                <a:pos x="350" y="76"/>
              </a:cxn>
              <a:cxn ang="0">
                <a:pos x="364" y="75"/>
              </a:cxn>
              <a:cxn ang="0">
                <a:pos x="372" y="77"/>
              </a:cxn>
              <a:cxn ang="0">
                <a:pos x="390" y="76"/>
              </a:cxn>
              <a:cxn ang="0">
                <a:pos x="411" y="76"/>
              </a:cxn>
              <a:cxn ang="0">
                <a:pos x="431" y="76"/>
              </a:cxn>
              <a:cxn ang="0">
                <a:pos x="526" y="76"/>
              </a:cxn>
              <a:cxn ang="0">
                <a:pos x="553" y="75"/>
              </a:cxn>
              <a:cxn ang="0">
                <a:pos x="567" y="71"/>
              </a:cxn>
              <a:cxn ang="0">
                <a:pos x="580" y="66"/>
              </a:cxn>
              <a:cxn ang="0">
                <a:pos x="591" y="52"/>
              </a:cxn>
              <a:cxn ang="0">
                <a:pos x="595" y="38"/>
              </a:cxn>
              <a:cxn ang="0">
                <a:pos x="611" y="28"/>
              </a:cxn>
              <a:cxn ang="0">
                <a:pos x="617" y="21"/>
              </a:cxn>
              <a:cxn ang="0">
                <a:pos x="621" y="12"/>
              </a:cxn>
              <a:cxn ang="0">
                <a:pos x="128" y="38"/>
              </a:cxn>
              <a:cxn ang="0">
                <a:pos x="148" y="25"/>
              </a:cxn>
              <a:cxn ang="0">
                <a:pos x="186" y="55"/>
              </a:cxn>
              <a:cxn ang="0">
                <a:pos x="186" y="24"/>
              </a:cxn>
              <a:cxn ang="0">
                <a:pos x="186" y="55"/>
              </a:cxn>
              <a:cxn ang="0">
                <a:pos x="241" y="55"/>
              </a:cxn>
              <a:cxn ang="0">
                <a:pos x="226" y="25"/>
              </a:cxn>
              <a:cxn ang="0">
                <a:pos x="276" y="55"/>
              </a:cxn>
              <a:cxn ang="0">
                <a:pos x="269" y="37"/>
              </a:cxn>
              <a:cxn ang="0">
                <a:pos x="283" y="51"/>
              </a:cxn>
              <a:cxn ang="0">
                <a:pos x="302" y="27"/>
              </a:cxn>
              <a:cxn ang="0">
                <a:pos x="321" y="55"/>
              </a:cxn>
              <a:cxn ang="0">
                <a:pos x="321" y="24"/>
              </a:cxn>
              <a:cxn ang="0">
                <a:pos x="321" y="55"/>
              </a:cxn>
              <a:cxn ang="0">
                <a:pos x="356" y="32"/>
              </a:cxn>
              <a:cxn ang="0">
                <a:pos x="375" y="47"/>
              </a:cxn>
              <a:cxn ang="0">
                <a:pos x="396" y="27"/>
              </a:cxn>
              <a:cxn ang="0">
                <a:pos x="434" y="55"/>
              </a:cxn>
              <a:cxn ang="0">
                <a:pos x="419" y="37"/>
              </a:cxn>
              <a:cxn ang="0">
                <a:pos x="459" y="24"/>
              </a:cxn>
              <a:cxn ang="0">
                <a:pos x="492" y="24"/>
              </a:cxn>
              <a:cxn ang="0">
                <a:pos x="518" y="52"/>
              </a:cxn>
            </a:cxnLst>
            <a:rect l="0" t="0" r="r" b="b"/>
            <a:pathLst>
              <a:path w="625" h="79">
                <a:moveTo>
                  <a:pt x="621" y="11"/>
                </a:moveTo>
                <a:cubicBezTo>
                  <a:pt x="622" y="10"/>
                  <a:pt x="622" y="10"/>
                  <a:pt x="623" y="10"/>
                </a:cubicBezTo>
                <a:cubicBezTo>
                  <a:pt x="622" y="7"/>
                  <a:pt x="612" y="9"/>
                  <a:pt x="610" y="9"/>
                </a:cubicBezTo>
                <a:cubicBezTo>
                  <a:pt x="608" y="9"/>
                  <a:pt x="605" y="9"/>
                  <a:pt x="603" y="10"/>
                </a:cubicBezTo>
                <a:cubicBezTo>
                  <a:pt x="602" y="10"/>
                  <a:pt x="598" y="10"/>
                  <a:pt x="601" y="10"/>
                </a:cubicBezTo>
                <a:cubicBezTo>
                  <a:pt x="592" y="10"/>
                  <a:pt x="583" y="11"/>
                  <a:pt x="574" y="11"/>
                </a:cubicBezTo>
                <a:cubicBezTo>
                  <a:pt x="575" y="11"/>
                  <a:pt x="574" y="11"/>
                  <a:pt x="573" y="10"/>
                </a:cubicBezTo>
                <a:cubicBezTo>
                  <a:pt x="573" y="10"/>
                  <a:pt x="577" y="7"/>
                  <a:pt x="571" y="8"/>
                </a:cubicBezTo>
                <a:cubicBezTo>
                  <a:pt x="569" y="8"/>
                  <a:pt x="564" y="10"/>
                  <a:pt x="562" y="9"/>
                </a:cubicBezTo>
                <a:cubicBezTo>
                  <a:pt x="561" y="7"/>
                  <a:pt x="564" y="9"/>
                  <a:pt x="564" y="8"/>
                </a:cubicBezTo>
                <a:cubicBezTo>
                  <a:pt x="563" y="8"/>
                  <a:pt x="563" y="8"/>
                  <a:pt x="564" y="8"/>
                </a:cubicBezTo>
                <a:cubicBezTo>
                  <a:pt x="563" y="8"/>
                  <a:pt x="561" y="8"/>
                  <a:pt x="559" y="8"/>
                </a:cubicBezTo>
                <a:cubicBezTo>
                  <a:pt x="560" y="8"/>
                  <a:pt x="562" y="8"/>
                  <a:pt x="563" y="7"/>
                </a:cubicBezTo>
                <a:cubicBezTo>
                  <a:pt x="562" y="7"/>
                  <a:pt x="560" y="7"/>
                  <a:pt x="560" y="7"/>
                </a:cubicBezTo>
                <a:cubicBezTo>
                  <a:pt x="561" y="7"/>
                  <a:pt x="562" y="6"/>
                  <a:pt x="563" y="6"/>
                </a:cubicBezTo>
                <a:cubicBezTo>
                  <a:pt x="559" y="7"/>
                  <a:pt x="564" y="5"/>
                  <a:pt x="564" y="5"/>
                </a:cubicBezTo>
                <a:cubicBezTo>
                  <a:pt x="548" y="0"/>
                  <a:pt x="529" y="6"/>
                  <a:pt x="512" y="4"/>
                </a:cubicBezTo>
                <a:cubicBezTo>
                  <a:pt x="508" y="4"/>
                  <a:pt x="504" y="4"/>
                  <a:pt x="500" y="3"/>
                </a:cubicBezTo>
                <a:cubicBezTo>
                  <a:pt x="497" y="3"/>
                  <a:pt x="491" y="4"/>
                  <a:pt x="488" y="3"/>
                </a:cubicBezTo>
                <a:cubicBezTo>
                  <a:pt x="483" y="2"/>
                  <a:pt x="476" y="2"/>
                  <a:pt x="471" y="3"/>
                </a:cubicBezTo>
                <a:cubicBezTo>
                  <a:pt x="463" y="4"/>
                  <a:pt x="455" y="2"/>
                  <a:pt x="447" y="3"/>
                </a:cubicBezTo>
                <a:cubicBezTo>
                  <a:pt x="440" y="3"/>
                  <a:pt x="432" y="4"/>
                  <a:pt x="424" y="4"/>
                </a:cubicBezTo>
                <a:cubicBezTo>
                  <a:pt x="420" y="4"/>
                  <a:pt x="416" y="4"/>
                  <a:pt x="412" y="3"/>
                </a:cubicBezTo>
                <a:cubicBezTo>
                  <a:pt x="412" y="3"/>
                  <a:pt x="407" y="1"/>
                  <a:pt x="409" y="3"/>
                </a:cubicBezTo>
                <a:cubicBezTo>
                  <a:pt x="393" y="1"/>
                  <a:pt x="377" y="5"/>
                  <a:pt x="360" y="3"/>
                </a:cubicBezTo>
                <a:cubicBezTo>
                  <a:pt x="353" y="3"/>
                  <a:pt x="345" y="2"/>
                  <a:pt x="338" y="2"/>
                </a:cubicBezTo>
                <a:cubicBezTo>
                  <a:pt x="324" y="2"/>
                  <a:pt x="309" y="6"/>
                  <a:pt x="295" y="2"/>
                </a:cubicBezTo>
                <a:cubicBezTo>
                  <a:pt x="295" y="2"/>
                  <a:pt x="295" y="2"/>
                  <a:pt x="295" y="2"/>
                </a:cubicBezTo>
                <a:cubicBezTo>
                  <a:pt x="280" y="2"/>
                  <a:pt x="264" y="4"/>
                  <a:pt x="249" y="3"/>
                </a:cubicBezTo>
                <a:cubicBezTo>
                  <a:pt x="249" y="3"/>
                  <a:pt x="249" y="3"/>
                  <a:pt x="250" y="3"/>
                </a:cubicBezTo>
                <a:cubicBezTo>
                  <a:pt x="238" y="3"/>
                  <a:pt x="226" y="4"/>
                  <a:pt x="214" y="4"/>
                </a:cubicBezTo>
                <a:cubicBezTo>
                  <a:pt x="207" y="4"/>
                  <a:pt x="201" y="3"/>
                  <a:pt x="194" y="3"/>
                </a:cubicBezTo>
                <a:cubicBezTo>
                  <a:pt x="191" y="3"/>
                  <a:pt x="188" y="3"/>
                  <a:pt x="185" y="3"/>
                </a:cubicBezTo>
                <a:cubicBezTo>
                  <a:pt x="184" y="3"/>
                  <a:pt x="183" y="4"/>
                  <a:pt x="181" y="4"/>
                </a:cubicBezTo>
                <a:cubicBezTo>
                  <a:pt x="178" y="4"/>
                  <a:pt x="177" y="4"/>
                  <a:pt x="179" y="5"/>
                </a:cubicBezTo>
                <a:cubicBezTo>
                  <a:pt x="178" y="5"/>
                  <a:pt x="174" y="6"/>
                  <a:pt x="173" y="5"/>
                </a:cubicBezTo>
                <a:cubicBezTo>
                  <a:pt x="175" y="5"/>
                  <a:pt x="176" y="4"/>
                  <a:pt x="178" y="4"/>
                </a:cubicBezTo>
                <a:cubicBezTo>
                  <a:pt x="171" y="5"/>
                  <a:pt x="164" y="5"/>
                  <a:pt x="158" y="5"/>
                </a:cubicBezTo>
                <a:cubicBezTo>
                  <a:pt x="152" y="5"/>
                  <a:pt x="140" y="7"/>
                  <a:pt x="135" y="4"/>
                </a:cubicBezTo>
                <a:cubicBezTo>
                  <a:pt x="137" y="4"/>
                  <a:pt x="140" y="4"/>
                  <a:pt x="142" y="4"/>
                </a:cubicBezTo>
                <a:cubicBezTo>
                  <a:pt x="132" y="4"/>
                  <a:pt x="118" y="3"/>
                  <a:pt x="110" y="4"/>
                </a:cubicBezTo>
                <a:cubicBezTo>
                  <a:pt x="114" y="5"/>
                  <a:pt x="118" y="4"/>
                  <a:pt x="122" y="5"/>
                </a:cubicBezTo>
                <a:cubicBezTo>
                  <a:pt x="118" y="5"/>
                  <a:pt x="114" y="5"/>
                  <a:pt x="110" y="5"/>
                </a:cubicBezTo>
                <a:cubicBezTo>
                  <a:pt x="111" y="5"/>
                  <a:pt x="111" y="5"/>
                  <a:pt x="111" y="6"/>
                </a:cubicBezTo>
                <a:cubicBezTo>
                  <a:pt x="108" y="6"/>
                  <a:pt x="111" y="7"/>
                  <a:pt x="107" y="7"/>
                </a:cubicBezTo>
                <a:cubicBezTo>
                  <a:pt x="108" y="8"/>
                  <a:pt x="102" y="8"/>
                  <a:pt x="101" y="8"/>
                </a:cubicBezTo>
                <a:cubicBezTo>
                  <a:pt x="103" y="8"/>
                  <a:pt x="99" y="10"/>
                  <a:pt x="98" y="8"/>
                </a:cubicBezTo>
                <a:cubicBezTo>
                  <a:pt x="103" y="8"/>
                  <a:pt x="101" y="8"/>
                  <a:pt x="99" y="7"/>
                </a:cubicBezTo>
                <a:cubicBezTo>
                  <a:pt x="99" y="8"/>
                  <a:pt x="99" y="8"/>
                  <a:pt x="98" y="8"/>
                </a:cubicBezTo>
                <a:cubicBezTo>
                  <a:pt x="95" y="9"/>
                  <a:pt x="93" y="9"/>
                  <a:pt x="92" y="9"/>
                </a:cubicBezTo>
                <a:cubicBezTo>
                  <a:pt x="91" y="9"/>
                  <a:pt x="90" y="8"/>
                  <a:pt x="90" y="8"/>
                </a:cubicBezTo>
                <a:cubicBezTo>
                  <a:pt x="91" y="8"/>
                  <a:pt x="92" y="8"/>
                  <a:pt x="93" y="8"/>
                </a:cubicBezTo>
                <a:cubicBezTo>
                  <a:pt x="95" y="7"/>
                  <a:pt x="98" y="7"/>
                  <a:pt x="99" y="6"/>
                </a:cubicBezTo>
                <a:cubicBezTo>
                  <a:pt x="97" y="6"/>
                  <a:pt x="92" y="8"/>
                  <a:pt x="91" y="7"/>
                </a:cubicBezTo>
                <a:cubicBezTo>
                  <a:pt x="92" y="7"/>
                  <a:pt x="93" y="6"/>
                  <a:pt x="94" y="6"/>
                </a:cubicBezTo>
                <a:cubicBezTo>
                  <a:pt x="81" y="6"/>
                  <a:pt x="67" y="5"/>
                  <a:pt x="54" y="6"/>
                </a:cubicBezTo>
                <a:cubicBezTo>
                  <a:pt x="51" y="6"/>
                  <a:pt x="48" y="6"/>
                  <a:pt x="45" y="6"/>
                </a:cubicBezTo>
                <a:cubicBezTo>
                  <a:pt x="44" y="6"/>
                  <a:pt x="36" y="4"/>
                  <a:pt x="39" y="6"/>
                </a:cubicBezTo>
                <a:cubicBezTo>
                  <a:pt x="34" y="6"/>
                  <a:pt x="32" y="12"/>
                  <a:pt x="30" y="16"/>
                </a:cubicBezTo>
                <a:cubicBezTo>
                  <a:pt x="29" y="18"/>
                  <a:pt x="25" y="28"/>
                  <a:pt x="22" y="28"/>
                </a:cubicBezTo>
                <a:cubicBezTo>
                  <a:pt x="22" y="28"/>
                  <a:pt x="23" y="29"/>
                  <a:pt x="24" y="29"/>
                </a:cubicBezTo>
                <a:cubicBezTo>
                  <a:pt x="21" y="29"/>
                  <a:pt x="21" y="30"/>
                  <a:pt x="22" y="31"/>
                </a:cubicBezTo>
                <a:cubicBezTo>
                  <a:pt x="19" y="31"/>
                  <a:pt x="19" y="33"/>
                  <a:pt x="21" y="34"/>
                </a:cubicBezTo>
                <a:cubicBezTo>
                  <a:pt x="18" y="34"/>
                  <a:pt x="15" y="35"/>
                  <a:pt x="17" y="37"/>
                </a:cubicBezTo>
                <a:cubicBezTo>
                  <a:pt x="13" y="35"/>
                  <a:pt x="16" y="37"/>
                  <a:pt x="16" y="38"/>
                </a:cubicBezTo>
                <a:cubicBezTo>
                  <a:pt x="15" y="38"/>
                  <a:pt x="14" y="37"/>
                  <a:pt x="12" y="38"/>
                </a:cubicBezTo>
                <a:cubicBezTo>
                  <a:pt x="13" y="38"/>
                  <a:pt x="14" y="38"/>
                  <a:pt x="15" y="39"/>
                </a:cubicBezTo>
                <a:cubicBezTo>
                  <a:pt x="14" y="39"/>
                  <a:pt x="9" y="39"/>
                  <a:pt x="11" y="40"/>
                </a:cubicBezTo>
                <a:cubicBezTo>
                  <a:pt x="5" y="40"/>
                  <a:pt x="12" y="40"/>
                  <a:pt x="9" y="41"/>
                </a:cubicBezTo>
                <a:cubicBezTo>
                  <a:pt x="12" y="41"/>
                  <a:pt x="8" y="44"/>
                  <a:pt x="7" y="45"/>
                </a:cubicBezTo>
                <a:cubicBezTo>
                  <a:pt x="11" y="44"/>
                  <a:pt x="8" y="45"/>
                  <a:pt x="9" y="46"/>
                </a:cubicBezTo>
                <a:cubicBezTo>
                  <a:pt x="7" y="46"/>
                  <a:pt x="3" y="47"/>
                  <a:pt x="7" y="48"/>
                </a:cubicBezTo>
                <a:cubicBezTo>
                  <a:pt x="5" y="49"/>
                  <a:pt x="2" y="51"/>
                  <a:pt x="6" y="51"/>
                </a:cubicBezTo>
                <a:cubicBezTo>
                  <a:pt x="4" y="52"/>
                  <a:pt x="4" y="52"/>
                  <a:pt x="2" y="54"/>
                </a:cubicBezTo>
                <a:cubicBezTo>
                  <a:pt x="4" y="54"/>
                  <a:pt x="6" y="54"/>
                  <a:pt x="7" y="54"/>
                </a:cubicBezTo>
                <a:cubicBezTo>
                  <a:pt x="5" y="55"/>
                  <a:pt x="2" y="54"/>
                  <a:pt x="5" y="56"/>
                </a:cubicBezTo>
                <a:cubicBezTo>
                  <a:pt x="4" y="56"/>
                  <a:pt x="3" y="56"/>
                  <a:pt x="3" y="56"/>
                </a:cubicBezTo>
                <a:cubicBezTo>
                  <a:pt x="2" y="56"/>
                  <a:pt x="1" y="57"/>
                  <a:pt x="0" y="58"/>
                </a:cubicBezTo>
                <a:cubicBezTo>
                  <a:pt x="8" y="59"/>
                  <a:pt x="7" y="59"/>
                  <a:pt x="15" y="60"/>
                </a:cubicBezTo>
                <a:cubicBezTo>
                  <a:pt x="15" y="62"/>
                  <a:pt x="12" y="67"/>
                  <a:pt x="15" y="68"/>
                </a:cubicBezTo>
                <a:cubicBezTo>
                  <a:pt x="14" y="67"/>
                  <a:pt x="14" y="68"/>
                  <a:pt x="13" y="69"/>
                </a:cubicBezTo>
                <a:cubicBezTo>
                  <a:pt x="14" y="69"/>
                  <a:pt x="14" y="69"/>
                  <a:pt x="15" y="69"/>
                </a:cubicBezTo>
                <a:cubicBezTo>
                  <a:pt x="13" y="69"/>
                  <a:pt x="13" y="69"/>
                  <a:pt x="12" y="70"/>
                </a:cubicBezTo>
                <a:cubicBezTo>
                  <a:pt x="14" y="70"/>
                  <a:pt x="14" y="71"/>
                  <a:pt x="12" y="71"/>
                </a:cubicBezTo>
                <a:cubicBezTo>
                  <a:pt x="14" y="71"/>
                  <a:pt x="19" y="71"/>
                  <a:pt x="20" y="73"/>
                </a:cubicBezTo>
                <a:cubicBezTo>
                  <a:pt x="18" y="74"/>
                  <a:pt x="17" y="74"/>
                  <a:pt x="15" y="75"/>
                </a:cubicBezTo>
                <a:cubicBezTo>
                  <a:pt x="22" y="74"/>
                  <a:pt x="37" y="73"/>
                  <a:pt x="44" y="73"/>
                </a:cubicBezTo>
                <a:cubicBezTo>
                  <a:pt x="53" y="73"/>
                  <a:pt x="62" y="73"/>
                  <a:pt x="71" y="73"/>
                </a:cubicBezTo>
                <a:cubicBezTo>
                  <a:pt x="86" y="73"/>
                  <a:pt x="102" y="73"/>
                  <a:pt x="118" y="74"/>
                </a:cubicBezTo>
                <a:cubicBezTo>
                  <a:pt x="128" y="74"/>
                  <a:pt x="138" y="76"/>
                  <a:pt x="148" y="75"/>
                </a:cubicBezTo>
                <a:cubicBezTo>
                  <a:pt x="150" y="75"/>
                  <a:pt x="166" y="72"/>
                  <a:pt x="166" y="73"/>
                </a:cubicBezTo>
                <a:cubicBezTo>
                  <a:pt x="165" y="73"/>
                  <a:pt x="166" y="74"/>
                  <a:pt x="168" y="74"/>
                </a:cubicBezTo>
                <a:cubicBezTo>
                  <a:pt x="168" y="73"/>
                  <a:pt x="169" y="73"/>
                  <a:pt x="169" y="73"/>
                </a:cubicBezTo>
                <a:cubicBezTo>
                  <a:pt x="170" y="73"/>
                  <a:pt x="169" y="74"/>
                  <a:pt x="168" y="74"/>
                </a:cubicBezTo>
                <a:cubicBezTo>
                  <a:pt x="168" y="74"/>
                  <a:pt x="168" y="74"/>
                  <a:pt x="168" y="74"/>
                </a:cubicBezTo>
                <a:cubicBezTo>
                  <a:pt x="173" y="75"/>
                  <a:pt x="187" y="70"/>
                  <a:pt x="191" y="73"/>
                </a:cubicBezTo>
                <a:cubicBezTo>
                  <a:pt x="191" y="73"/>
                  <a:pt x="190" y="73"/>
                  <a:pt x="189" y="73"/>
                </a:cubicBezTo>
                <a:cubicBezTo>
                  <a:pt x="191" y="75"/>
                  <a:pt x="193" y="75"/>
                  <a:pt x="196" y="74"/>
                </a:cubicBezTo>
                <a:cubicBezTo>
                  <a:pt x="197" y="73"/>
                  <a:pt x="204" y="73"/>
                  <a:pt x="202" y="73"/>
                </a:cubicBezTo>
                <a:cubicBezTo>
                  <a:pt x="203" y="73"/>
                  <a:pt x="205" y="73"/>
                  <a:pt x="206" y="74"/>
                </a:cubicBezTo>
                <a:cubicBezTo>
                  <a:pt x="206" y="74"/>
                  <a:pt x="206" y="73"/>
                  <a:pt x="206" y="73"/>
                </a:cubicBezTo>
                <a:cubicBezTo>
                  <a:pt x="205" y="73"/>
                  <a:pt x="204" y="73"/>
                  <a:pt x="204" y="73"/>
                </a:cubicBezTo>
                <a:cubicBezTo>
                  <a:pt x="206" y="71"/>
                  <a:pt x="210" y="74"/>
                  <a:pt x="207" y="75"/>
                </a:cubicBezTo>
                <a:cubicBezTo>
                  <a:pt x="208" y="75"/>
                  <a:pt x="209" y="75"/>
                  <a:pt x="211" y="74"/>
                </a:cubicBezTo>
                <a:cubicBezTo>
                  <a:pt x="208" y="75"/>
                  <a:pt x="211" y="74"/>
                  <a:pt x="212" y="73"/>
                </a:cubicBezTo>
                <a:cubicBezTo>
                  <a:pt x="214" y="73"/>
                  <a:pt x="216" y="73"/>
                  <a:pt x="217" y="73"/>
                </a:cubicBezTo>
                <a:cubicBezTo>
                  <a:pt x="217" y="75"/>
                  <a:pt x="222" y="74"/>
                  <a:pt x="220" y="73"/>
                </a:cubicBezTo>
                <a:cubicBezTo>
                  <a:pt x="221" y="72"/>
                  <a:pt x="228" y="74"/>
                  <a:pt x="230" y="73"/>
                </a:cubicBezTo>
                <a:cubicBezTo>
                  <a:pt x="236" y="72"/>
                  <a:pt x="243" y="73"/>
                  <a:pt x="249" y="73"/>
                </a:cubicBezTo>
                <a:cubicBezTo>
                  <a:pt x="246" y="74"/>
                  <a:pt x="248" y="75"/>
                  <a:pt x="249" y="74"/>
                </a:cubicBezTo>
                <a:cubicBezTo>
                  <a:pt x="249" y="73"/>
                  <a:pt x="250" y="72"/>
                  <a:pt x="252" y="73"/>
                </a:cubicBezTo>
                <a:cubicBezTo>
                  <a:pt x="255" y="73"/>
                  <a:pt x="256" y="72"/>
                  <a:pt x="255" y="74"/>
                </a:cubicBezTo>
                <a:cubicBezTo>
                  <a:pt x="255" y="74"/>
                  <a:pt x="267" y="71"/>
                  <a:pt x="268" y="73"/>
                </a:cubicBezTo>
                <a:cubicBezTo>
                  <a:pt x="268" y="73"/>
                  <a:pt x="264" y="74"/>
                  <a:pt x="264" y="74"/>
                </a:cubicBezTo>
                <a:cubicBezTo>
                  <a:pt x="266" y="74"/>
                  <a:pt x="270" y="73"/>
                  <a:pt x="273" y="74"/>
                </a:cubicBezTo>
                <a:cubicBezTo>
                  <a:pt x="271" y="74"/>
                  <a:pt x="268" y="74"/>
                  <a:pt x="266" y="75"/>
                </a:cubicBezTo>
                <a:cubicBezTo>
                  <a:pt x="267" y="75"/>
                  <a:pt x="271" y="75"/>
                  <a:pt x="271" y="74"/>
                </a:cubicBezTo>
                <a:cubicBezTo>
                  <a:pt x="271" y="75"/>
                  <a:pt x="269" y="75"/>
                  <a:pt x="268" y="76"/>
                </a:cubicBezTo>
                <a:cubicBezTo>
                  <a:pt x="270" y="76"/>
                  <a:pt x="274" y="75"/>
                  <a:pt x="276" y="74"/>
                </a:cubicBezTo>
                <a:cubicBezTo>
                  <a:pt x="276" y="74"/>
                  <a:pt x="274" y="74"/>
                  <a:pt x="274" y="74"/>
                </a:cubicBezTo>
                <a:cubicBezTo>
                  <a:pt x="276" y="74"/>
                  <a:pt x="279" y="72"/>
                  <a:pt x="281" y="73"/>
                </a:cubicBezTo>
                <a:cubicBezTo>
                  <a:pt x="278" y="73"/>
                  <a:pt x="283" y="75"/>
                  <a:pt x="280" y="76"/>
                </a:cubicBezTo>
                <a:cubicBezTo>
                  <a:pt x="284" y="75"/>
                  <a:pt x="289" y="74"/>
                  <a:pt x="293" y="74"/>
                </a:cubicBezTo>
                <a:cubicBezTo>
                  <a:pt x="293" y="74"/>
                  <a:pt x="292" y="74"/>
                  <a:pt x="291" y="74"/>
                </a:cubicBezTo>
                <a:cubicBezTo>
                  <a:pt x="291" y="75"/>
                  <a:pt x="292" y="75"/>
                  <a:pt x="292" y="75"/>
                </a:cubicBezTo>
                <a:cubicBezTo>
                  <a:pt x="289" y="77"/>
                  <a:pt x="292" y="76"/>
                  <a:pt x="295" y="76"/>
                </a:cubicBezTo>
                <a:cubicBezTo>
                  <a:pt x="291" y="75"/>
                  <a:pt x="298" y="75"/>
                  <a:pt x="299" y="74"/>
                </a:cubicBezTo>
                <a:cubicBezTo>
                  <a:pt x="297" y="74"/>
                  <a:pt x="296" y="74"/>
                  <a:pt x="295" y="74"/>
                </a:cubicBezTo>
                <a:cubicBezTo>
                  <a:pt x="296" y="74"/>
                  <a:pt x="301" y="74"/>
                  <a:pt x="301" y="74"/>
                </a:cubicBezTo>
                <a:cubicBezTo>
                  <a:pt x="300" y="74"/>
                  <a:pt x="300" y="74"/>
                  <a:pt x="300" y="74"/>
                </a:cubicBezTo>
                <a:cubicBezTo>
                  <a:pt x="301" y="74"/>
                  <a:pt x="303" y="74"/>
                  <a:pt x="304" y="75"/>
                </a:cubicBezTo>
                <a:cubicBezTo>
                  <a:pt x="306" y="75"/>
                  <a:pt x="309" y="74"/>
                  <a:pt x="312" y="75"/>
                </a:cubicBezTo>
                <a:cubicBezTo>
                  <a:pt x="312" y="74"/>
                  <a:pt x="310" y="74"/>
                  <a:pt x="310" y="74"/>
                </a:cubicBezTo>
                <a:cubicBezTo>
                  <a:pt x="311" y="74"/>
                  <a:pt x="317" y="74"/>
                  <a:pt x="317" y="75"/>
                </a:cubicBezTo>
                <a:cubicBezTo>
                  <a:pt x="317" y="74"/>
                  <a:pt x="318" y="74"/>
                  <a:pt x="319" y="74"/>
                </a:cubicBezTo>
                <a:cubicBezTo>
                  <a:pt x="319" y="74"/>
                  <a:pt x="319" y="75"/>
                  <a:pt x="320" y="75"/>
                </a:cubicBezTo>
                <a:cubicBezTo>
                  <a:pt x="320" y="75"/>
                  <a:pt x="317" y="75"/>
                  <a:pt x="318" y="76"/>
                </a:cubicBezTo>
                <a:cubicBezTo>
                  <a:pt x="318" y="76"/>
                  <a:pt x="320" y="74"/>
                  <a:pt x="320" y="75"/>
                </a:cubicBezTo>
                <a:cubicBezTo>
                  <a:pt x="320" y="76"/>
                  <a:pt x="319" y="76"/>
                  <a:pt x="318" y="76"/>
                </a:cubicBezTo>
                <a:cubicBezTo>
                  <a:pt x="321" y="76"/>
                  <a:pt x="323" y="76"/>
                  <a:pt x="326" y="76"/>
                </a:cubicBezTo>
                <a:cubicBezTo>
                  <a:pt x="327" y="76"/>
                  <a:pt x="336" y="75"/>
                  <a:pt x="331" y="75"/>
                </a:cubicBezTo>
                <a:cubicBezTo>
                  <a:pt x="332" y="75"/>
                  <a:pt x="335" y="74"/>
                  <a:pt x="336" y="74"/>
                </a:cubicBezTo>
                <a:cubicBezTo>
                  <a:pt x="336" y="74"/>
                  <a:pt x="336" y="74"/>
                  <a:pt x="337" y="74"/>
                </a:cubicBezTo>
                <a:cubicBezTo>
                  <a:pt x="337" y="74"/>
                  <a:pt x="336" y="74"/>
                  <a:pt x="336" y="74"/>
                </a:cubicBezTo>
                <a:cubicBezTo>
                  <a:pt x="336" y="74"/>
                  <a:pt x="336" y="75"/>
                  <a:pt x="336" y="75"/>
                </a:cubicBezTo>
                <a:cubicBezTo>
                  <a:pt x="337" y="74"/>
                  <a:pt x="338" y="74"/>
                  <a:pt x="338" y="75"/>
                </a:cubicBezTo>
                <a:cubicBezTo>
                  <a:pt x="337" y="75"/>
                  <a:pt x="339" y="75"/>
                  <a:pt x="340" y="75"/>
                </a:cubicBezTo>
                <a:cubicBezTo>
                  <a:pt x="338" y="75"/>
                  <a:pt x="340" y="75"/>
                  <a:pt x="341" y="75"/>
                </a:cubicBezTo>
                <a:cubicBezTo>
                  <a:pt x="341" y="75"/>
                  <a:pt x="343" y="75"/>
                  <a:pt x="341" y="76"/>
                </a:cubicBezTo>
                <a:cubicBezTo>
                  <a:pt x="342" y="76"/>
                  <a:pt x="342" y="76"/>
                  <a:pt x="343" y="76"/>
                </a:cubicBezTo>
                <a:cubicBezTo>
                  <a:pt x="343" y="75"/>
                  <a:pt x="344" y="75"/>
                  <a:pt x="344" y="75"/>
                </a:cubicBezTo>
                <a:cubicBezTo>
                  <a:pt x="344" y="76"/>
                  <a:pt x="343" y="76"/>
                  <a:pt x="343" y="76"/>
                </a:cubicBezTo>
                <a:cubicBezTo>
                  <a:pt x="342" y="76"/>
                  <a:pt x="341" y="77"/>
                  <a:pt x="342" y="77"/>
                </a:cubicBezTo>
                <a:cubicBezTo>
                  <a:pt x="344" y="77"/>
                  <a:pt x="348" y="75"/>
                  <a:pt x="350" y="76"/>
                </a:cubicBezTo>
                <a:cubicBezTo>
                  <a:pt x="351" y="77"/>
                  <a:pt x="350" y="77"/>
                  <a:pt x="350" y="77"/>
                </a:cubicBezTo>
                <a:cubicBezTo>
                  <a:pt x="351" y="77"/>
                  <a:pt x="361" y="75"/>
                  <a:pt x="362" y="77"/>
                </a:cubicBezTo>
                <a:cubicBezTo>
                  <a:pt x="359" y="76"/>
                  <a:pt x="363" y="78"/>
                  <a:pt x="363" y="78"/>
                </a:cubicBezTo>
                <a:cubicBezTo>
                  <a:pt x="364" y="78"/>
                  <a:pt x="365" y="78"/>
                  <a:pt x="366" y="78"/>
                </a:cubicBezTo>
                <a:cubicBezTo>
                  <a:pt x="366" y="77"/>
                  <a:pt x="366" y="77"/>
                  <a:pt x="366" y="77"/>
                </a:cubicBezTo>
                <a:cubicBezTo>
                  <a:pt x="364" y="76"/>
                  <a:pt x="364" y="76"/>
                  <a:pt x="365" y="76"/>
                </a:cubicBezTo>
                <a:cubicBezTo>
                  <a:pt x="365" y="76"/>
                  <a:pt x="365" y="75"/>
                  <a:pt x="364" y="75"/>
                </a:cubicBezTo>
                <a:cubicBezTo>
                  <a:pt x="367" y="75"/>
                  <a:pt x="368" y="77"/>
                  <a:pt x="370" y="75"/>
                </a:cubicBezTo>
                <a:cubicBezTo>
                  <a:pt x="369" y="75"/>
                  <a:pt x="369" y="75"/>
                  <a:pt x="368" y="75"/>
                </a:cubicBezTo>
                <a:cubicBezTo>
                  <a:pt x="371" y="75"/>
                  <a:pt x="371" y="75"/>
                  <a:pt x="371" y="75"/>
                </a:cubicBezTo>
                <a:cubicBezTo>
                  <a:pt x="371" y="75"/>
                  <a:pt x="371" y="76"/>
                  <a:pt x="371" y="77"/>
                </a:cubicBezTo>
                <a:cubicBezTo>
                  <a:pt x="371" y="77"/>
                  <a:pt x="372" y="77"/>
                  <a:pt x="372" y="77"/>
                </a:cubicBezTo>
                <a:cubicBezTo>
                  <a:pt x="372" y="77"/>
                  <a:pt x="372" y="77"/>
                  <a:pt x="373" y="77"/>
                </a:cubicBezTo>
                <a:cubicBezTo>
                  <a:pt x="373" y="77"/>
                  <a:pt x="372" y="77"/>
                  <a:pt x="372" y="77"/>
                </a:cubicBezTo>
                <a:cubicBezTo>
                  <a:pt x="373" y="77"/>
                  <a:pt x="375" y="79"/>
                  <a:pt x="377" y="79"/>
                </a:cubicBezTo>
                <a:cubicBezTo>
                  <a:pt x="376" y="78"/>
                  <a:pt x="376" y="78"/>
                  <a:pt x="376" y="78"/>
                </a:cubicBezTo>
                <a:cubicBezTo>
                  <a:pt x="377" y="78"/>
                  <a:pt x="379" y="77"/>
                  <a:pt x="380" y="77"/>
                </a:cubicBezTo>
                <a:cubicBezTo>
                  <a:pt x="381" y="76"/>
                  <a:pt x="383" y="75"/>
                  <a:pt x="385" y="75"/>
                </a:cubicBezTo>
                <a:cubicBezTo>
                  <a:pt x="384" y="77"/>
                  <a:pt x="385" y="75"/>
                  <a:pt x="383" y="76"/>
                </a:cubicBezTo>
                <a:cubicBezTo>
                  <a:pt x="385" y="75"/>
                  <a:pt x="389" y="75"/>
                  <a:pt x="391" y="75"/>
                </a:cubicBezTo>
                <a:cubicBezTo>
                  <a:pt x="392" y="76"/>
                  <a:pt x="392" y="76"/>
                  <a:pt x="390" y="76"/>
                </a:cubicBezTo>
                <a:cubicBezTo>
                  <a:pt x="391" y="76"/>
                  <a:pt x="391" y="77"/>
                  <a:pt x="391" y="77"/>
                </a:cubicBezTo>
                <a:cubicBezTo>
                  <a:pt x="392" y="77"/>
                  <a:pt x="400" y="75"/>
                  <a:pt x="403" y="75"/>
                </a:cubicBezTo>
                <a:cubicBezTo>
                  <a:pt x="404" y="75"/>
                  <a:pt x="405" y="75"/>
                  <a:pt x="406" y="74"/>
                </a:cubicBezTo>
                <a:cubicBezTo>
                  <a:pt x="405" y="75"/>
                  <a:pt x="405" y="75"/>
                  <a:pt x="405" y="75"/>
                </a:cubicBezTo>
                <a:cubicBezTo>
                  <a:pt x="406" y="75"/>
                  <a:pt x="407" y="75"/>
                  <a:pt x="408" y="75"/>
                </a:cubicBezTo>
                <a:cubicBezTo>
                  <a:pt x="407" y="75"/>
                  <a:pt x="407" y="76"/>
                  <a:pt x="407" y="76"/>
                </a:cubicBezTo>
                <a:cubicBezTo>
                  <a:pt x="408" y="76"/>
                  <a:pt x="409" y="76"/>
                  <a:pt x="411" y="76"/>
                </a:cubicBezTo>
                <a:cubicBezTo>
                  <a:pt x="410" y="76"/>
                  <a:pt x="406" y="75"/>
                  <a:pt x="406" y="77"/>
                </a:cubicBezTo>
                <a:cubicBezTo>
                  <a:pt x="407" y="76"/>
                  <a:pt x="409" y="76"/>
                  <a:pt x="410" y="76"/>
                </a:cubicBezTo>
                <a:cubicBezTo>
                  <a:pt x="414" y="76"/>
                  <a:pt x="419" y="75"/>
                  <a:pt x="422" y="76"/>
                </a:cubicBezTo>
                <a:cubicBezTo>
                  <a:pt x="422" y="76"/>
                  <a:pt x="424" y="76"/>
                  <a:pt x="426" y="76"/>
                </a:cubicBezTo>
                <a:cubicBezTo>
                  <a:pt x="431" y="75"/>
                  <a:pt x="424" y="76"/>
                  <a:pt x="430" y="76"/>
                </a:cubicBezTo>
                <a:cubicBezTo>
                  <a:pt x="429" y="76"/>
                  <a:pt x="429" y="76"/>
                  <a:pt x="428" y="76"/>
                </a:cubicBezTo>
                <a:cubicBezTo>
                  <a:pt x="429" y="76"/>
                  <a:pt x="430" y="76"/>
                  <a:pt x="431" y="76"/>
                </a:cubicBezTo>
                <a:cubicBezTo>
                  <a:pt x="431" y="76"/>
                  <a:pt x="432" y="76"/>
                  <a:pt x="432" y="76"/>
                </a:cubicBezTo>
                <a:cubicBezTo>
                  <a:pt x="432" y="76"/>
                  <a:pt x="431" y="76"/>
                  <a:pt x="431" y="76"/>
                </a:cubicBezTo>
                <a:cubicBezTo>
                  <a:pt x="431" y="76"/>
                  <a:pt x="431" y="76"/>
                  <a:pt x="430" y="76"/>
                </a:cubicBezTo>
                <a:cubicBezTo>
                  <a:pt x="435" y="78"/>
                  <a:pt x="444" y="76"/>
                  <a:pt x="449" y="76"/>
                </a:cubicBezTo>
                <a:cubicBezTo>
                  <a:pt x="458" y="76"/>
                  <a:pt x="467" y="76"/>
                  <a:pt x="476" y="76"/>
                </a:cubicBezTo>
                <a:cubicBezTo>
                  <a:pt x="485" y="76"/>
                  <a:pt x="494" y="76"/>
                  <a:pt x="503" y="76"/>
                </a:cubicBezTo>
                <a:cubicBezTo>
                  <a:pt x="509" y="76"/>
                  <a:pt x="520" y="74"/>
                  <a:pt x="526" y="76"/>
                </a:cubicBezTo>
                <a:cubicBezTo>
                  <a:pt x="525" y="76"/>
                  <a:pt x="526" y="75"/>
                  <a:pt x="527" y="76"/>
                </a:cubicBezTo>
                <a:cubicBezTo>
                  <a:pt x="528" y="76"/>
                  <a:pt x="531" y="76"/>
                  <a:pt x="533" y="76"/>
                </a:cubicBezTo>
                <a:cubicBezTo>
                  <a:pt x="535" y="76"/>
                  <a:pt x="537" y="77"/>
                  <a:pt x="540" y="77"/>
                </a:cubicBezTo>
                <a:cubicBezTo>
                  <a:pt x="542" y="76"/>
                  <a:pt x="544" y="75"/>
                  <a:pt x="547" y="76"/>
                </a:cubicBezTo>
                <a:cubicBezTo>
                  <a:pt x="543" y="76"/>
                  <a:pt x="549" y="77"/>
                  <a:pt x="549" y="76"/>
                </a:cubicBezTo>
                <a:cubicBezTo>
                  <a:pt x="548" y="76"/>
                  <a:pt x="547" y="76"/>
                  <a:pt x="546" y="76"/>
                </a:cubicBezTo>
                <a:cubicBezTo>
                  <a:pt x="549" y="76"/>
                  <a:pt x="551" y="76"/>
                  <a:pt x="553" y="75"/>
                </a:cubicBezTo>
                <a:cubicBezTo>
                  <a:pt x="553" y="76"/>
                  <a:pt x="553" y="76"/>
                  <a:pt x="552" y="76"/>
                </a:cubicBezTo>
                <a:cubicBezTo>
                  <a:pt x="553" y="77"/>
                  <a:pt x="564" y="75"/>
                  <a:pt x="566" y="76"/>
                </a:cubicBezTo>
                <a:cubicBezTo>
                  <a:pt x="567" y="76"/>
                  <a:pt x="568" y="75"/>
                  <a:pt x="567" y="75"/>
                </a:cubicBezTo>
                <a:cubicBezTo>
                  <a:pt x="568" y="75"/>
                  <a:pt x="570" y="74"/>
                  <a:pt x="569" y="75"/>
                </a:cubicBezTo>
                <a:cubicBezTo>
                  <a:pt x="570" y="75"/>
                  <a:pt x="570" y="74"/>
                  <a:pt x="570" y="74"/>
                </a:cubicBezTo>
                <a:cubicBezTo>
                  <a:pt x="567" y="74"/>
                  <a:pt x="568" y="74"/>
                  <a:pt x="569" y="73"/>
                </a:cubicBezTo>
                <a:cubicBezTo>
                  <a:pt x="569" y="74"/>
                  <a:pt x="566" y="72"/>
                  <a:pt x="567" y="71"/>
                </a:cubicBezTo>
                <a:cubicBezTo>
                  <a:pt x="567" y="71"/>
                  <a:pt x="567" y="71"/>
                  <a:pt x="567" y="72"/>
                </a:cubicBezTo>
                <a:cubicBezTo>
                  <a:pt x="568" y="71"/>
                  <a:pt x="574" y="72"/>
                  <a:pt x="575" y="70"/>
                </a:cubicBezTo>
                <a:cubicBezTo>
                  <a:pt x="574" y="70"/>
                  <a:pt x="569" y="71"/>
                  <a:pt x="568" y="70"/>
                </a:cubicBezTo>
                <a:cubicBezTo>
                  <a:pt x="569" y="69"/>
                  <a:pt x="572" y="67"/>
                  <a:pt x="573" y="68"/>
                </a:cubicBezTo>
                <a:cubicBezTo>
                  <a:pt x="573" y="68"/>
                  <a:pt x="573" y="69"/>
                  <a:pt x="572" y="69"/>
                </a:cubicBezTo>
                <a:cubicBezTo>
                  <a:pt x="574" y="70"/>
                  <a:pt x="575" y="69"/>
                  <a:pt x="575" y="69"/>
                </a:cubicBezTo>
                <a:cubicBezTo>
                  <a:pt x="578" y="69"/>
                  <a:pt x="580" y="66"/>
                  <a:pt x="580" y="66"/>
                </a:cubicBezTo>
                <a:cubicBezTo>
                  <a:pt x="581" y="65"/>
                  <a:pt x="584" y="63"/>
                  <a:pt x="585" y="62"/>
                </a:cubicBezTo>
                <a:cubicBezTo>
                  <a:pt x="585" y="62"/>
                  <a:pt x="584" y="62"/>
                  <a:pt x="584" y="62"/>
                </a:cubicBezTo>
                <a:cubicBezTo>
                  <a:pt x="587" y="61"/>
                  <a:pt x="589" y="60"/>
                  <a:pt x="588" y="59"/>
                </a:cubicBezTo>
                <a:cubicBezTo>
                  <a:pt x="591" y="58"/>
                  <a:pt x="591" y="57"/>
                  <a:pt x="589" y="57"/>
                </a:cubicBezTo>
                <a:cubicBezTo>
                  <a:pt x="589" y="56"/>
                  <a:pt x="591" y="55"/>
                  <a:pt x="592" y="55"/>
                </a:cubicBezTo>
                <a:cubicBezTo>
                  <a:pt x="591" y="53"/>
                  <a:pt x="589" y="56"/>
                  <a:pt x="589" y="54"/>
                </a:cubicBezTo>
                <a:cubicBezTo>
                  <a:pt x="591" y="54"/>
                  <a:pt x="594" y="53"/>
                  <a:pt x="591" y="52"/>
                </a:cubicBezTo>
                <a:cubicBezTo>
                  <a:pt x="592" y="50"/>
                  <a:pt x="590" y="51"/>
                  <a:pt x="591" y="50"/>
                </a:cubicBezTo>
                <a:cubicBezTo>
                  <a:pt x="593" y="49"/>
                  <a:pt x="586" y="48"/>
                  <a:pt x="586" y="48"/>
                </a:cubicBezTo>
                <a:cubicBezTo>
                  <a:pt x="590" y="47"/>
                  <a:pt x="587" y="48"/>
                  <a:pt x="586" y="47"/>
                </a:cubicBezTo>
                <a:cubicBezTo>
                  <a:pt x="586" y="46"/>
                  <a:pt x="595" y="45"/>
                  <a:pt x="597" y="44"/>
                </a:cubicBezTo>
                <a:cubicBezTo>
                  <a:pt x="596" y="44"/>
                  <a:pt x="596" y="44"/>
                  <a:pt x="595" y="42"/>
                </a:cubicBezTo>
                <a:cubicBezTo>
                  <a:pt x="595" y="44"/>
                  <a:pt x="598" y="39"/>
                  <a:pt x="599" y="39"/>
                </a:cubicBezTo>
                <a:cubicBezTo>
                  <a:pt x="599" y="39"/>
                  <a:pt x="595" y="39"/>
                  <a:pt x="595" y="38"/>
                </a:cubicBezTo>
                <a:cubicBezTo>
                  <a:pt x="597" y="38"/>
                  <a:pt x="599" y="38"/>
                  <a:pt x="600" y="38"/>
                </a:cubicBezTo>
                <a:cubicBezTo>
                  <a:pt x="598" y="36"/>
                  <a:pt x="603" y="39"/>
                  <a:pt x="603" y="35"/>
                </a:cubicBezTo>
                <a:cubicBezTo>
                  <a:pt x="603" y="32"/>
                  <a:pt x="605" y="34"/>
                  <a:pt x="604" y="31"/>
                </a:cubicBezTo>
                <a:cubicBezTo>
                  <a:pt x="604" y="31"/>
                  <a:pt x="611" y="29"/>
                  <a:pt x="608" y="31"/>
                </a:cubicBezTo>
                <a:cubicBezTo>
                  <a:pt x="608" y="31"/>
                  <a:pt x="609" y="31"/>
                  <a:pt x="610" y="31"/>
                </a:cubicBezTo>
                <a:cubicBezTo>
                  <a:pt x="609" y="31"/>
                  <a:pt x="609" y="30"/>
                  <a:pt x="609" y="30"/>
                </a:cubicBezTo>
                <a:cubicBezTo>
                  <a:pt x="610" y="30"/>
                  <a:pt x="612" y="29"/>
                  <a:pt x="611" y="28"/>
                </a:cubicBezTo>
                <a:cubicBezTo>
                  <a:pt x="610" y="28"/>
                  <a:pt x="610" y="29"/>
                  <a:pt x="609" y="28"/>
                </a:cubicBezTo>
                <a:cubicBezTo>
                  <a:pt x="609" y="28"/>
                  <a:pt x="610" y="27"/>
                  <a:pt x="611" y="27"/>
                </a:cubicBezTo>
                <a:cubicBezTo>
                  <a:pt x="610" y="27"/>
                  <a:pt x="610" y="27"/>
                  <a:pt x="609" y="27"/>
                </a:cubicBezTo>
                <a:cubicBezTo>
                  <a:pt x="610" y="27"/>
                  <a:pt x="613" y="26"/>
                  <a:pt x="614" y="26"/>
                </a:cubicBezTo>
                <a:cubicBezTo>
                  <a:pt x="611" y="25"/>
                  <a:pt x="613" y="23"/>
                  <a:pt x="613" y="23"/>
                </a:cubicBezTo>
                <a:cubicBezTo>
                  <a:pt x="613" y="23"/>
                  <a:pt x="612" y="23"/>
                  <a:pt x="612" y="22"/>
                </a:cubicBezTo>
                <a:cubicBezTo>
                  <a:pt x="612" y="22"/>
                  <a:pt x="615" y="21"/>
                  <a:pt x="617" y="21"/>
                </a:cubicBezTo>
                <a:cubicBezTo>
                  <a:pt x="616" y="21"/>
                  <a:pt x="615" y="21"/>
                  <a:pt x="615" y="19"/>
                </a:cubicBezTo>
                <a:cubicBezTo>
                  <a:pt x="619" y="17"/>
                  <a:pt x="619" y="17"/>
                  <a:pt x="619" y="17"/>
                </a:cubicBezTo>
                <a:cubicBezTo>
                  <a:pt x="621" y="16"/>
                  <a:pt x="621" y="15"/>
                  <a:pt x="618" y="15"/>
                </a:cubicBezTo>
                <a:cubicBezTo>
                  <a:pt x="619" y="15"/>
                  <a:pt x="621" y="14"/>
                  <a:pt x="622" y="13"/>
                </a:cubicBezTo>
                <a:cubicBezTo>
                  <a:pt x="621" y="13"/>
                  <a:pt x="620" y="13"/>
                  <a:pt x="619" y="14"/>
                </a:cubicBezTo>
                <a:cubicBezTo>
                  <a:pt x="620" y="13"/>
                  <a:pt x="620" y="13"/>
                  <a:pt x="619" y="13"/>
                </a:cubicBezTo>
                <a:cubicBezTo>
                  <a:pt x="620" y="10"/>
                  <a:pt x="625" y="15"/>
                  <a:pt x="621" y="12"/>
                </a:cubicBezTo>
                <a:cubicBezTo>
                  <a:pt x="624" y="12"/>
                  <a:pt x="624" y="12"/>
                  <a:pt x="621" y="11"/>
                </a:cubicBezTo>
                <a:close/>
                <a:moveTo>
                  <a:pt x="124" y="55"/>
                </a:moveTo>
                <a:cubicBezTo>
                  <a:pt x="113" y="55"/>
                  <a:pt x="113" y="55"/>
                  <a:pt x="113" y="55"/>
                </a:cubicBezTo>
                <a:cubicBezTo>
                  <a:pt x="113" y="25"/>
                  <a:pt x="113" y="25"/>
                  <a:pt x="113" y="25"/>
                </a:cubicBezTo>
                <a:cubicBezTo>
                  <a:pt x="124" y="25"/>
                  <a:pt x="124" y="25"/>
                  <a:pt x="124" y="25"/>
                </a:cubicBezTo>
                <a:cubicBezTo>
                  <a:pt x="129" y="25"/>
                  <a:pt x="132" y="27"/>
                  <a:pt x="132" y="32"/>
                </a:cubicBezTo>
                <a:cubicBezTo>
                  <a:pt x="132" y="35"/>
                  <a:pt x="131" y="37"/>
                  <a:pt x="128" y="38"/>
                </a:cubicBezTo>
                <a:cubicBezTo>
                  <a:pt x="131" y="39"/>
                  <a:pt x="134" y="41"/>
                  <a:pt x="134" y="46"/>
                </a:cubicBezTo>
                <a:cubicBezTo>
                  <a:pt x="134" y="52"/>
                  <a:pt x="130" y="55"/>
                  <a:pt x="124" y="55"/>
                </a:cubicBezTo>
                <a:close/>
                <a:moveTo>
                  <a:pt x="166" y="42"/>
                </a:moveTo>
                <a:cubicBezTo>
                  <a:pt x="166" y="51"/>
                  <a:pt x="162" y="55"/>
                  <a:pt x="155" y="55"/>
                </a:cubicBezTo>
                <a:cubicBezTo>
                  <a:pt x="148" y="55"/>
                  <a:pt x="144" y="51"/>
                  <a:pt x="144" y="42"/>
                </a:cubicBezTo>
                <a:cubicBezTo>
                  <a:pt x="144" y="25"/>
                  <a:pt x="144" y="25"/>
                  <a:pt x="144" y="25"/>
                </a:cubicBezTo>
                <a:cubicBezTo>
                  <a:pt x="148" y="25"/>
                  <a:pt x="148" y="25"/>
                  <a:pt x="148" y="25"/>
                </a:cubicBezTo>
                <a:cubicBezTo>
                  <a:pt x="148" y="42"/>
                  <a:pt x="148" y="42"/>
                  <a:pt x="148" y="42"/>
                </a:cubicBezTo>
                <a:cubicBezTo>
                  <a:pt x="148" y="49"/>
                  <a:pt x="150" y="52"/>
                  <a:pt x="155" y="52"/>
                </a:cubicBezTo>
                <a:cubicBezTo>
                  <a:pt x="160" y="52"/>
                  <a:pt x="162" y="49"/>
                  <a:pt x="162" y="42"/>
                </a:cubicBezTo>
                <a:cubicBezTo>
                  <a:pt x="162" y="25"/>
                  <a:pt x="162" y="25"/>
                  <a:pt x="162" y="25"/>
                </a:cubicBezTo>
                <a:cubicBezTo>
                  <a:pt x="166" y="25"/>
                  <a:pt x="166" y="25"/>
                  <a:pt x="166" y="25"/>
                </a:cubicBezTo>
                <a:lnTo>
                  <a:pt x="166" y="42"/>
                </a:lnTo>
                <a:close/>
                <a:moveTo>
                  <a:pt x="186" y="55"/>
                </a:moveTo>
                <a:cubicBezTo>
                  <a:pt x="182" y="55"/>
                  <a:pt x="178" y="53"/>
                  <a:pt x="176" y="51"/>
                </a:cubicBezTo>
                <a:cubicBezTo>
                  <a:pt x="178" y="48"/>
                  <a:pt x="178" y="48"/>
                  <a:pt x="178" y="48"/>
                </a:cubicBezTo>
                <a:cubicBezTo>
                  <a:pt x="180" y="51"/>
                  <a:pt x="183" y="52"/>
                  <a:pt x="186" y="52"/>
                </a:cubicBezTo>
                <a:cubicBezTo>
                  <a:pt x="190" y="52"/>
                  <a:pt x="192" y="50"/>
                  <a:pt x="192" y="47"/>
                </a:cubicBezTo>
                <a:cubicBezTo>
                  <a:pt x="192" y="44"/>
                  <a:pt x="191" y="43"/>
                  <a:pt x="185" y="41"/>
                </a:cubicBezTo>
                <a:cubicBezTo>
                  <a:pt x="179" y="38"/>
                  <a:pt x="176" y="36"/>
                  <a:pt x="176" y="32"/>
                </a:cubicBezTo>
                <a:cubicBezTo>
                  <a:pt x="176" y="27"/>
                  <a:pt x="180" y="24"/>
                  <a:pt x="186" y="24"/>
                </a:cubicBezTo>
                <a:cubicBezTo>
                  <a:pt x="190" y="24"/>
                  <a:pt x="192" y="25"/>
                  <a:pt x="195" y="27"/>
                </a:cubicBezTo>
                <a:cubicBezTo>
                  <a:pt x="193" y="30"/>
                  <a:pt x="193" y="30"/>
                  <a:pt x="193" y="30"/>
                </a:cubicBezTo>
                <a:cubicBezTo>
                  <a:pt x="191" y="28"/>
                  <a:pt x="189" y="27"/>
                  <a:pt x="186" y="27"/>
                </a:cubicBezTo>
                <a:cubicBezTo>
                  <a:pt x="182" y="27"/>
                  <a:pt x="180" y="29"/>
                  <a:pt x="180" y="32"/>
                </a:cubicBezTo>
                <a:cubicBezTo>
                  <a:pt x="180" y="34"/>
                  <a:pt x="181" y="35"/>
                  <a:pt x="187" y="38"/>
                </a:cubicBezTo>
                <a:cubicBezTo>
                  <a:pt x="194" y="40"/>
                  <a:pt x="196" y="42"/>
                  <a:pt x="196" y="47"/>
                </a:cubicBezTo>
                <a:cubicBezTo>
                  <a:pt x="196" y="51"/>
                  <a:pt x="192" y="55"/>
                  <a:pt x="186" y="55"/>
                </a:cubicBezTo>
                <a:close/>
                <a:moveTo>
                  <a:pt x="210" y="55"/>
                </a:moveTo>
                <a:cubicBezTo>
                  <a:pt x="207" y="55"/>
                  <a:pt x="207" y="55"/>
                  <a:pt x="207" y="55"/>
                </a:cubicBezTo>
                <a:cubicBezTo>
                  <a:pt x="207" y="25"/>
                  <a:pt x="207" y="25"/>
                  <a:pt x="207" y="25"/>
                </a:cubicBezTo>
                <a:cubicBezTo>
                  <a:pt x="210" y="25"/>
                  <a:pt x="210" y="25"/>
                  <a:pt x="210" y="25"/>
                </a:cubicBezTo>
                <a:lnTo>
                  <a:pt x="210" y="55"/>
                </a:lnTo>
                <a:close/>
                <a:moveTo>
                  <a:pt x="244" y="55"/>
                </a:moveTo>
                <a:cubicBezTo>
                  <a:pt x="241" y="55"/>
                  <a:pt x="241" y="55"/>
                  <a:pt x="241" y="55"/>
                </a:cubicBezTo>
                <a:cubicBezTo>
                  <a:pt x="228" y="34"/>
                  <a:pt x="228" y="34"/>
                  <a:pt x="228" y="34"/>
                </a:cubicBezTo>
                <a:cubicBezTo>
                  <a:pt x="228" y="33"/>
                  <a:pt x="226" y="31"/>
                  <a:pt x="226" y="30"/>
                </a:cubicBezTo>
                <a:cubicBezTo>
                  <a:pt x="226" y="32"/>
                  <a:pt x="226" y="32"/>
                  <a:pt x="226" y="32"/>
                </a:cubicBezTo>
                <a:cubicBezTo>
                  <a:pt x="226" y="55"/>
                  <a:pt x="226" y="55"/>
                  <a:pt x="226" y="55"/>
                </a:cubicBezTo>
                <a:cubicBezTo>
                  <a:pt x="223" y="55"/>
                  <a:pt x="223" y="55"/>
                  <a:pt x="223" y="55"/>
                </a:cubicBezTo>
                <a:cubicBezTo>
                  <a:pt x="223" y="25"/>
                  <a:pt x="223" y="25"/>
                  <a:pt x="223" y="25"/>
                </a:cubicBezTo>
                <a:cubicBezTo>
                  <a:pt x="226" y="25"/>
                  <a:pt x="226" y="25"/>
                  <a:pt x="226" y="25"/>
                </a:cubicBezTo>
                <a:cubicBezTo>
                  <a:pt x="239" y="46"/>
                  <a:pt x="239" y="46"/>
                  <a:pt x="239" y="46"/>
                </a:cubicBezTo>
                <a:cubicBezTo>
                  <a:pt x="240" y="47"/>
                  <a:pt x="241" y="48"/>
                  <a:pt x="241" y="49"/>
                </a:cubicBezTo>
                <a:cubicBezTo>
                  <a:pt x="241" y="47"/>
                  <a:pt x="241" y="47"/>
                  <a:pt x="241" y="47"/>
                </a:cubicBezTo>
                <a:cubicBezTo>
                  <a:pt x="241" y="25"/>
                  <a:pt x="241" y="25"/>
                  <a:pt x="241" y="25"/>
                </a:cubicBezTo>
                <a:cubicBezTo>
                  <a:pt x="244" y="25"/>
                  <a:pt x="244" y="25"/>
                  <a:pt x="244" y="25"/>
                </a:cubicBezTo>
                <a:lnTo>
                  <a:pt x="244" y="55"/>
                </a:lnTo>
                <a:close/>
                <a:moveTo>
                  <a:pt x="276" y="55"/>
                </a:moveTo>
                <a:cubicBezTo>
                  <a:pt x="257" y="55"/>
                  <a:pt x="257" y="55"/>
                  <a:pt x="257" y="55"/>
                </a:cubicBezTo>
                <a:cubicBezTo>
                  <a:pt x="257" y="25"/>
                  <a:pt x="257" y="25"/>
                  <a:pt x="257" y="25"/>
                </a:cubicBezTo>
                <a:cubicBezTo>
                  <a:pt x="275" y="25"/>
                  <a:pt x="275" y="25"/>
                  <a:pt x="275" y="25"/>
                </a:cubicBezTo>
                <a:cubicBezTo>
                  <a:pt x="275" y="28"/>
                  <a:pt x="275" y="28"/>
                  <a:pt x="275" y="28"/>
                </a:cubicBezTo>
                <a:cubicBezTo>
                  <a:pt x="260" y="28"/>
                  <a:pt x="260" y="28"/>
                  <a:pt x="260" y="28"/>
                </a:cubicBezTo>
                <a:cubicBezTo>
                  <a:pt x="260" y="37"/>
                  <a:pt x="260" y="37"/>
                  <a:pt x="260" y="37"/>
                </a:cubicBezTo>
                <a:cubicBezTo>
                  <a:pt x="269" y="37"/>
                  <a:pt x="269" y="37"/>
                  <a:pt x="269" y="37"/>
                </a:cubicBezTo>
                <a:cubicBezTo>
                  <a:pt x="269" y="40"/>
                  <a:pt x="269" y="40"/>
                  <a:pt x="269" y="40"/>
                </a:cubicBezTo>
                <a:cubicBezTo>
                  <a:pt x="260" y="40"/>
                  <a:pt x="260" y="40"/>
                  <a:pt x="260" y="40"/>
                </a:cubicBezTo>
                <a:cubicBezTo>
                  <a:pt x="260" y="52"/>
                  <a:pt x="260" y="52"/>
                  <a:pt x="260" y="52"/>
                </a:cubicBezTo>
                <a:cubicBezTo>
                  <a:pt x="276" y="52"/>
                  <a:pt x="276" y="52"/>
                  <a:pt x="276" y="52"/>
                </a:cubicBezTo>
                <a:lnTo>
                  <a:pt x="276" y="55"/>
                </a:lnTo>
                <a:close/>
                <a:moveTo>
                  <a:pt x="293" y="55"/>
                </a:moveTo>
                <a:cubicBezTo>
                  <a:pt x="289" y="55"/>
                  <a:pt x="285" y="53"/>
                  <a:pt x="283" y="51"/>
                </a:cubicBezTo>
                <a:cubicBezTo>
                  <a:pt x="285" y="48"/>
                  <a:pt x="285" y="48"/>
                  <a:pt x="285" y="48"/>
                </a:cubicBezTo>
                <a:cubicBezTo>
                  <a:pt x="287" y="51"/>
                  <a:pt x="290" y="52"/>
                  <a:pt x="293" y="52"/>
                </a:cubicBezTo>
                <a:cubicBezTo>
                  <a:pt x="297" y="52"/>
                  <a:pt x="300" y="50"/>
                  <a:pt x="300" y="47"/>
                </a:cubicBezTo>
                <a:cubicBezTo>
                  <a:pt x="300" y="44"/>
                  <a:pt x="298" y="43"/>
                  <a:pt x="292" y="41"/>
                </a:cubicBezTo>
                <a:cubicBezTo>
                  <a:pt x="286" y="38"/>
                  <a:pt x="284" y="36"/>
                  <a:pt x="284" y="32"/>
                </a:cubicBezTo>
                <a:cubicBezTo>
                  <a:pt x="284" y="27"/>
                  <a:pt x="288" y="24"/>
                  <a:pt x="293" y="24"/>
                </a:cubicBezTo>
                <a:cubicBezTo>
                  <a:pt x="297" y="24"/>
                  <a:pt x="300" y="25"/>
                  <a:pt x="302" y="27"/>
                </a:cubicBezTo>
                <a:cubicBezTo>
                  <a:pt x="300" y="30"/>
                  <a:pt x="300" y="30"/>
                  <a:pt x="300" y="30"/>
                </a:cubicBezTo>
                <a:cubicBezTo>
                  <a:pt x="298" y="28"/>
                  <a:pt x="296" y="27"/>
                  <a:pt x="293" y="27"/>
                </a:cubicBezTo>
                <a:cubicBezTo>
                  <a:pt x="289" y="27"/>
                  <a:pt x="287" y="29"/>
                  <a:pt x="287" y="32"/>
                </a:cubicBezTo>
                <a:cubicBezTo>
                  <a:pt x="287" y="34"/>
                  <a:pt x="288" y="35"/>
                  <a:pt x="294" y="38"/>
                </a:cubicBezTo>
                <a:cubicBezTo>
                  <a:pt x="301" y="40"/>
                  <a:pt x="303" y="42"/>
                  <a:pt x="303" y="47"/>
                </a:cubicBezTo>
                <a:cubicBezTo>
                  <a:pt x="303" y="51"/>
                  <a:pt x="299" y="55"/>
                  <a:pt x="293" y="55"/>
                </a:cubicBezTo>
                <a:close/>
                <a:moveTo>
                  <a:pt x="321" y="55"/>
                </a:moveTo>
                <a:cubicBezTo>
                  <a:pt x="317" y="55"/>
                  <a:pt x="313" y="53"/>
                  <a:pt x="311" y="51"/>
                </a:cubicBezTo>
                <a:cubicBezTo>
                  <a:pt x="313" y="48"/>
                  <a:pt x="313" y="48"/>
                  <a:pt x="313" y="48"/>
                </a:cubicBezTo>
                <a:cubicBezTo>
                  <a:pt x="315" y="51"/>
                  <a:pt x="318" y="52"/>
                  <a:pt x="321" y="52"/>
                </a:cubicBezTo>
                <a:cubicBezTo>
                  <a:pt x="325" y="52"/>
                  <a:pt x="327" y="50"/>
                  <a:pt x="327" y="47"/>
                </a:cubicBezTo>
                <a:cubicBezTo>
                  <a:pt x="327" y="44"/>
                  <a:pt x="326" y="43"/>
                  <a:pt x="320" y="41"/>
                </a:cubicBezTo>
                <a:cubicBezTo>
                  <a:pt x="314" y="38"/>
                  <a:pt x="312" y="36"/>
                  <a:pt x="312" y="32"/>
                </a:cubicBezTo>
                <a:cubicBezTo>
                  <a:pt x="312" y="27"/>
                  <a:pt x="315" y="24"/>
                  <a:pt x="321" y="24"/>
                </a:cubicBezTo>
                <a:cubicBezTo>
                  <a:pt x="325" y="24"/>
                  <a:pt x="328" y="25"/>
                  <a:pt x="330" y="27"/>
                </a:cubicBezTo>
                <a:cubicBezTo>
                  <a:pt x="328" y="30"/>
                  <a:pt x="328" y="30"/>
                  <a:pt x="328" y="30"/>
                </a:cubicBezTo>
                <a:cubicBezTo>
                  <a:pt x="326" y="28"/>
                  <a:pt x="324" y="27"/>
                  <a:pt x="321" y="27"/>
                </a:cubicBezTo>
                <a:cubicBezTo>
                  <a:pt x="317" y="27"/>
                  <a:pt x="315" y="29"/>
                  <a:pt x="315" y="32"/>
                </a:cubicBezTo>
                <a:cubicBezTo>
                  <a:pt x="315" y="34"/>
                  <a:pt x="316" y="35"/>
                  <a:pt x="322" y="38"/>
                </a:cubicBezTo>
                <a:cubicBezTo>
                  <a:pt x="329" y="40"/>
                  <a:pt x="331" y="42"/>
                  <a:pt x="331" y="47"/>
                </a:cubicBezTo>
                <a:cubicBezTo>
                  <a:pt x="331" y="51"/>
                  <a:pt x="327" y="55"/>
                  <a:pt x="321" y="55"/>
                </a:cubicBezTo>
                <a:close/>
                <a:moveTo>
                  <a:pt x="365" y="55"/>
                </a:moveTo>
                <a:cubicBezTo>
                  <a:pt x="361" y="55"/>
                  <a:pt x="358" y="53"/>
                  <a:pt x="355" y="51"/>
                </a:cubicBezTo>
                <a:cubicBezTo>
                  <a:pt x="358" y="48"/>
                  <a:pt x="358" y="48"/>
                  <a:pt x="358" y="48"/>
                </a:cubicBezTo>
                <a:cubicBezTo>
                  <a:pt x="360" y="51"/>
                  <a:pt x="362" y="52"/>
                  <a:pt x="365" y="52"/>
                </a:cubicBezTo>
                <a:cubicBezTo>
                  <a:pt x="369" y="52"/>
                  <a:pt x="372" y="50"/>
                  <a:pt x="372" y="47"/>
                </a:cubicBezTo>
                <a:cubicBezTo>
                  <a:pt x="372" y="44"/>
                  <a:pt x="370" y="43"/>
                  <a:pt x="365" y="41"/>
                </a:cubicBezTo>
                <a:cubicBezTo>
                  <a:pt x="358" y="38"/>
                  <a:pt x="356" y="36"/>
                  <a:pt x="356" y="32"/>
                </a:cubicBezTo>
                <a:cubicBezTo>
                  <a:pt x="356" y="27"/>
                  <a:pt x="360" y="24"/>
                  <a:pt x="366" y="24"/>
                </a:cubicBezTo>
                <a:cubicBezTo>
                  <a:pt x="370" y="24"/>
                  <a:pt x="372" y="25"/>
                  <a:pt x="375" y="27"/>
                </a:cubicBezTo>
                <a:cubicBezTo>
                  <a:pt x="372" y="30"/>
                  <a:pt x="372" y="30"/>
                  <a:pt x="372" y="30"/>
                </a:cubicBezTo>
                <a:cubicBezTo>
                  <a:pt x="370" y="28"/>
                  <a:pt x="368" y="27"/>
                  <a:pt x="365" y="27"/>
                </a:cubicBezTo>
                <a:cubicBezTo>
                  <a:pt x="361" y="27"/>
                  <a:pt x="359" y="29"/>
                  <a:pt x="359" y="32"/>
                </a:cubicBezTo>
                <a:cubicBezTo>
                  <a:pt x="359" y="34"/>
                  <a:pt x="361" y="35"/>
                  <a:pt x="367" y="38"/>
                </a:cubicBezTo>
                <a:cubicBezTo>
                  <a:pt x="373" y="40"/>
                  <a:pt x="375" y="42"/>
                  <a:pt x="375" y="47"/>
                </a:cubicBezTo>
                <a:cubicBezTo>
                  <a:pt x="375" y="51"/>
                  <a:pt x="372" y="55"/>
                  <a:pt x="365" y="55"/>
                </a:cubicBezTo>
                <a:close/>
                <a:moveTo>
                  <a:pt x="396" y="55"/>
                </a:moveTo>
                <a:cubicBezTo>
                  <a:pt x="389" y="55"/>
                  <a:pt x="384" y="48"/>
                  <a:pt x="384" y="40"/>
                </a:cubicBezTo>
                <a:cubicBezTo>
                  <a:pt x="384" y="31"/>
                  <a:pt x="389" y="24"/>
                  <a:pt x="396" y="24"/>
                </a:cubicBezTo>
                <a:cubicBezTo>
                  <a:pt x="400" y="24"/>
                  <a:pt x="403" y="26"/>
                  <a:pt x="406" y="29"/>
                </a:cubicBezTo>
                <a:cubicBezTo>
                  <a:pt x="403" y="31"/>
                  <a:pt x="403" y="31"/>
                  <a:pt x="403" y="31"/>
                </a:cubicBezTo>
                <a:cubicBezTo>
                  <a:pt x="401" y="28"/>
                  <a:pt x="399" y="27"/>
                  <a:pt x="396" y="27"/>
                </a:cubicBezTo>
                <a:cubicBezTo>
                  <a:pt x="391" y="27"/>
                  <a:pt x="387" y="32"/>
                  <a:pt x="387" y="40"/>
                </a:cubicBezTo>
                <a:cubicBezTo>
                  <a:pt x="387" y="47"/>
                  <a:pt x="391" y="52"/>
                  <a:pt x="396" y="52"/>
                </a:cubicBezTo>
                <a:cubicBezTo>
                  <a:pt x="400" y="52"/>
                  <a:pt x="402" y="51"/>
                  <a:pt x="404" y="48"/>
                </a:cubicBezTo>
                <a:cubicBezTo>
                  <a:pt x="406" y="50"/>
                  <a:pt x="406" y="50"/>
                  <a:pt x="406" y="50"/>
                </a:cubicBezTo>
                <a:cubicBezTo>
                  <a:pt x="404" y="53"/>
                  <a:pt x="401" y="55"/>
                  <a:pt x="396" y="55"/>
                </a:cubicBezTo>
                <a:close/>
                <a:moveTo>
                  <a:pt x="437" y="55"/>
                </a:moveTo>
                <a:cubicBezTo>
                  <a:pt x="434" y="55"/>
                  <a:pt x="434" y="55"/>
                  <a:pt x="434" y="55"/>
                </a:cubicBezTo>
                <a:cubicBezTo>
                  <a:pt x="434" y="40"/>
                  <a:pt x="434" y="40"/>
                  <a:pt x="434" y="40"/>
                </a:cubicBezTo>
                <a:cubicBezTo>
                  <a:pt x="419" y="40"/>
                  <a:pt x="419" y="40"/>
                  <a:pt x="419" y="40"/>
                </a:cubicBezTo>
                <a:cubicBezTo>
                  <a:pt x="419" y="55"/>
                  <a:pt x="419" y="55"/>
                  <a:pt x="419" y="55"/>
                </a:cubicBezTo>
                <a:cubicBezTo>
                  <a:pt x="415" y="55"/>
                  <a:pt x="415" y="55"/>
                  <a:pt x="415" y="55"/>
                </a:cubicBezTo>
                <a:cubicBezTo>
                  <a:pt x="415" y="25"/>
                  <a:pt x="415" y="25"/>
                  <a:pt x="415" y="25"/>
                </a:cubicBezTo>
                <a:cubicBezTo>
                  <a:pt x="419" y="25"/>
                  <a:pt x="419" y="25"/>
                  <a:pt x="419" y="25"/>
                </a:cubicBezTo>
                <a:cubicBezTo>
                  <a:pt x="419" y="37"/>
                  <a:pt x="419" y="37"/>
                  <a:pt x="419" y="37"/>
                </a:cubicBezTo>
                <a:cubicBezTo>
                  <a:pt x="434" y="37"/>
                  <a:pt x="434" y="37"/>
                  <a:pt x="434" y="37"/>
                </a:cubicBezTo>
                <a:cubicBezTo>
                  <a:pt x="434" y="25"/>
                  <a:pt x="434" y="25"/>
                  <a:pt x="434" y="25"/>
                </a:cubicBezTo>
                <a:cubicBezTo>
                  <a:pt x="437" y="25"/>
                  <a:pt x="437" y="25"/>
                  <a:pt x="437" y="25"/>
                </a:cubicBezTo>
                <a:lnTo>
                  <a:pt x="437" y="55"/>
                </a:lnTo>
                <a:close/>
                <a:moveTo>
                  <a:pt x="459" y="55"/>
                </a:moveTo>
                <a:cubicBezTo>
                  <a:pt x="452" y="55"/>
                  <a:pt x="447" y="49"/>
                  <a:pt x="447" y="40"/>
                </a:cubicBezTo>
                <a:cubicBezTo>
                  <a:pt x="447" y="31"/>
                  <a:pt x="452" y="24"/>
                  <a:pt x="459" y="24"/>
                </a:cubicBezTo>
                <a:cubicBezTo>
                  <a:pt x="467" y="24"/>
                  <a:pt x="472" y="31"/>
                  <a:pt x="472" y="40"/>
                </a:cubicBezTo>
                <a:cubicBezTo>
                  <a:pt x="472" y="49"/>
                  <a:pt x="467" y="55"/>
                  <a:pt x="459" y="55"/>
                </a:cubicBezTo>
                <a:close/>
                <a:moveTo>
                  <a:pt x="491" y="76"/>
                </a:moveTo>
                <a:cubicBezTo>
                  <a:pt x="491" y="75"/>
                  <a:pt x="494" y="76"/>
                  <a:pt x="491" y="76"/>
                </a:cubicBezTo>
                <a:close/>
                <a:moveTo>
                  <a:pt x="492" y="55"/>
                </a:moveTo>
                <a:cubicBezTo>
                  <a:pt x="485" y="55"/>
                  <a:pt x="480" y="49"/>
                  <a:pt x="480" y="40"/>
                </a:cubicBezTo>
                <a:cubicBezTo>
                  <a:pt x="480" y="31"/>
                  <a:pt x="485" y="24"/>
                  <a:pt x="492" y="24"/>
                </a:cubicBezTo>
                <a:cubicBezTo>
                  <a:pt x="500" y="24"/>
                  <a:pt x="505" y="31"/>
                  <a:pt x="505" y="40"/>
                </a:cubicBezTo>
                <a:cubicBezTo>
                  <a:pt x="505" y="49"/>
                  <a:pt x="500" y="55"/>
                  <a:pt x="492" y="55"/>
                </a:cubicBezTo>
                <a:close/>
                <a:moveTo>
                  <a:pt x="533" y="55"/>
                </a:moveTo>
                <a:cubicBezTo>
                  <a:pt x="515" y="55"/>
                  <a:pt x="515" y="55"/>
                  <a:pt x="515" y="55"/>
                </a:cubicBezTo>
                <a:cubicBezTo>
                  <a:pt x="515" y="25"/>
                  <a:pt x="515" y="25"/>
                  <a:pt x="515" y="25"/>
                </a:cubicBezTo>
                <a:cubicBezTo>
                  <a:pt x="518" y="25"/>
                  <a:pt x="518" y="25"/>
                  <a:pt x="518" y="25"/>
                </a:cubicBezTo>
                <a:cubicBezTo>
                  <a:pt x="518" y="52"/>
                  <a:pt x="518" y="52"/>
                  <a:pt x="518" y="52"/>
                </a:cubicBezTo>
                <a:cubicBezTo>
                  <a:pt x="533" y="52"/>
                  <a:pt x="533" y="52"/>
                  <a:pt x="533" y="52"/>
                </a:cubicBezTo>
                <a:lnTo>
                  <a:pt x="533" y="55"/>
                </a:ln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2" name="Freeform 28"/>
          <p:cNvSpPr>
            <a:spLocks/>
          </p:cNvSpPr>
          <p:nvPr userDrawn="1"/>
        </p:nvSpPr>
        <p:spPr bwMode="auto">
          <a:xfrm>
            <a:off x="10854267" y="898526"/>
            <a:ext cx="76200" cy="79375"/>
          </a:xfrm>
          <a:custGeom>
            <a:avLst/>
            <a:gdLst/>
            <a:ahLst/>
            <a:cxnLst>
              <a:cxn ang="0">
                <a:pos x="9" y="0"/>
              </a:cxn>
              <a:cxn ang="0">
                <a:pos x="0" y="13"/>
              </a:cxn>
              <a:cxn ang="0">
                <a:pos x="9" y="25"/>
              </a:cxn>
              <a:cxn ang="0">
                <a:pos x="18" y="13"/>
              </a:cxn>
              <a:cxn ang="0">
                <a:pos x="9" y="0"/>
              </a:cxn>
            </a:cxnLst>
            <a:rect l="0" t="0" r="r" b="b"/>
            <a:pathLst>
              <a:path w="18" h="25">
                <a:moveTo>
                  <a:pt x="9" y="0"/>
                </a:moveTo>
                <a:cubicBezTo>
                  <a:pt x="4" y="0"/>
                  <a:pt x="0" y="5"/>
                  <a:pt x="0" y="13"/>
                </a:cubicBezTo>
                <a:cubicBezTo>
                  <a:pt x="0" y="20"/>
                  <a:pt x="4" y="25"/>
                  <a:pt x="9" y="25"/>
                </a:cubicBezTo>
                <a:cubicBezTo>
                  <a:pt x="15" y="25"/>
                  <a:pt x="18" y="20"/>
                  <a:pt x="18" y="13"/>
                </a:cubicBezTo>
                <a:cubicBezTo>
                  <a:pt x="18" y="5"/>
                  <a:pt x="14" y="0"/>
                  <a:pt x="9"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3" name="Freeform 29"/>
          <p:cNvSpPr>
            <a:spLocks/>
          </p:cNvSpPr>
          <p:nvPr userDrawn="1"/>
        </p:nvSpPr>
        <p:spPr bwMode="auto">
          <a:xfrm>
            <a:off x="11351685" y="1041400"/>
            <a:ext cx="4233" cy="1588"/>
          </a:xfrm>
          <a:custGeom>
            <a:avLst/>
            <a:gdLst/>
            <a:ahLst/>
            <a:cxnLst>
              <a:cxn ang="0">
                <a:pos x="1" y="0"/>
              </a:cxn>
              <a:cxn ang="0">
                <a:pos x="0" y="0"/>
              </a:cxn>
              <a:cxn ang="0">
                <a:pos x="1" y="0"/>
              </a:cxn>
            </a:cxnLst>
            <a:rect l="0" t="0" r="r" b="b"/>
            <a:pathLst>
              <a:path w="1">
                <a:moveTo>
                  <a:pt x="1" y="0"/>
                </a:moveTo>
                <a:cubicBezTo>
                  <a:pt x="1" y="0"/>
                  <a:pt x="1" y="0"/>
                  <a:pt x="0" y="0"/>
                </a:cubicBezTo>
                <a:cubicBezTo>
                  <a:pt x="0" y="0"/>
                  <a:pt x="0" y="0"/>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4" name="Freeform 30"/>
          <p:cNvSpPr>
            <a:spLocks/>
          </p:cNvSpPr>
          <p:nvPr userDrawn="1"/>
        </p:nvSpPr>
        <p:spPr bwMode="auto">
          <a:xfrm>
            <a:off x="11343218" y="1054100"/>
            <a:ext cx="4233" cy="1588"/>
          </a:xfrm>
          <a:custGeom>
            <a:avLst/>
            <a:gdLst/>
            <a:ahLst/>
            <a:cxnLst>
              <a:cxn ang="0">
                <a:pos x="1" y="0"/>
              </a:cxn>
              <a:cxn ang="0">
                <a:pos x="1" y="0"/>
              </a:cxn>
              <a:cxn ang="0">
                <a:pos x="0" y="0"/>
              </a:cxn>
              <a:cxn ang="0">
                <a:pos x="1" y="0"/>
              </a:cxn>
            </a:cxnLst>
            <a:rect l="0" t="0" r="r" b="b"/>
            <a:pathLst>
              <a:path w="1">
                <a:moveTo>
                  <a:pt x="1" y="0"/>
                </a:moveTo>
                <a:cubicBezTo>
                  <a:pt x="1" y="0"/>
                  <a:pt x="1" y="0"/>
                  <a:pt x="1" y="0"/>
                </a:cubicBezTo>
                <a:cubicBezTo>
                  <a:pt x="0" y="0"/>
                  <a:pt x="0" y="0"/>
                  <a:pt x="0" y="0"/>
                </a:cubicBezTo>
                <a:cubicBezTo>
                  <a:pt x="0" y="0"/>
                  <a:pt x="1" y="0"/>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5" name="Freeform 31"/>
          <p:cNvSpPr>
            <a:spLocks/>
          </p:cNvSpPr>
          <p:nvPr userDrawn="1"/>
        </p:nvSpPr>
        <p:spPr bwMode="auto">
          <a:xfrm>
            <a:off x="9444568" y="939800"/>
            <a:ext cx="55033" cy="38100"/>
          </a:xfrm>
          <a:custGeom>
            <a:avLst/>
            <a:gdLst/>
            <a:ahLst/>
            <a:cxnLst>
              <a:cxn ang="0">
                <a:pos x="7" y="0"/>
              </a:cxn>
              <a:cxn ang="0">
                <a:pos x="0" y="0"/>
              </a:cxn>
              <a:cxn ang="0">
                <a:pos x="0" y="12"/>
              </a:cxn>
              <a:cxn ang="0">
                <a:pos x="7" y="12"/>
              </a:cxn>
              <a:cxn ang="0">
                <a:pos x="13" y="6"/>
              </a:cxn>
              <a:cxn ang="0">
                <a:pos x="7" y="0"/>
              </a:cxn>
            </a:cxnLst>
            <a:rect l="0" t="0" r="r" b="b"/>
            <a:pathLst>
              <a:path w="13" h="12">
                <a:moveTo>
                  <a:pt x="7" y="0"/>
                </a:moveTo>
                <a:cubicBezTo>
                  <a:pt x="0" y="0"/>
                  <a:pt x="0" y="0"/>
                  <a:pt x="0" y="0"/>
                </a:cubicBezTo>
                <a:cubicBezTo>
                  <a:pt x="0" y="12"/>
                  <a:pt x="0" y="12"/>
                  <a:pt x="0" y="12"/>
                </a:cubicBezTo>
                <a:cubicBezTo>
                  <a:pt x="7" y="12"/>
                  <a:pt x="7" y="12"/>
                  <a:pt x="7" y="12"/>
                </a:cubicBezTo>
                <a:cubicBezTo>
                  <a:pt x="12" y="12"/>
                  <a:pt x="13" y="9"/>
                  <a:pt x="13" y="6"/>
                </a:cubicBezTo>
                <a:cubicBezTo>
                  <a:pt x="13" y="2"/>
                  <a:pt x="11" y="0"/>
                  <a:pt x="7"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6" name="Freeform 32"/>
          <p:cNvSpPr>
            <a:spLocks/>
          </p:cNvSpPr>
          <p:nvPr userDrawn="1"/>
        </p:nvSpPr>
        <p:spPr bwMode="auto">
          <a:xfrm>
            <a:off x="10735734" y="1054100"/>
            <a:ext cx="2117" cy="1588"/>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7" name="Oval 33"/>
          <p:cNvSpPr>
            <a:spLocks noChangeArrowheads="1"/>
          </p:cNvSpPr>
          <p:nvPr userDrawn="1"/>
        </p:nvSpPr>
        <p:spPr bwMode="auto">
          <a:xfrm>
            <a:off x="10993967" y="898526"/>
            <a:ext cx="76200" cy="79375"/>
          </a:xfrm>
          <a:prstGeom prst="ellipse">
            <a:avLst/>
          </a:pr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8" name="Freeform 34"/>
          <p:cNvSpPr>
            <a:spLocks/>
          </p:cNvSpPr>
          <p:nvPr userDrawn="1"/>
        </p:nvSpPr>
        <p:spPr bwMode="auto">
          <a:xfrm>
            <a:off x="10524068" y="1057275"/>
            <a:ext cx="4233" cy="1588"/>
          </a:xfrm>
          <a:custGeom>
            <a:avLst/>
            <a:gdLst/>
            <a:ahLst/>
            <a:cxnLst>
              <a:cxn ang="0">
                <a:pos x="0" y="0"/>
              </a:cxn>
              <a:cxn ang="0">
                <a:pos x="1" y="0"/>
              </a:cxn>
              <a:cxn ang="0">
                <a:pos x="0" y="0"/>
              </a:cxn>
            </a:cxnLst>
            <a:rect l="0" t="0" r="r" b="b"/>
            <a:pathLst>
              <a:path w="1">
                <a:moveTo>
                  <a:pt x="0" y="0"/>
                </a:moveTo>
                <a:cubicBezTo>
                  <a:pt x="0" y="0"/>
                  <a:pt x="1" y="0"/>
                  <a:pt x="1" y="0"/>
                </a:cubicBezTo>
                <a:cubicBezTo>
                  <a:pt x="0" y="0"/>
                  <a:pt x="0" y="0"/>
                  <a:pt x="0"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99" name="Freeform 35"/>
          <p:cNvSpPr>
            <a:spLocks/>
          </p:cNvSpPr>
          <p:nvPr userDrawn="1"/>
        </p:nvSpPr>
        <p:spPr bwMode="auto">
          <a:xfrm>
            <a:off x="10773834" y="1054100"/>
            <a:ext cx="4233" cy="1588"/>
          </a:xfrm>
          <a:custGeom>
            <a:avLst/>
            <a:gdLst/>
            <a:ahLst/>
            <a:cxnLst>
              <a:cxn ang="0">
                <a:pos x="0" y="0"/>
              </a:cxn>
              <a:cxn ang="0">
                <a:pos x="1" y="0"/>
              </a:cxn>
              <a:cxn ang="0">
                <a:pos x="0" y="0"/>
              </a:cxn>
            </a:cxnLst>
            <a:rect l="0" t="0" r="r" b="b"/>
            <a:pathLst>
              <a:path w="1">
                <a:moveTo>
                  <a:pt x="0" y="0"/>
                </a:moveTo>
                <a:cubicBezTo>
                  <a:pt x="0" y="0"/>
                  <a:pt x="1" y="0"/>
                  <a:pt x="1" y="0"/>
                </a:cubicBezTo>
                <a:cubicBezTo>
                  <a:pt x="1" y="0"/>
                  <a:pt x="0" y="0"/>
                  <a:pt x="0"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0" name="Freeform 36"/>
          <p:cNvSpPr>
            <a:spLocks/>
          </p:cNvSpPr>
          <p:nvPr userDrawn="1"/>
        </p:nvSpPr>
        <p:spPr bwMode="auto">
          <a:xfrm>
            <a:off x="10401301" y="1050926"/>
            <a:ext cx="4233" cy="3175"/>
          </a:xfrm>
          <a:custGeom>
            <a:avLst/>
            <a:gdLst/>
            <a:ahLst/>
            <a:cxnLst>
              <a:cxn ang="0">
                <a:pos x="1" y="0"/>
              </a:cxn>
              <a:cxn ang="0">
                <a:pos x="0" y="1"/>
              </a:cxn>
              <a:cxn ang="0">
                <a:pos x="1" y="0"/>
              </a:cxn>
            </a:cxnLst>
            <a:rect l="0" t="0" r="r" b="b"/>
            <a:pathLst>
              <a:path w="1" h="1">
                <a:moveTo>
                  <a:pt x="1" y="0"/>
                </a:moveTo>
                <a:cubicBezTo>
                  <a:pt x="1" y="0"/>
                  <a:pt x="0" y="0"/>
                  <a:pt x="0" y="1"/>
                </a:cubicBezTo>
                <a:cubicBezTo>
                  <a:pt x="0" y="1"/>
                  <a:pt x="1" y="1"/>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1" name="Freeform 37"/>
          <p:cNvSpPr>
            <a:spLocks/>
          </p:cNvSpPr>
          <p:nvPr userDrawn="1"/>
        </p:nvSpPr>
        <p:spPr bwMode="auto">
          <a:xfrm>
            <a:off x="10371668" y="1047750"/>
            <a:ext cx="4233" cy="1588"/>
          </a:xfrm>
          <a:custGeom>
            <a:avLst/>
            <a:gdLst/>
            <a:ahLst/>
            <a:cxnLst>
              <a:cxn ang="0">
                <a:pos x="0" y="0"/>
              </a:cxn>
              <a:cxn ang="0">
                <a:pos x="1" y="0"/>
              </a:cxn>
              <a:cxn ang="0">
                <a:pos x="0" y="0"/>
              </a:cxn>
            </a:cxnLst>
            <a:rect l="0" t="0" r="r" b="b"/>
            <a:pathLst>
              <a:path w="1">
                <a:moveTo>
                  <a:pt x="0" y="0"/>
                </a:moveTo>
                <a:cubicBezTo>
                  <a:pt x="0" y="0"/>
                  <a:pt x="1" y="0"/>
                  <a:pt x="1" y="0"/>
                </a:cubicBezTo>
                <a:cubicBezTo>
                  <a:pt x="0" y="0"/>
                  <a:pt x="0" y="0"/>
                  <a:pt x="0"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2" name="Freeform 38"/>
          <p:cNvSpPr>
            <a:spLocks/>
          </p:cNvSpPr>
          <p:nvPr userDrawn="1"/>
        </p:nvSpPr>
        <p:spPr bwMode="auto">
          <a:xfrm>
            <a:off x="9660467" y="1044575"/>
            <a:ext cx="8467" cy="3175"/>
          </a:xfrm>
          <a:custGeom>
            <a:avLst/>
            <a:gdLst/>
            <a:ahLst/>
            <a:cxnLst>
              <a:cxn ang="0">
                <a:pos x="1" y="0"/>
              </a:cxn>
              <a:cxn ang="0">
                <a:pos x="0" y="1"/>
              </a:cxn>
              <a:cxn ang="0">
                <a:pos x="1" y="0"/>
              </a:cxn>
            </a:cxnLst>
            <a:rect l="0" t="0" r="r" b="b"/>
            <a:pathLst>
              <a:path w="2" h="1">
                <a:moveTo>
                  <a:pt x="1" y="0"/>
                </a:moveTo>
                <a:cubicBezTo>
                  <a:pt x="1" y="0"/>
                  <a:pt x="0" y="0"/>
                  <a:pt x="0" y="1"/>
                </a:cubicBezTo>
                <a:cubicBezTo>
                  <a:pt x="1" y="1"/>
                  <a:pt x="2" y="0"/>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3" name="Freeform 39"/>
          <p:cNvSpPr>
            <a:spLocks/>
          </p:cNvSpPr>
          <p:nvPr userDrawn="1"/>
        </p:nvSpPr>
        <p:spPr bwMode="auto">
          <a:xfrm>
            <a:off x="9444567" y="901701"/>
            <a:ext cx="50800" cy="28575"/>
          </a:xfrm>
          <a:custGeom>
            <a:avLst/>
            <a:gdLst/>
            <a:ahLst/>
            <a:cxnLst>
              <a:cxn ang="0">
                <a:pos x="12" y="4"/>
              </a:cxn>
              <a:cxn ang="0">
                <a:pos x="7" y="0"/>
              </a:cxn>
              <a:cxn ang="0">
                <a:pos x="0" y="0"/>
              </a:cxn>
              <a:cxn ang="0">
                <a:pos x="0" y="9"/>
              </a:cxn>
              <a:cxn ang="0">
                <a:pos x="7" y="9"/>
              </a:cxn>
              <a:cxn ang="0">
                <a:pos x="12" y="4"/>
              </a:cxn>
            </a:cxnLst>
            <a:rect l="0" t="0" r="r" b="b"/>
            <a:pathLst>
              <a:path w="12" h="9">
                <a:moveTo>
                  <a:pt x="12" y="4"/>
                </a:moveTo>
                <a:cubicBezTo>
                  <a:pt x="12" y="2"/>
                  <a:pt x="10" y="0"/>
                  <a:pt x="7" y="0"/>
                </a:cubicBezTo>
                <a:cubicBezTo>
                  <a:pt x="0" y="0"/>
                  <a:pt x="0" y="0"/>
                  <a:pt x="0" y="0"/>
                </a:cubicBezTo>
                <a:cubicBezTo>
                  <a:pt x="0" y="9"/>
                  <a:pt x="0" y="9"/>
                  <a:pt x="0" y="9"/>
                </a:cubicBezTo>
                <a:cubicBezTo>
                  <a:pt x="7" y="9"/>
                  <a:pt x="7" y="9"/>
                  <a:pt x="7" y="9"/>
                </a:cubicBezTo>
                <a:cubicBezTo>
                  <a:pt x="11" y="9"/>
                  <a:pt x="12" y="7"/>
                  <a:pt x="12" y="4"/>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4" name="Freeform 40"/>
          <p:cNvSpPr>
            <a:spLocks noEditPoints="1"/>
          </p:cNvSpPr>
          <p:nvPr userDrawn="1"/>
        </p:nvSpPr>
        <p:spPr bwMode="auto">
          <a:xfrm>
            <a:off x="9427634" y="892175"/>
            <a:ext cx="88900" cy="95250"/>
          </a:xfrm>
          <a:custGeom>
            <a:avLst/>
            <a:gdLst/>
            <a:ahLst/>
            <a:cxnLst>
              <a:cxn ang="0">
                <a:pos x="15" y="13"/>
              </a:cxn>
              <a:cxn ang="0">
                <a:pos x="19" y="7"/>
              </a:cxn>
              <a:cxn ang="0">
                <a:pos x="11" y="0"/>
              </a:cxn>
              <a:cxn ang="0">
                <a:pos x="0" y="0"/>
              </a:cxn>
              <a:cxn ang="0">
                <a:pos x="0" y="30"/>
              </a:cxn>
              <a:cxn ang="0">
                <a:pos x="11" y="30"/>
              </a:cxn>
              <a:cxn ang="0">
                <a:pos x="21" y="21"/>
              </a:cxn>
              <a:cxn ang="0">
                <a:pos x="15" y="13"/>
              </a:cxn>
              <a:cxn ang="0">
                <a:pos x="4" y="3"/>
              </a:cxn>
              <a:cxn ang="0">
                <a:pos x="11" y="3"/>
              </a:cxn>
              <a:cxn ang="0">
                <a:pos x="16" y="7"/>
              </a:cxn>
              <a:cxn ang="0">
                <a:pos x="11" y="12"/>
              </a:cxn>
              <a:cxn ang="0">
                <a:pos x="4" y="12"/>
              </a:cxn>
              <a:cxn ang="0">
                <a:pos x="4" y="3"/>
              </a:cxn>
              <a:cxn ang="0">
                <a:pos x="11" y="27"/>
              </a:cxn>
              <a:cxn ang="0">
                <a:pos x="4" y="27"/>
              </a:cxn>
              <a:cxn ang="0">
                <a:pos x="4" y="15"/>
              </a:cxn>
              <a:cxn ang="0">
                <a:pos x="11" y="15"/>
              </a:cxn>
              <a:cxn ang="0">
                <a:pos x="17" y="21"/>
              </a:cxn>
              <a:cxn ang="0">
                <a:pos x="11" y="27"/>
              </a:cxn>
            </a:cxnLst>
            <a:rect l="0" t="0" r="r" b="b"/>
            <a:pathLst>
              <a:path w="21" h="30">
                <a:moveTo>
                  <a:pt x="15" y="13"/>
                </a:moveTo>
                <a:cubicBezTo>
                  <a:pt x="18" y="12"/>
                  <a:pt x="19" y="10"/>
                  <a:pt x="19" y="7"/>
                </a:cubicBezTo>
                <a:cubicBezTo>
                  <a:pt x="19" y="2"/>
                  <a:pt x="16" y="0"/>
                  <a:pt x="11" y="0"/>
                </a:cubicBezTo>
                <a:cubicBezTo>
                  <a:pt x="0" y="0"/>
                  <a:pt x="0" y="0"/>
                  <a:pt x="0" y="0"/>
                </a:cubicBezTo>
                <a:cubicBezTo>
                  <a:pt x="0" y="30"/>
                  <a:pt x="0" y="30"/>
                  <a:pt x="0" y="30"/>
                </a:cubicBezTo>
                <a:cubicBezTo>
                  <a:pt x="11" y="30"/>
                  <a:pt x="11" y="30"/>
                  <a:pt x="11" y="30"/>
                </a:cubicBezTo>
                <a:cubicBezTo>
                  <a:pt x="17" y="30"/>
                  <a:pt x="21" y="27"/>
                  <a:pt x="21" y="21"/>
                </a:cubicBezTo>
                <a:cubicBezTo>
                  <a:pt x="21" y="16"/>
                  <a:pt x="18" y="14"/>
                  <a:pt x="15" y="13"/>
                </a:cubicBezTo>
                <a:close/>
                <a:moveTo>
                  <a:pt x="4" y="3"/>
                </a:moveTo>
                <a:cubicBezTo>
                  <a:pt x="11" y="3"/>
                  <a:pt x="11" y="3"/>
                  <a:pt x="11" y="3"/>
                </a:cubicBezTo>
                <a:cubicBezTo>
                  <a:pt x="14" y="3"/>
                  <a:pt x="16" y="5"/>
                  <a:pt x="16" y="7"/>
                </a:cubicBezTo>
                <a:cubicBezTo>
                  <a:pt x="16" y="10"/>
                  <a:pt x="15" y="12"/>
                  <a:pt x="11" y="12"/>
                </a:cubicBezTo>
                <a:cubicBezTo>
                  <a:pt x="4" y="12"/>
                  <a:pt x="4" y="12"/>
                  <a:pt x="4" y="12"/>
                </a:cubicBezTo>
                <a:lnTo>
                  <a:pt x="4" y="3"/>
                </a:lnTo>
                <a:close/>
                <a:moveTo>
                  <a:pt x="11" y="27"/>
                </a:moveTo>
                <a:cubicBezTo>
                  <a:pt x="4" y="27"/>
                  <a:pt x="4" y="27"/>
                  <a:pt x="4" y="27"/>
                </a:cubicBezTo>
                <a:cubicBezTo>
                  <a:pt x="4" y="15"/>
                  <a:pt x="4" y="15"/>
                  <a:pt x="4" y="15"/>
                </a:cubicBezTo>
                <a:cubicBezTo>
                  <a:pt x="11" y="15"/>
                  <a:pt x="11" y="15"/>
                  <a:pt x="11" y="15"/>
                </a:cubicBezTo>
                <a:cubicBezTo>
                  <a:pt x="15" y="15"/>
                  <a:pt x="17" y="17"/>
                  <a:pt x="17" y="21"/>
                </a:cubicBezTo>
                <a:cubicBezTo>
                  <a:pt x="17" y="24"/>
                  <a:pt x="16" y="27"/>
                  <a:pt x="11" y="27"/>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5" name="Freeform 41"/>
          <p:cNvSpPr>
            <a:spLocks/>
          </p:cNvSpPr>
          <p:nvPr userDrawn="1"/>
        </p:nvSpPr>
        <p:spPr bwMode="auto">
          <a:xfrm>
            <a:off x="9558867" y="892175"/>
            <a:ext cx="93133" cy="95250"/>
          </a:xfrm>
          <a:custGeom>
            <a:avLst/>
            <a:gdLst/>
            <a:ahLst/>
            <a:cxnLst>
              <a:cxn ang="0">
                <a:pos x="18" y="17"/>
              </a:cxn>
              <a:cxn ang="0">
                <a:pos x="11" y="27"/>
              </a:cxn>
              <a:cxn ang="0">
                <a:pos x="4" y="17"/>
              </a:cxn>
              <a:cxn ang="0">
                <a:pos x="4" y="0"/>
              </a:cxn>
              <a:cxn ang="0">
                <a:pos x="0" y="0"/>
              </a:cxn>
              <a:cxn ang="0">
                <a:pos x="0" y="17"/>
              </a:cxn>
              <a:cxn ang="0">
                <a:pos x="11" y="30"/>
              </a:cxn>
              <a:cxn ang="0">
                <a:pos x="22" y="17"/>
              </a:cxn>
              <a:cxn ang="0">
                <a:pos x="22" y="0"/>
              </a:cxn>
              <a:cxn ang="0">
                <a:pos x="18" y="0"/>
              </a:cxn>
              <a:cxn ang="0">
                <a:pos x="18" y="17"/>
              </a:cxn>
            </a:cxnLst>
            <a:rect l="0" t="0" r="r" b="b"/>
            <a:pathLst>
              <a:path w="22" h="30">
                <a:moveTo>
                  <a:pt x="18" y="17"/>
                </a:moveTo>
                <a:cubicBezTo>
                  <a:pt x="18" y="24"/>
                  <a:pt x="16" y="27"/>
                  <a:pt x="11" y="27"/>
                </a:cubicBezTo>
                <a:cubicBezTo>
                  <a:pt x="6" y="27"/>
                  <a:pt x="4" y="24"/>
                  <a:pt x="4" y="17"/>
                </a:cubicBezTo>
                <a:cubicBezTo>
                  <a:pt x="4" y="0"/>
                  <a:pt x="4" y="0"/>
                  <a:pt x="4" y="0"/>
                </a:cubicBezTo>
                <a:cubicBezTo>
                  <a:pt x="0" y="0"/>
                  <a:pt x="0" y="0"/>
                  <a:pt x="0" y="0"/>
                </a:cubicBezTo>
                <a:cubicBezTo>
                  <a:pt x="0" y="17"/>
                  <a:pt x="0" y="17"/>
                  <a:pt x="0" y="17"/>
                </a:cubicBezTo>
                <a:cubicBezTo>
                  <a:pt x="0" y="26"/>
                  <a:pt x="4" y="30"/>
                  <a:pt x="11" y="30"/>
                </a:cubicBezTo>
                <a:cubicBezTo>
                  <a:pt x="18" y="30"/>
                  <a:pt x="22" y="26"/>
                  <a:pt x="22" y="17"/>
                </a:cubicBezTo>
                <a:cubicBezTo>
                  <a:pt x="22" y="0"/>
                  <a:pt x="22" y="0"/>
                  <a:pt x="22" y="0"/>
                </a:cubicBezTo>
                <a:cubicBezTo>
                  <a:pt x="18" y="0"/>
                  <a:pt x="18" y="0"/>
                  <a:pt x="18" y="0"/>
                </a:cubicBezTo>
                <a:lnTo>
                  <a:pt x="18" y="1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6" name="Freeform 42"/>
          <p:cNvSpPr>
            <a:spLocks/>
          </p:cNvSpPr>
          <p:nvPr userDrawn="1"/>
        </p:nvSpPr>
        <p:spPr bwMode="auto">
          <a:xfrm>
            <a:off x="9694333" y="889001"/>
            <a:ext cx="84667" cy="98425"/>
          </a:xfrm>
          <a:custGeom>
            <a:avLst/>
            <a:gdLst/>
            <a:ahLst/>
            <a:cxnLst>
              <a:cxn ang="0">
                <a:pos x="11" y="14"/>
              </a:cxn>
              <a:cxn ang="0">
                <a:pos x="4" y="8"/>
              </a:cxn>
              <a:cxn ang="0">
                <a:pos x="10" y="3"/>
              </a:cxn>
              <a:cxn ang="0">
                <a:pos x="17" y="6"/>
              </a:cxn>
              <a:cxn ang="0">
                <a:pos x="19" y="3"/>
              </a:cxn>
              <a:cxn ang="0">
                <a:pos x="10" y="0"/>
              </a:cxn>
              <a:cxn ang="0">
                <a:pos x="0" y="8"/>
              </a:cxn>
              <a:cxn ang="0">
                <a:pos x="9" y="17"/>
              </a:cxn>
              <a:cxn ang="0">
                <a:pos x="16" y="23"/>
              </a:cxn>
              <a:cxn ang="0">
                <a:pos x="10" y="28"/>
              </a:cxn>
              <a:cxn ang="0">
                <a:pos x="2" y="24"/>
              </a:cxn>
              <a:cxn ang="0">
                <a:pos x="0" y="27"/>
              </a:cxn>
              <a:cxn ang="0">
                <a:pos x="10" y="31"/>
              </a:cxn>
              <a:cxn ang="0">
                <a:pos x="20" y="23"/>
              </a:cxn>
              <a:cxn ang="0">
                <a:pos x="11" y="14"/>
              </a:cxn>
            </a:cxnLst>
            <a:rect l="0" t="0" r="r" b="b"/>
            <a:pathLst>
              <a:path w="20" h="31">
                <a:moveTo>
                  <a:pt x="11" y="14"/>
                </a:moveTo>
                <a:cubicBezTo>
                  <a:pt x="5" y="11"/>
                  <a:pt x="4" y="10"/>
                  <a:pt x="4" y="8"/>
                </a:cubicBezTo>
                <a:cubicBezTo>
                  <a:pt x="4" y="5"/>
                  <a:pt x="6" y="3"/>
                  <a:pt x="10" y="3"/>
                </a:cubicBezTo>
                <a:cubicBezTo>
                  <a:pt x="13" y="3"/>
                  <a:pt x="15" y="4"/>
                  <a:pt x="17" y="6"/>
                </a:cubicBezTo>
                <a:cubicBezTo>
                  <a:pt x="19" y="3"/>
                  <a:pt x="19" y="3"/>
                  <a:pt x="19" y="3"/>
                </a:cubicBezTo>
                <a:cubicBezTo>
                  <a:pt x="16" y="1"/>
                  <a:pt x="14" y="0"/>
                  <a:pt x="10" y="0"/>
                </a:cubicBezTo>
                <a:cubicBezTo>
                  <a:pt x="4" y="0"/>
                  <a:pt x="0" y="3"/>
                  <a:pt x="0" y="8"/>
                </a:cubicBezTo>
                <a:cubicBezTo>
                  <a:pt x="0" y="12"/>
                  <a:pt x="3" y="14"/>
                  <a:pt x="9" y="17"/>
                </a:cubicBezTo>
                <a:cubicBezTo>
                  <a:pt x="15" y="19"/>
                  <a:pt x="16" y="20"/>
                  <a:pt x="16" y="23"/>
                </a:cubicBezTo>
                <a:cubicBezTo>
                  <a:pt x="16" y="26"/>
                  <a:pt x="14" y="28"/>
                  <a:pt x="10" y="28"/>
                </a:cubicBezTo>
                <a:cubicBezTo>
                  <a:pt x="7" y="28"/>
                  <a:pt x="4" y="27"/>
                  <a:pt x="2" y="24"/>
                </a:cubicBezTo>
                <a:cubicBezTo>
                  <a:pt x="0" y="27"/>
                  <a:pt x="0" y="27"/>
                  <a:pt x="0" y="27"/>
                </a:cubicBezTo>
                <a:cubicBezTo>
                  <a:pt x="2" y="29"/>
                  <a:pt x="6" y="31"/>
                  <a:pt x="10" y="31"/>
                </a:cubicBezTo>
                <a:cubicBezTo>
                  <a:pt x="16" y="31"/>
                  <a:pt x="20" y="27"/>
                  <a:pt x="20" y="23"/>
                </a:cubicBezTo>
                <a:cubicBezTo>
                  <a:pt x="20" y="18"/>
                  <a:pt x="18" y="16"/>
                  <a:pt x="11" y="14"/>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7" name="Rectangle 43"/>
          <p:cNvSpPr>
            <a:spLocks noChangeArrowheads="1"/>
          </p:cNvSpPr>
          <p:nvPr userDrawn="1"/>
        </p:nvSpPr>
        <p:spPr bwMode="auto">
          <a:xfrm>
            <a:off x="9825567" y="892175"/>
            <a:ext cx="12700" cy="952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8" name="Freeform 44"/>
          <p:cNvSpPr>
            <a:spLocks/>
          </p:cNvSpPr>
          <p:nvPr userDrawn="1"/>
        </p:nvSpPr>
        <p:spPr bwMode="auto">
          <a:xfrm>
            <a:off x="9893301" y="892175"/>
            <a:ext cx="88900" cy="95250"/>
          </a:xfrm>
          <a:custGeom>
            <a:avLst/>
            <a:gdLst/>
            <a:ahLst/>
            <a:cxnLst>
              <a:cxn ang="0">
                <a:pos x="18" y="22"/>
              </a:cxn>
              <a:cxn ang="0">
                <a:pos x="18" y="24"/>
              </a:cxn>
              <a:cxn ang="0">
                <a:pos x="16" y="21"/>
              </a:cxn>
              <a:cxn ang="0">
                <a:pos x="3" y="0"/>
              </a:cxn>
              <a:cxn ang="0">
                <a:pos x="0" y="0"/>
              </a:cxn>
              <a:cxn ang="0">
                <a:pos x="0" y="30"/>
              </a:cxn>
              <a:cxn ang="0">
                <a:pos x="3" y="30"/>
              </a:cxn>
              <a:cxn ang="0">
                <a:pos x="3" y="7"/>
              </a:cxn>
              <a:cxn ang="0">
                <a:pos x="3" y="5"/>
              </a:cxn>
              <a:cxn ang="0">
                <a:pos x="5" y="9"/>
              </a:cxn>
              <a:cxn ang="0">
                <a:pos x="18" y="30"/>
              </a:cxn>
              <a:cxn ang="0">
                <a:pos x="21" y="30"/>
              </a:cxn>
              <a:cxn ang="0">
                <a:pos x="21" y="0"/>
              </a:cxn>
              <a:cxn ang="0">
                <a:pos x="18" y="0"/>
              </a:cxn>
              <a:cxn ang="0">
                <a:pos x="18" y="22"/>
              </a:cxn>
            </a:cxnLst>
            <a:rect l="0" t="0" r="r" b="b"/>
            <a:pathLst>
              <a:path w="21" h="30">
                <a:moveTo>
                  <a:pt x="18" y="22"/>
                </a:moveTo>
                <a:cubicBezTo>
                  <a:pt x="18" y="24"/>
                  <a:pt x="18" y="24"/>
                  <a:pt x="18" y="24"/>
                </a:cubicBezTo>
                <a:cubicBezTo>
                  <a:pt x="18" y="23"/>
                  <a:pt x="17" y="22"/>
                  <a:pt x="16" y="21"/>
                </a:cubicBezTo>
                <a:cubicBezTo>
                  <a:pt x="3" y="0"/>
                  <a:pt x="3" y="0"/>
                  <a:pt x="3" y="0"/>
                </a:cubicBezTo>
                <a:cubicBezTo>
                  <a:pt x="0" y="0"/>
                  <a:pt x="0" y="0"/>
                  <a:pt x="0" y="0"/>
                </a:cubicBezTo>
                <a:cubicBezTo>
                  <a:pt x="0" y="30"/>
                  <a:pt x="0" y="30"/>
                  <a:pt x="0" y="30"/>
                </a:cubicBezTo>
                <a:cubicBezTo>
                  <a:pt x="3" y="30"/>
                  <a:pt x="3" y="30"/>
                  <a:pt x="3" y="30"/>
                </a:cubicBezTo>
                <a:cubicBezTo>
                  <a:pt x="3" y="7"/>
                  <a:pt x="3" y="7"/>
                  <a:pt x="3" y="7"/>
                </a:cubicBezTo>
                <a:cubicBezTo>
                  <a:pt x="3" y="5"/>
                  <a:pt x="3" y="5"/>
                  <a:pt x="3" y="5"/>
                </a:cubicBezTo>
                <a:cubicBezTo>
                  <a:pt x="3" y="6"/>
                  <a:pt x="5" y="8"/>
                  <a:pt x="5" y="9"/>
                </a:cubicBezTo>
                <a:cubicBezTo>
                  <a:pt x="18" y="30"/>
                  <a:pt x="18" y="30"/>
                  <a:pt x="18" y="30"/>
                </a:cubicBezTo>
                <a:cubicBezTo>
                  <a:pt x="21" y="30"/>
                  <a:pt x="21" y="30"/>
                  <a:pt x="21" y="30"/>
                </a:cubicBezTo>
                <a:cubicBezTo>
                  <a:pt x="21" y="0"/>
                  <a:pt x="21" y="0"/>
                  <a:pt x="21" y="0"/>
                </a:cubicBezTo>
                <a:cubicBezTo>
                  <a:pt x="18" y="0"/>
                  <a:pt x="18" y="0"/>
                  <a:pt x="18" y="0"/>
                </a:cubicBezTo>
                <a:lnTo>
                  <a:pt x="18" y="22"/>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09" name="Freeform 45"/>
          <p:cNvSpPr>
            <a:spLocks/>
          </p:cNvSpPr>
          <p:nvPr userDrawn="1"/>
        </p:nvSpPr>
        <p:spPr bwMode="auto">
          <a:xfrm>
            <a:off x="10037234" y="892175"/>
            <a:ext cx="80433" cy="95250"/>
          </a:xfrm>
          <a:custGeom>
            <a:avLst/>
            <a:gdLst/>
            <a:ahLst/>
            <a:cxnLst>
              <a:cxn ang="0">
                <a:pos x="6" y="30"/>
              </a:cxn>
              <a:cxn ang="0">
                <a:pos x="24" y="30"/>
              </a:cxn>
              <a:cxn ang="0">
                <a:pos x="24" y="24"/>
              </a:cxn>
              <a:cxn ang="0">
                <a:pos x="6" y="24"/>
              </a:cxn>
              <a:cxn ang="0">
                <a:pos x="6" y="6"/>
              </a:cxn>
              <a:cxn ang="0">
                <a:pos x="36" y="6"/>
              </a:cxn>
              <a:cxn ang="0">
                <a:pos x="36" y="0"/>
              </a:cxn>
              <a:cxn ang="0">
                <a:pos x="0" y="0"/>
              </a:cxn>
              <a:cxn ang="0">
                <a:pos x="0" y="60"/>
              </a:cxn>
              <a:cxn ang="0">
                <a:pos x="38" y="60"/>
              </a:cxn>
              <a:cxn ang="0">
                <a:pos x="38" y="54"/>
              </a:cxn>
              <a:cxn ang="0">
                <a:pos x="6" y="54"/>
              </a:cxn>
              <a:cxn ang="0">
                <a:pos x="6" y="30"/>
              </a:cxn>
            </a:cxnLst>
            <a:rect l="0" t="0" r="r" b="b"/>
            <a:pathLst>
              <a:path w="38" h="60">
                <a:moveTo>
                  <a:pt x="6" y="30"/>
                </a:moveTo>
                <a:lnTo>
                  <a:pt x="24" y="30"/>
                </a:lnTo>
                <a:lnTo>
                  <a:pt x="24" y="24"/>
                </a:lnTo>
                <a:lnTo>
                  <a:pt x="6" y="24"/>
                </a:lnTo>
                <a:lnTo>
                  <a:pt x="6" y="6"/>
                </a:lnTo>
                <a:lnTo>
                  <a:pt x="36" y="6"/>
                </a:lnTo>
                <a:lnTo>
                  <a:pt x="36" y="0"/>
                </a:lnTo>
                <a:lnTo>
                  <a:pt x="0" y="0"/>
                </a:lnTo>
                <a:lnTo>
                  <a:pt x="0" y="60"/>
                </a:lnTo>
                <a:lnTo>
                  <a:pt x="38" y="60"/>
                </a:lnTo>
                <a:lnTo>
                  <a:pt x="38" y="54"/>
                </a:lnTo>
                <a:lnTo>
                  <a:pt x="6" y="54"/>
                </a:lnTo>
                <a:lnTo>
                  <a:pt x="6" y="3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0" name="Freeform 46"/>
          <p:cNvSpPr>
            <a:spLocks/>
          </p:cNvSpPr>
          <p:nvPr userDrawn="1"/>
        </p:nvSpPr>
        <p:spPr bwMode="auto">
          <a:xfrm>
            <a:off x="10147300" y="889001"/>
            <a:ext cx="84667" cy="98425"/>
          </a:xfrm>
          <a:custGeom>
            <a:avLst/>
            <a:gdLst/>
            <a:ahLst/>
            <a:cxnLst>
              <a:cxn ang="0">
                <a:pos x="11" y="14"/>
              </a:cxn>
              <a:cxn ang="0">
                <a:pos x="4" y="8"/>
              </a:cxn>
              <a:cxn ang="0">
                <a:pos x="10" y="3"/>
              </a:cxn>
              <a:cxn ang="0">
                <a:pos x="17" y="6"/>
              </a:cxn>
              <a:cxn ang="0">
                <a:pos x="19" y="3"/>
              </a:cxn>
              <a:cxn ang="0">
                <a:pos x="10" y="0"/>
              </a:cxn>
              <a:cxn ang="0">
                <a:pos x="1" y="8"/>
              </a:cxn>
              <a:cxn ang="0">
                <a:pos x="9" y="17"/>
              </a:cxn>
              <a:cxn ang="0">
                <a:pos x="17" y="23"/>
              </a:cxn>
              <a:cxn ang="0">
                <a:pos x="10" y="28"/>
              </a:cxn>
              <a:cxn ang="0">
                <a:pos x="2" y="24"/>
              </a:cxn>
              <a:cxn ang="0">
                <a:pos x="0" y="27"/>
              </a:cxn>
              <a:cxn ang="0">
                <a:pos x="10" y="31"/>
              </a:cxn>
              <a:cxn ang="0">
                <a:pos x="20" y="23"/>
              </a:cxn>
              <a:cxn ang="0">
                <a:pos x="11" y="14"/>
              </a:cxn>
            </a:cxnLst>
            <a:rect l="0" t="0" r="r" b="b"/>
            <a:pathLst>
              <a:path w="20" h="31">
                <a:moveTo>
                  <a:pt x="11" y="14"/>
                </a:moveTo>
                <a:cubicBezTo>
                  <a:pt x="5" y="11"/>
                  <a:pt x="4" y="10"/>
                  <a:pt x="4" y="8"/>
                </a:cubicBezTo>
                <a:cubicBezTo>
                  <a:pt x="4" y="5"/>
                  <a:pt x="6" y="3"/>
                  <a:pt x="10" y="3"/>
                </a:cubicBezTo>
                <a:cubicBezTo>
                  <a:pt x="13" y="3"/>
                  <a:pt x="15" y="4"/>
                  <a:pt x="17" y="6"/>
                </a:cubicBezTo>
                <a:cubicBezTo>
                  <a:pt x="19" y="3"/>
                  <a:pt x="19" y="3"/>
                  <a:pt x="19" y="3"/>
                </a:cubicBezTo>
                <a:cubicBezTo>
                  <a:pt x="17" y="1"/>
                  <a:pt x="14" y="0"/>
                  <a:pt x="10" y="0"/>
                </a:cubicBezTo>
                <a:cubicBezTo>
                  <a:pt x="5" y="0"/>
                  <a:pt x="1" y="3"/>
                  <a:pt x="1" y="8"/>
                </a:cubicBezTo>
                <a:cubicBezTo>
                  <a:pt x="1" y="12"/>
                  <a:pt x="3" y="14"/>
                  <a:pt x="9" y="17"/>
                </a:cubicBezTo>
                <a:cubicBezTo>
                  <a:pt x="15" y="19"/>
                  <a:pt x="17" y="20"/>
                  <a:pt x="17" y="23"/>
                </a:cubicBezTo>
                <a:cubicBezTo>
                  <a:pt x="17" y="26"/>
                  <a:pt x="14" y="28"/>
                  <a:pt x="10" y="28"/>
                </a:cubicBezTo>
                <a:cubicBezTo>
                  <a:pt x="7" y="28"/>
                  <a:pt x="4" y="27"/>
                  <a:pt x="2" y="24"/>
                </a:cubicBezTo>
                <a:cubicBezTo>
                  <a:pt x="0" y="27"/>
                  <a:pt x="0" y="27"/>
                  <a:pt x="0" y="27"/>
                </a:cubicBezTo>
                <a:cubicBezTo>
                  <a:pt x="2" y="29"/>
                  <a:pt x="6" y="31"/>
                  <a:pt x="10" y="31"/>
                </a:cubicBezTo>
                <a:cubicBezTo>
                  <a:pt x="16" y="31"/>
                  <a:pt x="20" y="27"/>
                  <a:pt x="20" y="23"/>
                </a:cubicBezTo>
                <a:cubicBezTo>
                  <a:pt x="20" y="18"/>
                  <a:pt x="18" y="16"/>
                  <a:pt x="11" y="14"/>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1" name="Freeform 47"/>
          <p:cNvSpPr>
            <a:spLocks/>
          </p:cNvSpPr>
          <p:nvPr userDrawn="1"/>
        </p:nvSpPr>
        <p:spPr bwMode="auto">
          <a:xfrm>
            <a:off x="10265833" y="889001"/>
            <a:ext cx="84667" cy="98425"/>
          </a:xfrm>
          <a:custGeom>
            <a:avLst/>
            <a:gdLst/>
            <a:ahLst/>
            <a:cxnLst>
              <a:cxn ang="0">
                <a:pos x="11" y="14"/>
              </a:cxn>
              <a:cxn ang="0">
                <a:pos x="4" y="8"/>
              </a:cxn>
              <a:cxn ang="0">
                <a:pos x="10" y="3"/>
              </a:cxn>
              <a:cxn ang="0">
                <a:pos x="17" y="6"/>
              </a:cxn>
              <a:cxn ang="0">
                <a:pos x="19" y="3"/>
              </a:cxn>
              <a:cxn ang="0">
                <a:pos x="10" y="0"/>
              </a:cxn>
              <a:cxn ang="0">
                <a:pos x="1" y="8"/>
              </a:cxn>
              <a:cxn ang="0">
                <a:pos x="9" y="17"/>
              </a:cxn>
              <a:cxn ang="0">
                <a:pos x="16" y="23"/>
              </a:cxn>
              <a:cxn ang="0">
                <a:pos x="10" y="28"/>
              </a:cxn>
              <a:cxn ang="0">
                <a:pos x="2" y="24"/>
              </a:cxn>
              <a:cxn ang="0">
                <a:pos x="0" y="27"/>
              </a:cxn>
              <a:cxn ang="0">
                <a:pos x="10" y="31"/>
              </a:cxn>
              <a:cxn ang="0">
                <a:pos x="20" y="23"/>
              </a:cxn>
              <a:cxn ang="0">
                <a:pos x="11" y="14"/>
              </a:cxn>
            </a:cxnLst>
            <a:rect l="0" t="0" r="r" b="b"/>
            <a:pathLst>
              <a:path w="20" h="31">
                <a:moveTo>
                  <a:pt x="11" y="14"/>
                </a:moveTo>
                <a:cubicBezTo>
                  <a:pt x="5" y="11"/>
                  <a:pt x="4" y="10"/>
                  <a:pt x="4" y="8"/>
                </a:cubicBezTo>
                <a:cubicBezTo>
                  <a:pt x="4" y="5"/>
                  <a:pt x="6" y="3"/>
                  <a:pt x="10" y="3"/>
                </a:cubicBezTo>
                <a:cubicBezTo>
                  <a:pt x="13" y="3"/>
                  <a:pt x="15" y="4"/>
                  <a:pt x="17" y="6"/>
                </a:cubicBezTo>
                <a:cubicBezTo>
                  <a:pt x="19" y="3"/>
                  <a:pt x="19" y="3"/>
                  <a:pt x="19" y="3"/>
                </a:cubicBezTo>
                <a:cubicBezTo>
                  <a:pt x="17" y="1"/>
                  <a:pt x="14" y="0"/>
                  <a:pt x="10" y="0"/>
                </a:cubicBezTo>
                <a:cubicBezTo>
                  <a:pt x="4" y="0"/>
                  <a:pt x="1" y="3"/>
                  <a:pt x="1" y="8"/>
                </a:cubicBezTo>
                <a:cubicBezTo>
                  <a:pt x="1" y="12"/>
                  <a:pt x="3" y="14"/>
                  <a:pt x="9" y="17"/>
                </a:cubicBezTo>
                <a:cubicBezTo>
                  <a:pt x="15" y="19"/>
                  <a:pt x="16" y="20"/>
                  <a:pt x="16" y="23"/>
                </a:cubicBezTo>
                <a:cubicBezTo>
                  <a:pt x="16" y="26"/>
                  <a:pt x="14" y="28"/>
                  <a:pt x="10" y="28"/>
                </a:cubicBezTo>
                <a:cubicBezTo>
                  <a:pt x="7" y="28"/>
                  <a:pt x="4" y="27"/>
                  <a:pt x="2" y="24"/>
                </a:cubicBezTo>
                <a:cubicBezTo>
                  <a:pt x="0" y="27"/>
                  <a:pt x="0" y="27"/>
                  <a:pt x="0" y="27"/>
                </a:cubicBezTo>
                <a:cubicBezTo>
                  <a:pt x="2" y="29"/>
                  <a:pt x="6" y="31"/>
                  <a:pt x="10" y="31"/>
                </a:cubicBezTo>
                <a:cubicBezTo>
                  <a:pt x="16" y="31"/>
                  <a:pt x="20" y="27"/>
                  <a:pt x="20" y="23"/>
                </a:cubicBezTo>
                <a:cubicBezTo>
                  <a:pt x="20" y="18"/>
                  <a:pt x="18" y="16"/>
                  <a:pt x="11" y="14"/>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2" name="Freeform 48"/>
          <p:cNvSpPr>
            <a:spLocks/>
          </p:cNvSpPr>
          <p:nvPr userDrawn="1"/>
        </p:nvSpPr>
        <p:spPr bwMode="auto">
          <a:xfrm>
            <a:off x="10452100" y="889001"/>
            <a:ext cx="84667" cy="98425"/>
          </a:xfrm>
          <a:custGeom>
            <a:avLst/>
            <a:gdLst/>
            <a:ahLst/>
            <a:cxnLst>
              <a:cxn ang="0">
                <a:pos x="12" y="14"/>
              </a:cxn>
              <a:cxn ang="0">
                <a:pos x="4" y="8"/>
              </a:cxn>
              <a:cxn ang="0">
                <a:pos x="10" y="3"/>
              </a:cxn>
              <a:cxn ang="0">
                <a:pos x="17" y="6"/>
              </a:cxn>
              <a:cxn ang="0">
                <a:pos x="20" y="3"/>
              </a:cxn>
              <a:cxn ang="0">
                <a:pos x="11" y="0"/>
              </a:cxn>
              <a:cxn ang="0">
                <a:pos x="1" y="8"/>
              </a:cxn>
              <a:cxn ang="0">
                <a:pos x="10" y="17"/>
              </a:cxn>
              <a:cxn ang="0">
                <a:pos x="17" y="23"/>
              </a:cxn>
              <a:cxn ang="0">
                <a:pos x="10" y="28"/>
              </a:cxn>
              <a:cxn ang="0">
                <a:pos x="3" y="24"/>
              </a:cxn>
              <a:cxn ang="0">
                <a:pos x="0" y="27"/>
              </a:cxn>
              <a:cxn ang="0">
                <a:pos x="10" y="31"/>
              </a:cxn>
              <a:cxn ang="0">
                <a:pos x="20" y="23"/>
              </a:cxn>
              <a:cxn ang="0">
                <a:pos x="12" y="14"/>
              </a:cxn>
            </a:cxnLst>
            <a:rect l="0" t="0" r="r" b="b"/>
            <a:pathLst>
              <a:path w="20" h="31">
                <a:moveTo>
                  <a:pt x="12" y="14"/>
                </a:moveTo>
                <a:cubicBezTo>
                  <a:pt x="6" y="11"/>
                  <a:pt x="4" y="10"/>
                  <a:pt x="4" y="8"/>
                </a:cubicBezTo>
                <a:cubicBezTo>
                  <a:pt x="4" y="5"/>
                  <a:pt x="6" y="3"/>
                  <a:pt x="10" y="3"/>
                </a:cubicBezTo>
                <a:cubicBezTo>
                  <a:pt x="13" y="3"/>
                  <a:pt x="15" y="4"/>
                  <a:pt x="17" y="6"/>
                </a:cubicBezTo>
                <a:cubicBezTo>
                  <a:pt x="20" y="3"/>
                  <a:pt x="20" y="3"/>
                  <a:pt x="20" y="3"/>
                </a:cubicBezTo>
                <a:cubicBezTo>
                  <a:pt x="17" y="1"/>
                  <a:pt x="15" y="0"/>
                  <a:pt x="11" y="0"/>
                </a:cubicBezTo>
                <a:cubicBezTo>
                  <a:pt x="5" y="0"/>
                  <a:pt x="1" y="3"/>
                  <a:pt x="1" y="8"/>
                </a:cubicBezTo>
                <a:cubicBezTo>
                  <a:pt x="1" y="12"/>
                  <a:pt x="3" y="14"/>
                  <a:pt x="10" y="17"/>
                </a:cubicBezTo>
                <a:cubicBezTo>
                  <a:pt x="15" y="19"/>
                  <a:pt x="17" y="20"/>
                  <a:pt x="17" y="23"/>
                </a:cubicBezTo>
                <a:cubicBezTo>
                  <a:pt x="17" y="26"/>
                  <a:pt x="14" y="28"/>
                  <a:pt x="10" y="28"/>
                </a:cubicBezTo>
                <a:cubicBezTo>
                  <a:pt x="7" y="28"/>
                  <a:pt x="5" y="27"/>
                  <a:pt x="3" y="24"/>
                </a:cubicBezTo>
                <a:cubicBezTo>
                  <a:pt x="0" y="27"/>
                  <a:pt x="0" y="27"/>
                  <a:pt x="0" y="27"/>
                </a:cubicBezTo>
                <a:cubicBezTo>
                  <a:pt x="3" y="29"/>
                  <a:pt x="6" y="31"/>
                  <a:pt x="10" y="31"/>
                </a:cubicBezTo>
                <a:cubicBezTo>
                  <a:pt x="17" y="31"/>
                  <a:pt x="20" y="27"/>
                  <a:pt x="20" y="23"/>
                </a:cubicBezTo>
                <a:cubicBezTo>
                  <a:pt x="20" y="18"/>
                  <a:pt x="18" y="16"/>
                  <a:pt x="12" y="14"/>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3" name="Freeform 49"/>
          <p:cNvSpPr>
            <a:spLocks/>
          </p:cNvSpPr>
          <p:nvPr userDrawn="1"/>
        </p:nvSpPr>
        <p:spPr bwMode="auto">
          <a:xfrm>
            <a:off x="10574867" y="889001"/>
            <a:ext cx="93133" cy="98425"/>
          </a:xfrm>
          <a:custGeom>
            <a:avLst/>
            <a:gdLst/>
            <a:ahLst/>
            <a:cxnLst>
              <a:cxn ang="0">
                <a:pos x="12" y="28"/>
              </a:cxn>
              <a:cxn ang="0">
                <a:pos x="3" y="16"/>
              </a:cxn>
              <a:cxn ang="0">
                <a:pos x="12" y="3"/>
              </a:cxn>
              <a:cxn ang="0">
                <a:pos x="19" y="7"/>
              </a:cxn>
              <a:cxn ang="0">
                <a:pos x="22" y="5"/>
              </a:cxn>
              <a:cxn ang="0">
                <a:pos x="12" y="0"/>
              </a:cxn>
              <a:cxn ang="0">
                <a:pos x="0" y="16"/>
              </a:cxn>
              <a:cxn ang="0">
                <a:pos x="12" y="31"/>
              </a:cxn>
              <a:cxn ang="0">
                <a:pos x="22" y="26"/>
              </a:cxn>
              <a:cxn ang="0">
                <a:pos x="20" y="24"/>
              </a:cxn>
              <a:cxn ang="0">
                <a:pos x="12" y="28"/>
              </a:cxn>
            </a:cxnLst>
            <a:rect l="0" t="0" r="r" b="b"/>
            <a:pathLst>
              <a:path w="22" h="31">
                <a:moveTo>
                  <a:pt x="12" y="28"/>
                </a:moveTo>
                <a:cubicBezTo>
                  <a:pt x="7" y="28"/>
                  <a:pt x="3" y="23"/>
                  <a:pt x="3" y="16"/>
                </a:cubicBezTo>
                <a:cubicBezTo>
                  <a:pt x="3" y="8"/>
                  <a:pt x="7" y="3"/>
                  <a:pt x="12" y="3"/>
                </a:cubicBezTo>
                <a:cubicBezTo>
                  <a:pt x="15" y="3"/>
                  <a:pt x="17" y="4"/>
                  <a:pt x="19" y="7"/>
                </a:cubicBezTo>
                <a:cubicBezTo>
                  <a:pt x="22" y="5"/>
                  <a:pt x="22" y="5"/>
                  <a:pt x="22" y="5"/>
                </a:cubicBezTo>
                <a:cubicBezTo>
                  <a:pt x="19" y="2"/>
                  <a:pt x="16" y="0"/>
                  <a:pt x="12" y="0"/>
                </a:cubicBezTo>
                <a:cubicBezTo>
                  <a:pt x="5" y="0"/>
                  <a:pt x="0" y="7"/>
                  <a:pt x="0" y="16"/>
                </a:cubicBezTo>
                <a:cubicBezTo>
                  <a:pt x="0" y="24"/>
                  <a:pt x="5" y="31"/>
                  <a:pt x="12" y="31"/>
                </a:cubicBezTo>
                <a:cubicBezTo>
                  <a:pt x="17" y="31"/>
                  <a:pt x="20" y="29"/>
                  <a:pt x="22" y="26"/>
                </a:cubicBezTo>
                <a:cubicBezTo>
                  <a:pt x="20" y="24"/>
                  <a:pt x="20" y="24"/>
                  <a:pt x="20" y="24"/>
                </a:cubicBezTo>
                <a:cubicBezTo>
                  <a:pt x="18" y="27"/>
                  <a:pt x="16" y="28"/>
                  <a:pt x="12" y="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4" name="Freeform 50"/>
          <p:cNvSpPr>
            <a:spLocks/>
          </p:cNvSpPr>
          <p:nvPr userDrawn="1"/>
        </p:nvSpPr>
        <p:spPr bwMode="auto">
          <a:xfrm>
            <a:off x="10706100" y="892175"/>
            <a:ext cx="93133" cy="95250"/>
          </a:xfrm>
          <a:custGeom>
            <a:avLst/>
            <a:gdLst/>
            <a:ahLst/>
            <a:cxnLst>
              <a:cxn ang="0">
                <a:pos x="38" y="24"/>
              </a:cxn>
              <a:cxn ang="0">
                <a:pos x="8" y="24"/>
              </a:cxn>
              <a:cxn ang="0">
                <a:pos x="8" y="0"/>
              </a:cxn>
              <a:cxn ang="0">
                <a:pos x="0" y="0"/>
              </a:cxn>
              <a:cxn ang="0">
                <a:pos x="0" y="60"/>
              </a:cxn>
              <a:cxn ang="0">
                <a:pos x="8" y="60"/>
              </a:cxn>
              <a:cxn ang="0">
                <a:pos x="8" y="30"/>
              </a:cxn>
              <a:cxn ang="0">
                <a:pos x="38" y="30"/>
              </a:cxn>
              <a:cxn ang="0">
                <a:pos x="38" y="60"/>
              </a:cxn>
              <a:cxn ang="0">
                <a:pos x="44" y="60"/>
              </a:cxn>
              <a:cxn ang="0">
                <a:pos x="44" y="0"/>
              </a:cxn>
              <a:cxn ang="0">
                <a:pos x="38" y="0"/>
              </a:cxn>
              <a:cxn ang="0">
                <a:pos x="38" y="24"/>
              </a:cxn>
            </a:cxnLst>
            <a:rect l="0" t="0" r="r" b="b"/>
            <a:pathLst>
              <a:path w="44" h="60">
                <a:moveTo>
                  <a:pt x="38" y="24"/>
                </a:moveTo>
                <a:lnTo>
                  <a:pt x="8" y="24"/>
                </a:lnTo>
                <a:lnTo>
                  <a:pt x="8" y="0"/>
                </a:lnTo>
                <a:lnTo>
                  <a:pt x="0" y="0"/>
                </a:lnTo>
                <a:lnTo>
                  <a:pt x="0" y="60"/>
                </a:lnTo>
                <a:lnTo>
                  <a:pt x="8" y="60"/>
                </a:lnTo>
                <a:lnTo>
                  <a:pt x="8" y="30"/>
                </a:lnTo>
                <a:lnTo>
                  <a:pt x="38" y="30"/>
                </a:lnTo>
                <a:lnTo>
                  <a:pt x="38" y="60"/>
                </a:lnTo>
                <a:lnTo>
                  <a:pt x="44" y="60"/>
                </a:lnTo>
                <a:lnTo>
                  <a:pt x="44" y="0"/>
                </a:lnTo>
                <a:lnTo>
                  <a:pt x="38" y="0"/>
                </a:lnTo>
                <a:lnTo>
                  <a:pt x="38" y="2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5" name="Freeform 51"/>
          <p:cNvSpPr>
            <a:spLocks noEditPoints="1"/>
          </p:cNvSpPr>
          <p:nvPr userDrawn="1"/>
        </p:nvSpPr>
        <p:spPr bwMode="auto">
          <a:xfrm>
            <a:off x="10841568" y="889001"/>
            <a:ext cx="105833" cy="98425"/>
          </a:xfrm>
          <a:custGeom>
            <a:avLst/>
            <a:gdLst/>
            <a:ahLst/>
            <a:cxnLst>
              <a:cxn ang="0">
                <a:pos x="12" y="0"/>
              </a:cxn>
              <a:cxn ang="0">
                <a:pos x="0" y="16"/>
              </a:cxn>
              <a:cxn ang="0">
                <a:pos x="12" y="31"/>
              </a:cxn>
              <a:cxn ang="0">
                <a:pos x="25" y="16"/>
              </a:cxn>
              <a:cxn ang="0">
                <a:pos x="12" y="0"/>
              </a:cxn>
              <a:cxn ang="0">
                <a:pos x="12" y="28"/>
              </a:cxn>
              <a:cxn ang="0">
                <a:pos x="3" y="16"/>
              </a:cxn>
              <a:cxn ang="0">
                <a:pos x="12" y="3"/>
              </a:cxn>
              <a:cxn ang="0">
                <a:pos x="21" y="16"/>
              </a:cxn>
              <a:cxn ang="0">
                <a:pos x="12" y="28"/>
              </a:cxn>
            </a:cxnLst>
            <a:rect l="0" t="0" r="r" b="b"/>
            <a:pathLst>
              <a:path w="25" h="31">
                <a:moveTo>
                  <a:pt x="12" y="0"/>
                </a:moveTo>
                <a:cubicBezTo>
                  <a:pt x="5" y="0"/>
                  <a:pt x="0" y="7"/>
                  <a:pt x="0" y="16"/>
                </a:cubicBezTo>
                <a:cubicBezTo>
                  <a:pt x="0" y="25"/>
                  <a:pt x="5" y="31"/>
                  <a:pt x="12" y="31"/>
                </a:cubicBezTo>
                <a:cubicBezTo>
                  <a:pt x="20" y="31"/>
                  <a:pt x="25" y="25"/>
                  <a:pt x="25" y="16"/>
                </a:cubicBezTo>
                <a:cubicBezTo>
                  <a:pt x="25" y="7"/>
                  <a:pt x="20" y="0"/>
                  <a:pt x="12" y="0"/>
                </a:cubicBezTo>
                <a:close/>
                <a:moveTo>
                  <a:pt x="12" y="28"/>
                </a:moveTo>
                <a:cubicBezTo>
                  <a:pt x="7" y="28"/>
                  <a:pt x="3" y="23"/>
                  <a:pt x="3" y="16"/>
                </a:cubicBezTo>
                <a:cubicBezTo>
                  <a:pt x="3" y="8"/>
                  <a:pt x="7" y="3"/>
                  <a:pt x="12" y="3"/>
                </a:cubicBezTo>
                <a:cubicBezTo>
                  <a:pt x="17" y="3"/>
                  <a:pt x="21" y="8"/>
                  <a:pt x="21" y="16"/>
                </a:cubicBezTo>
                <a:cubicBezTo>
                  <a:pt x="21" y="23"/>
                  <a:pt x="18" y="28"/>
                  <a:pt x="12" y="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6" name="Freeform 52"/>
          <p:cNvSpPr>
            <a:spLocks noEditPoints="1"/>
          </p:cNvSpPr>
          <p:nvPr userDrawn="1"/>
        </p:nvSpPr>
        <p:spPr bwMode="auto">
          <a:xfrm>
            <a:off x="10981268" y="889001"/>
            <a:ext cx="105833" cy="98425"/>
          </a:xfrm>
          <a:custGeom>
            <a:avLst/>
            <a:gdLst/>
            <a:ahLst/>
            <a:cxnLst>
              <a:cxn ang="0">
                <a:pos x="12" y="0"/>
              </a:cxn>
              <a:cxn ang="0">
                <a:pos x="0" y="16"/>
              </a:cxn>
              <a:cxn ang="0">
                <a:pos x="12" y="31"/>
              </a:cxn>
              <a:cxn ang="0">
                <a:pos x="25" y="16"/>
              </a:cxn>
              <a:cxn ang="0">
                <a:pos x="12" y="0"/>
              </a:cxn>
              <a:cxn ang="0">
                <a:pos x="12" y="28"/>
              </a:cxn>
              <a:cxn ang="0">
                <a:pos x="3" y="16"/>
              </a:cxn>
              <a:cxn ang="0">
                <a:pos x="12" y="3"/>
              </a:cxn>
              <a:cxn ang="0">
                <a:pos x="21" y="16"/>
              </a:cxn>
              <a:cxn ang="0">
                <a:pos x="12" y="28"/>
              </a:cxn>
            </a:cxnLst>
            <a:rect l="0" t="0" r="r" b="b"/>
            <a:pathLst>
              <a:path w="25" h="31">
                <a:moveTo>
                  <a:pt x="12" y="0"/>
                </a:moveTo>
                <a:cubicBezTo>
                  <a:pt x="5" y="0"/>
                  <a:pt x="0" y="7"/>
                  <a:pt x="0" y="16"/>
                </a:cubicBezTo>
                <a:cubicBezTo>
                  <a:pt x="0" y="25"/>
                  <a:pt x="5" y="31"/>
                  <a:pt x="12" y="31"/>
                </a:cubicBezTo>
                <a:cubicBezTo>
                  <a:pt x="20" y="31"/>
                  <a:pt x="25" y="25"/>
                  <a:pt x="25" y="16"/>
                </a:cubicBezTo>
                <a:cubicBezTo>
                  <a:pt x="25" y="7"/>
                  <a:pt x="20" y="0"/>
                  <a:pt x="12" y="0"/>
                </a:cubicBezTo>
                <a:close/>
                <a:moveTo>
                  <a:pt x="12" y="28"/>
                </a:moveTo>
                <a:cubicBezTo>
                  <a:pt x="7" y="28"/>
                  <a:pt x="3" y="23"/>
                  <a:pt x="3" y="16"/>
                </a:cubicBezTo>
                <a:cubicBezTo>
                  <a:pt x="3" y="8"/>
                  <a:pt x="7" y="3"/>
                  <a:pt x="12" y="3"/>
                </a:cubicBezTo>
                <a:cubicBezTo>
                  <a:pt x="17" y="3"/>
                  <a:pt x="21" y="8"/>
                  <a:pt x="21" y="16"/>
                </a:cubicBezTo>
                <a:cubicBezTo>
                  <a:pt x="21" y="23"/>
                  <a:pt x="17" y="28"/>
                  <a:pt x="12" y="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7" name="Freeform 53"/>
          <p:cNvSpPr>
            <a:spLocks/>
          </p:cNvSpPr>
          <p:nvPr userDrawn="1"/>
        </p:nvSpPr>
        <p:spPr bwMode="auto">
          <a:xfrm>
            <a:off x="11129434" y="892175"/>
            <a:ext cx="78317" cy="95250"/>
          </a:xfrm>
          <a:custGeom>
            <a:avLst/>
            <a:gdLst/>
            <a:ahLst/>
            <a:cxnLst>
              <a:cxn ang="0">
                <a:pos x="6" y="0"/>
              </a:cxn>
              <a:cxn ang="0">
                <a:pos x="0" y="0"/>
              </a:cxn>
              <a:cxn ang="0">
                <a:pos x="0" y="60"/>
              </a:cxn>
              <a:cxn ang="0">
                <a:pos x="37" y="60"/>
              </a:cxn>
              <a:cxn ang="0">
                <a:pos x="37" y="54"/>
              </a:cxn>
              <a:cxn ang="0">
                <a:pos x="6" y="54"/>
              </a:cxn>
              <a:cxn ang="0">
                <a:pos x="6" y="0"/>
              </a:cxn>
            </a:cxnLst>
            <a:rect l="0" t="0" r="r" b="b"/>
            <a:pathLst>
              <a:path w="37" h="60">
                <a:moveTo>
                  <a:pt x="6" y="0"/>
                </a:moveTo>
                <a:lnTo>
                  <a:pt x="0" y="0"/>
                </a:lnTo>
                <a:lnTo>
                  <a:pt x="0" y="60"/>
                </a:lnTo>
                <a:lnTo>
                  <a:pt x="37" y="60"/>
                </a:lnTo>
                <a:lnTo>
                  <a:pt x="37" y="54"/>
                </a:lnTo>
                <a:lnTo>
                  <a:pt x="6" y="54"/>
                </a:lnTo>
                <a:lnTo>
                  <a:pt x="6"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8" name="Freeform 54"/>
          <p:cNvSpPr>
            <a:spLocks/>
          </p:cNvSpPr>
          <p:nvPr userDrawn="1"/>
        </p:nvSpPr>
        <p:spPr bwMode="auto">
          <a:xfrm>
            <a:off x="10337801" y="446088"/>
            <a:ext cx="173567" cy="303213"/>
          </a:xfrm>
          <a:custGeom>
            <a:avLst/>
            <a:gdLst/>
            <a:ahLst/>
            <a:cxnLst>
              <a:cxn ang="0">
                <a:pos x="0" y="95"/>
              </a:cxn>
              <a:cxn ang="0">
                <a:pos x="41" y="47"/>
              </a:cxn>
              <a:cxn ang="0">
                <a:pos x="0" y="0"/>
              </a:cxn>
              <a:cxn ang="0">
                <a:pos x="17" y="47"/>
              </a:cxn>
              <a:cxn ang="0">
                <a:pos x="0" y="95"/>
              </a:cxn>
            </a:cxnLst>
            <a:rect l="0" t="0" r="r" b="b"/>
            <a:pathLst>
              <a:path w="41" h="95">
                <a:moveTo>
                  <a:pt x="0" y="95"/>
                </a:moveTo>
                <a:cubicBezTo>
                  <a:pt x="25" y="92"/>
                  <a:pt x="41" y="74"/>
                  <a:pt x="41" y="47"/>
                </a:cubicBezTo>
                <a:cubicBezTo>
                  <a:pt x="41" y="21"/>
                  <a:pt x="25" y="2"/>
                  <a:pt x="0" y="0"/>
                </a:cubicBezTo>
                <a:cubicBezTo>
                  <a:pt x="15" y="13"/>
                  <a:pt x="17" y="39"/>
                  <a:pt x="17" y="47"/>
                </a:cubicBezTo>
                <a:cubicBezTo>
                  <a:pt x="17" y="55"/>
                  <a:pt x="15" y="82"/>
                  <a:pt x="0" y="95"/>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19" name="Freeform 55"/>
          <p:cNvSpPr>
            <a:spLocks/>
          </p:cNvSpPr>
          <p:nvPr userDrawn="1"/>
        </p:nvSpPr>
        <p:spPr bwMode="auto">
          <a:xfrm>
            <a:off x="9613900" y="452438"/>
            <a:ext cx="321733" cy="290513"/>
          </a:xfrm>
          <a:custGeom>
            <a:avLst/>
            <a:gdLst/>
            <a:ahLst/>
            <a:cxnLst>
              <a:cxn ang="0">
                <a:pos x="75" y="91"/>
              </a:cxn>
              <a:cxn ang="0">
                <a:pos x="76" y="67"/>
              </a:cxn>
              <a:cxn ang="0">
                <a:pos x="72" y="67"/>
              </a:cxn>
              <a:cxn ang="0">
                <a:pos x="44" y="87"/>
              </a:cxn>
              <a:cxn ang="0">
                <a:pos x="29" y="87"/>
              </a:cxn>
              <a:cxn ang="0">
                <a:pos x="29" y="78"/>
              </a:cxn>
              <a:cxn ang="0">
                <a:pos x="29" y="46"/>
              </a:cxn>
              <a:cxn ang="0">
                <a:pos x="60" y="46"/>
              </a:cxn>
              <a:cxn ang="0">
                <a:pos x="60" y="40"/>
              </a:cxn>
              <a:cxn ang="0">
                <a:pos x="29" y="40"/>
              </a:cxn>
              <a:cxn ang="0">
                <a:pos x="29" y="15"/>
              </a:cxn>
              <a:cxn ang="0">
                <a:pos x="29" y="4"/>
              </a:cxn>
              <a:cxn ang="0">
                <a:pos x="44" y="4"/>
              </a:cxn>
              <a:cxn ang="0">
                <a:pos x="70" y="23"/>
              </a:cxn>
              <a:cxn ang="0">
                <a:pos x="73" y="23"/>
              </a:cxn>
              <a:cxn ang="0">
                <a:pos x="73" y="0"/>
              </a:cxn>
              <a:cxn ang="0">
                <a:pos x="0" y="0"/>
              </a:cxn>
              <a:cxn ang="0">
                <a:pos x="0" y="2"/>
              </a:cxn>
              <a:cxn ang="0">
                <a:pos x="9" y="6"/>
              </a:cxn>
              <a:cxn ang="0">
                <a:pos x="9" y="15"/>
              </a:cxn>
              <a:cxn ang="0">
                <a:pos x="9" y="76"/>
              </a:cxn>
              <a:cxn ang="0">
                <a:pos x="9" y="85"/>
              </a:cxn>
              <a:cxn ang="0">
                <a:pos x="0" y="88"/>
              </a:cxn>
              <a:cxn ang="0">
                <a:pos x="0" y="91"/>
              </a:cxn>
              <a:cxn ang="0">
                <a:pos x="43" y="91"/>
              </a:cxn>
              <a:cxn ang="0">
                <a:pos x="75" y="91"/>
              </a:cxn>
            </a:cxnLst>
            <a:rect l="0" t="0" r="r" b="b"/>
            <a:pathLst>
              <a:path w="76" h="91">
                <a:moveTo>
                  <a:pt x="75" y="91"/>
                </a:moveTo>
                <a:cubicBezTo>
                  <a:pt x="76" y="67"/>
                  <a:pt x="76" y="67"/>
                  <a:pt x="76" y="67"/>
                </a:cubicBezTo>
                <a:cubicBezTo>
                  <a:pt x="72" y="67"/>
                  <a:pt x="72" y="67"/>
                  <a:pt x="72" y="67"/>
                </a:cubicBezTo>
                <a:cubicBezTo>
                  <a:pt x="69" y="78"/>
                  <a:pt x="59" y="87"/>
                  <a:pt x="44" y="87"/>
                </a:cubicBezTo>
                <a:cubicBezTo>
                  <a:pt x="29" y="87"/>
                  <a:pt x="29" y="87"/>
                  <a:pt x="29" y="87"/>
                </a:cubicBezTo>
                <a:cubicBezTo>
                  <a:pt x="29" y="87"/>
                  <a:pt x="29" y="81"/>
                  <a:pt x="29" y="78"/>
                </a:cubicBezTo>
                <a:cubicBezTo>
                  <a:pt x="29" y="75"/>
                  <a:pt x="29" y="49"/>
                  <a:pt x="29" y="46"/>
                </a:cubicBezTo>
                <a:cubicBezTo>
                  <a:pt x="60" y="46"/>
                  <a:pt x="60" y="46"/>
                  <a:pt x="60" y="46"/>
                </a:cubicBezTo>
                <a:cubicBezTo>
                  <a:pt x="60" y="40"/>
                  <a:pt x="60" y="40"/>
                  <a:pt x="60" y="40"/>
                </a:cubicBezTo>
                <a:cubicBezTo>
                  <a:pt x="29" y="40"/>
                  <a:pt x="29" y="40"/>
                  <a:pt x="29" y="40"/>
                </a:cubicBezTo>
                <a:cubicBezTo>
                  <a:pt x="29" y="15"/>
                  <a:pt x="29" y="15"/>
                  <a:pt x="29" y="15"/>
                </a:cubicBezTo>
                <a:cubicBezTo>
                  <a:pt x="29" y="11"/>
                  <a:pt x="29" y="4"/>
                  <a:pt x="29" y="4"/>
                </a:cubicBezTo>
                <a:cubicBezTo>
                  <a:pt x="44" y="4"/>
                  <a:pt x="44" y="4"/>
                  <a:pt x="44" y="4"/>
                </a:cubicBezTo>
                <a:cubicBezTo>
                  <a:pt x="61" y="4"/>
                  <a:pt x="68" y="14"/>
                  <a:pt x="70" y="23"/>
                </a:cubicBezTo>
                <a:cubicBezTo>
                  <a:pt x="73" y="23"/>
                  <a:pt x="73" y="23"/>
                  <a:pt x="73" y="23"/>
                </a:cubicBezTo>
                <a:cubicBezTo>
                  <a:pt x="73" y="0"/>
                  <a:pt x="73" y="0"/>
                  <a:pt x="73" y="0"/>
                </a:cubicBezTo>
                <a:cubicBezTo>
                  <a:pt x="0" y="0"/>
                  <a:pt x="0" y="0"/>
                  <a:pt x="0" y="0"/>
                </a:cubicBezTo>
                <a:cubicBezTo>
                  <a:pt x="0" y="2"/>
                  <a:pt x="0" y="2"/>
                  <a:pt x="0" y="2"/>
                </a:cubicBezTo>
                <a:cubicBezTo>
                  <a:pt x="9" y="6"/>
                  <a:pt x="9" y="6"/>
                  <a:pt x="9" y="6"/>
                </a:cubicBezTo>
                <a:cubicBezTo>
                  <a:pt x="9" y="6"/>
                  <a:pt x="9" y="11"/>
                  <a:pt x="9" y="15"/>
                </a:cubicBezTo>
                <a:cubicBezTo>
                  <a:pt x="9" y="76"/>
                  <a:pt x="9" y="76"/>
                  <a:pt x="9" y="76"/>
                </a:cubicBezTo>
                <a:cubicBezTo>
                  <a:pt x="9" y="79"/>
                  <a:pt x="9" y="85"/>
                  <a:pt x="9" y="85"/>
                </a:cubicBezTo>
                <a:cubicBezTo>
                  <a:pt x="0" y="88"/>
                  <a:pt x="0" y="88"/>
                  <a:pt x="0" y="88"/>
                </a:cubicBezTo>
                <a:cubicBezTo>
                  <a:pt x="0" y="91"/>
                  <a:pt x="0" y="91"/>
                  <a:pt x="0" y="91"/>
                </a:cubicBezTo>
                <a:cubicBezTo>
                  <a:pt x="43" y="91"/>
                  <a:pt x="43" y="91"/>
                  <a:pt x="43" y="91"/>
                </a:cubicBezTo>
                <a:lnTo>
                  <a:pt x="75" y="91"/>
                </a:ln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20" name="Freeform 56"/>
          <p:cNvSpPr>
            <a:spLocks/>
          </p:cNvSpPr>
          <p:nvPr userDrawn="1"/>
        </p:nvSpPr>
        <p:spPr bwMode="auto">
          <a:xfrm>
            <a:off x="9108017" y="452438"/>
            <a:ext cx="391584" cy="290513"/>
          </a:xfrm>
          <a:custGeom>
            <a:avLst/>
            <a:gdLst/>
            <a:ahLst/>
            <a:cxnLst>
              <a:cxn ang="0">
                <a:pos x="22" y="88"/>
              </a:cxn>
              <a:cxn ang="0">
                <a:pos x="13" y="85"/>
              </a:cxn>
              <a:cxn ang="0">
                <a:pos x="13" y="85"/>
              </a:cxn>
              <a:cxn ang="0">
                <a:pos x="13" y="76"/>
              </a:cxn>
              <a:cxn ang="0">
                <a:pos x="13" y="18"/>
              </a:cxn>
              <a:cxn ang="0">
                <a:pos x="13" y="8"/>
              </a:cxn>
              <a:cxn ang="0">
                <a:pos x="78" y="91"/>
              </a:cxn>
              <a:cxn ang="0">
                <a:pos x="83" y="91"/>
              </a:cxn>
              <a:cxn ang="0">
                <a:pos x="84" y="91"/>
              </a:cxn>
              <a:cxn ang="0">
                <a:pos x="84" y="91"/>
              </a:cxn>
              <a:cxn ang="0">
                <a:pos x="84" y="15"/>
              </a:cxn>
              <a:cxn ang="0">
                <a:pos x="84" y="6"/>
              </a:cxn>
              <a:cxn ang="0">
                <a:pos x="84" y="6"/>
              </a:cxn>
              <a:cxn ang="0">
                <a:pos x="92" y="2"/>
              </a:cxn>
              <a:cxn ang="0">
                <a:pos x="92" y="0"/>
              </a:cxn>
              <a:cxn ang="0">
                <a:pos x="71" y="0"/>
              </a:cxn>
              <a:cxn ang="0">
                <a:pos x="71" y="2"/>
              </a:cxn>
              <a:cxn ang="0">
                <a:pos x="78" y="5"/>
              </a:cxn>
              <a:cxn ang="0">
                <a:pos x="78" y="6"/>
              </a:cxn>
              <a:cxn ang="0">
                <a:pos x="79" y="15"/>
              </a:cxn>
              <a:cxn ang="0">
                <a:pos x="79" y="59"/>
              </a:cxn>
              <a:cxn ang="0">
                <a:pos x="32" y="0"/>
              </a:cxn>
              <a:cxn ang="0">
                <a:pos x="0" y="0"/>
              </a:cxn>
              <a:cxn ang="0">
                <a:pos x="0" y="2"/>
              </a:cxn>
              <a:cxn ang="0">
                <a:pos x="8" y="6"/>
              </a:cxn>
              <a:cxn ang="0">
                <a:pos x="8" y="6"/>
              </a:cxn>
              <a:cxn ang="0">
                <a:pos x="8" y="15"/>
              </a:cxn>
              <a:cxn ang="0">
                <a:pos x="8" y="76"/>
              </a:cxn>
              <a:cxn ang="0">
                <a:pos x="8" y="85"/>
              </a:cxn>
              <a:cxn ang="0">
                <a:pos x="8" y="85"/>
              </a:cxn>
              <a:cxn ang="0">
                <a:pos x="0" y="88"/>
              </a:cxn>
              <a:cxn ang="0">
                <a:pos x="0" y="91"/>
              </a:cxn>
              <a:cxn ang="0">
                <a:pos x="22" y="91"/>
              </a:cxn>
              <a:cxn ang="0">
                <a:pos x="22" y="88"/>
              </a:cxn>
            </a:cxnLst>
            <a:rect l="0" t="0" r="r" b="b"/>
            <a:pathLst>
              <a:path w="92" h="91">
                <a:moveTo>
                  <a:pt x="22" y="88"/>
                </a:moveTo>
                <a:cubicBezTo>
                  <a:pt x="13" y="85"/>
                  <a:pt x="13" y="85"/>
                  <a:pt x="13" y="85"/>
                </a:cubicBezTo>
                <a:cubicBezTo>
                  <a:pt x="13" y="85"/>
                  <a:pt x="13" y="85"/>
                  <a:pt x="13" y="85"/>
                </a:cubicBezTo>
                <a:cubicBezTo>
                  <a:pt x="13" y="85"/>
                  <a:pt x="13" y="79"/>
                  <a:pt x="13" y="76"/>
                </a:cubicBezTo>
                <a:cubicBezTo>
                  <a:pt x="13" y="18"/>
                  <a:pt x="13" y="18"/>
                  <a:pt x="13" y="18"/>
                </a:cubicBezTo>
                <a:cubicBezTo>
                  <a:pt x="13" y="15"/>
                  <a:pt x="13" y="10"/>
                  <a:pt x="13" y="8"/>
                </a:cubicBezTo>
                <a:cubicBezTo>
                  <a:pt x="78" y="91"/>
                  <a:pt x="78" y="91"/>
                  <a:pt x="78" y="91"/>
                </a:cubicBezTo>
                <a:cubicBezTo>
                  <a:pt x="83" y="91"/>
                  <a:pt x="83" y="91"/>
                  <a:pt x="83" y="91"/>
                </a:cubicBezTo>
                <a:cubicBezTo>
                  <a:pt x="84" y="91"/>
                  <a:pt x="84" y="91"/>
                  <a:pt x="84" y="91"/>
                </a:cubicBezTo>
                <a:cubicBezTo>
                  <a:pt x="84" y="91"/>
                  <a:pt x="84" y="91"/>
                  <a:pt x="84" y="91"/>
                </a:cubicBezTo>
                <a:cubicBezTo>
                  <a:pt x="84" y="15"/>
                  <a:pt x="84" y="15"/>
                  <a:pt x="84" y="15"/>
                </a:cubicBezTo>
                <a:cubicBezTo>
                  <a:pt x="84" y="11"/>
                  <a:pt x="84" y="6"/>
                  <a:pt x="84" y="6"/>
                </a:cubicBezTo>
                <a:cubicBezTo>
                  <a:pt x="84" y="6"/>
                  <a:pt x="84" y="6"/>
                  <a:pt x="84" y="6"/>
                </a:cubicBezTo>
                <a:cubicBezTo>
                  <a:pt x="92" y="2"/>
                  <a:pt x="92" y="2"/>
                  <a:pt x="92" y="2"/>
                </a:cubicBezTo>
                <a:cubicBezTo>
                  <a:pt x="92" y="0"/>
                  <a:pt x="92" y="0"/>
                  <a:pt x="92" y="0"/>
                </a:cubicBezTo>
                <a:cubicBezTo>
                  <a:pt x="71" y="0"/>
                  <a:pt x="71" y="0"/>
                  <a:pt x="71" y="0"/>
                </a:cubicBezTo>
                <a:cubicBezTo>
                  <a:pt x="71" y="2"/>
                  <a:pt x="71" y="2"/>
                  <a:pt x="71" y="2"/>
                </a:cubicBezTo>
                <a:cubicBezTo>
                  <a:pt x="78" y="5"/>
                  <a:pt x="78" y="5"/>
                  <a:pt x="78" y="5"/>
                </a:cubicBezTo>
                <a:cubicBezTo>
                  <a:pt x="78" y="6"/>
                  <a:pt x="78" y="6"/>
                  <a:pt x="78" y="6"/>
                </a:cubicBezTo>
                <a:cubicBezTo>
                  <a:pt x="78" y="6"/>
                  <a:pt x="79" y="11"/>
                  <a:pt x="79" y="15"/>
                </a:cubicBezTo>
                <a:cubicBezTo>
                  <a:pt x="79" y="59"/>
                  <a:pt x="79" y="59"/>
                  <a:pt x="79" y="59"/>
                </a:cubicBezTo>
                <a:cubicBezTo>
                  <a:pt x="32" y="0"/>
                  <a:pt x="32" y="0"/>
                  <a:pt x="32" y="0"/>
                </a:cubicBezTo>
                <a:cubicBezTo>
                  <a:pt x="0" y="0"/>
                  <a:pt x="0" y="0"/>
                  <a:pt x="0" y="0"/>
                </a:cubicBezTo>
                <a:cubicBezTo>
                  <a:pt x="0" y="2"/>
                  <a:pt x="0" y="2"/>
                  <a:pt x="0" y="2"/>
                </a:cubicBezTo>
                <a:cubicBezTo>
                  <a:pt x="8" y="6"/>
                  <a:pt x="8" y="6"/>
                  <a:pt x="8" y="6"/>
                </a:cubicBezTo>
                <a:cubicBezTo>
                  <a:pt x="8" y="6"/>
                  <a:pt x="8" y="6"/>
                  <a:pt x="8" y="6"/>
                </a:cubicBezTo>
                <a:cubicBezTo>
                  <a:pt x="8" y="6"/>
                  <a:pt x="8" y="12"/>
                  <a:pt x="8" y="15"/>
                </a:cubicBezTo>
                <a:cubicBezTo>
                  <a:pt x="8" y="76"/>
                  <a:pt x="8" y="76"/>
                  <a:pt x="8" y="76"/>
                </a:cubicBezTo>
                <a:cubicBezTo>
                  <a:pt x="8" y="79"/>
                  <a:pt x="8" y="85"/>
                  <a:pt x="8" y="85"/>
                </a:cubicBezTo>
                <a:cubicBezTo>
                  <a:pt x="8" y="85"/>
                  <a:pt x="8" y="85"/>
                  <a:pt x="8" y="85"/>
                </a:cubicBezTo>
                <a:cubicBezTo>
                  <a:pt x="0" y="88"/>
                  <a:pt x="0" y="88"/>
                  <a:pt x="0" y="88"/>
                </a:cubicBezTo>
                <a:cubicBezTo>
                  <a:pt x="0" y="91"/>
                  <a:pt x="0" y="91"/>
                  <a:pt x="0" y="91"/>
                </a:cubicBezTo>
                <a:cubicBezTo>
                  <a:pt x="22" y="91"/>
                  <a:pt x="22" y="91"/>
                  <a:pt x="22" y="91"/>
                </a:cubicBezTo>
                <a:lnTo>
                  <a:pt x="22" y="88"/>
                </a:ln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21" name="Freeform 57"/>
          <p:cNvSpPr>
            <a:spLocks/>
          </p:cNvSpPr>
          <p:nvPr userDrawn="1"/>
        </p:nvSpPr>
        <p:spPr bwMode="auto">
          <a:xfrm>
            <a:off x="10612967" y="452438"/>
            <a:ext cx="482600" cy="290513"/>
          </a:xfrm>
          <a:custGeom>
            <a:avLst/>
            <a:gdLst/>
            <a:ahLst/>
            <a:cxnLst>
              <a:cxn ang="0">
                <a:pos x="24" y="88"/>
              </a:cxn>
              <a:cxn ang="0">
                <a:pos x="14" y="85"/>
              </a:cxn>
              <a:cxn ang="0">
                <a:pos x="14" y="85"/>
              </a:cxn>
              <a:cxn ang="0">
                <a:pos x="14" y="77"/>
              </a:cxn>
              <a:cxn ang="0">
                <a:pos x="14" y="11"/>
              </a:cxn>
              <a:cxn ang="0">
                <a:pos x="17" y="19"/>
              </a:cxn>
              <a:cxn ang="0">
                <a:pos x="45" y="91"/>
              </a:cxn>
              <a:cxn ang="0">
                <a:pos x="51" y="91"/>
              </a:cxn>
              <a:cxn ang="0">
                <a:pos x="52" y="91"/>
              </a:cxn>
              <a:cxn ang="0">
                <a:pos x="85" y="11"/>
              </a:cxn>
              <a:cxn ang="0">
                <a:pos x="85" y="77"/>
              </a:cxn>
              <a:cxn ang="0">
                <a:pos x="84" y="85"/>
              </a:cxn>
              <a:cxn ang="0">
                <a:pos x="75" y="88"/>
              </a:cxn>
              <a:cxn ang="0">
                <a:pos x="75" y="91"/>
              </a:cxn>
              <a:cxn ang="0">
                <a:pos x="114" y="91"/>
              </a:cxn>
              <a:cxn ang="0">
                <a:pos x="114" y="88"/>
              </a:cxn>
              <a:cxn ang="0">
                <a:pos x="105" y="85"/>
              </a:cxn>
              <a:cxn ang="0">
                <a:pos x="105" y="77"/>
              </a:cxn>
              <a:cxn ang="0">
                <a:pos x="105" y="15"/>
              </a:cxn>
              <a:cxn ang="0">
                <a:pos x="105" y="6"/>
              </a:cxn>
              <a:cxn ang="0">
                <a:pos x="114" y="2"/>
              </a:cxn>
              <a:cxn ang="0">
                <a:pos x="114" y="0"/>
              </a:cxn>
              <a:cxn ang="0">
                <a:pos x="84" y="0"/>
              </a:cxn>
              <a:cxn ang="0">
                <a:pos x="84" y="0"/>
              </a:cxn>
              <a:cxn ang="0">
                <a:pos x="57" y="65"/>
              </a:cxn>
              <a:cxn ang="0">
                <a:pos x="32" y="0"/>
              </a:cxn>
              <a:cxn ang="0">
                <a:pos x="0" y="0"/>
              </a:cxn>
              <a:cxn ang="0">
                <a:pos x="0" y="2"/>
              </a:cxn>
              <a:cxn ang="0">
                <a:pos x="8" y="6"/>
              </a:cxn>
              <a:cxn ang="0">
                <a:pos x="8" y="6"/>
              </a:cxn>
              <a:cxn ang="0">
                <a:pos x="9" y="15"/>
              </a:cxn>
              <a:cxn ang="0">
                <a:pos x="9" y="77"/>
              </a:cxn>
              <a:cxn ang="0">
                <a:pos x="8" y="85"/>
              </a:cxn>
              <a:cxn ang="0">
                <a:pos x="8" y="85"/>
              </a:cxn>
              <a:cxn ang="0">
                <a:pos x="0" y="88"/>
              </a:cxn>
              <a:cxn ang="0">
                <a:pos x="0" y="91"/>
              </a:cxn>
              <a:cxn ang="0">
                <a:pos x="24" y="91"/>
              </a:cxn>
              <a:cxn ang="0">
                <a:pos x="24" y="88"/>
              </a:cxn>
            </a:cxnLst>
            <a:rect l="0" t="0" r="r" b="b"/>
            <a:pathLst>
              <a:path w="114" h="91">
                <a:moveTo>
                  <a:pt x="24" y="88"/>
                </a:moveTo>
                <a:cubicBezTo>
                  <a:pt x="14" y="85"/>
                  <a:pt x="14" y="85"/>
                  <a:pt x="14" y="85"/>
                </a:cubicBezTo>
                <a:cubicBezTo>
                  <a:pt x="14" y="85"/>
                  <a:pt x="14" y="85"/>
                  <a:pt x="14" y="85"/>
                </a:cubicBezTo>
                <a:cubicBezTo>
                  <a:pt x="14" y="85"/>
                  <a:pt x="14" y="80"/>
                  <a:pt x="14" y="77"/>
                </a:cubicBezTo>
                <a:cubicBezTo>
                  <a:pt x="14" y="11"/>
                  <a:pt x="14" y="11"/>
                  <a:pt x="14" y="11"/>
                </a:cubicBezTo>
                <a:cubicBezTo>
                  <a:pt x="15" y="15"/>
                  <a:pt x="16" y="16"/>
                  <a:pt x="17" y="19"/>
                </a:cubicBezTo>
                <a:cubicBezTo>
                  <a:pt x="45" y="91"/>
                  <a:pt x="45" y="91"/>
                  <a:pt x="45" y="91"/>
                </a:cubicBezTo>
                <a:cubicBezTo>
                  <a:pt x="51" y="91"/>
                  <a:pt x="51" y="91"/>
                  <a:pt x="51" y="91"/>
                </a:cubicBezTo>
                <a:cubicBezTo>
                  <a:pt x="52" y="91"/>
                  <a:pt x="52" y="91"/>
                  <a:pt x="52" y="91"/>
                </a:cubicBezTo>
                <a:cubicBezTo>
                  <a:pt x="85" y="11"/>
                  <a:pt x="85" y="11"/>
                  <a:pt x="85" y="11"/>
                </a:cubicBezTo>
                <a:cubicBezTo>
                  <a:pt x="85" y="77"/>
                  <a:pt x="85" y="77"/>
                  <a:pt x="85" y="77"/>
                </a:cubicBezTo>
                <a:cubicBezTo>
                  <a:pt x="85" y="79"/>
                  <a:pt x="84" y="85"/>
                  <a:pt x="84" y="85"/>
                </a:cubicBezTo>
                <a:cubicBezTo>
                  <a:pt x="75" y="88"/>
                  <a:pt x="75" y="88"/>
                  <a:pt x="75" y="88"/>
                </a:cubicBezTo>
                <a:cubicBezTo>
                  <a:pt x="75" y="91"/>
                  <a:pt x="75" y="91"/>
                  <a:pt x="75" y="91"/>
                </a:cubicBezTo>
                <a:cubicBezTo>
                  <a:pt x="114" y="91"/>
                  <a:pt x="114" y="91"/>
                  <a:pt x="114" y="91"/>
                </a:cubicBezTo>
                <a:cubicBezTo>
                  <a:pt x="114" y="88"/>
                  <a:pt x="114" y="88"/>
                  <a:pt x="114" y="88"/>
                </a:cubicBezTo>
                <a:cubicBezTo>
                  <a:pt x="105" y="85"/>
                  <a:pt x="105" y="85"/>
                  <a:pt x="105" y="85"/>
                </a:cubicBezTo>
                <a:cubicBezTo>
                  <a:pt x="105" y="85"/>
                  <a:pt x="105" y="80"/>
                  <a:pt x="105" y="77"/>
                </a:cubicBezTo>
                <a:cubicBezTo>
                  <a:pt x="105" y="15"/>
                  <a:pt x="105" y="15"/>
                  <a:pt x="105" y="15"/>
                </a:cubicBezTo>
                <a:cubicBezTo>
                  <a:pt x="105" y="11"/>
                  <a:pt x="105" y="6"/>
                  <a:pt x="105" y="6"/>
                </a:cubicBezTo>
                <a:cubicBezTo>
                  <a:pt x="114" y="2"/>
                  <a:pt x="114" y="2"/>
                  <a:pt x="114" y="2"/>
                </a:cubicBezTo>
                <a:cubicBezTo>
                  <a:pt x="114" y="0"/>
                  <a:pt x="114" y="0"/>
                  <a:pt x="114" y="0"/>
                </a:cubicBezTo>
                <a:cubicBezTo>
                  <a:pt x="84" y="0"/>
                  <a:pt x="84" y="0"/>
                  <a:pt x="84" y="0"/>
                </a:cubicBezTo>
                <a:cubicBezTo>
                  <a:pt x="84" y="0"/>
                  <a:pt x="84" y="0"/>
                  <a:pt x="84" y="0"/>
                </a:cubicBezTo>
                <a:cubicBezTo>
                  <a:pt x="57" y="65"/>
                  <a:pt x="57" y="65"/>
                  <a:pt x="57" y="65"/>
                </a:cubicBezTo>
                <a:cubicBezTo>
                  <a:pt x="32" y="0"/>
                  <a:pt x="32" y="0"/>
                  <a:pt x="32" y="0"/>
                </a:cubicBezTo>
                <a:cubicBezTo>
                  <a:pt x="0" y="0"/>
                  <a:pt x="0" y="0"/>
                  <a:pt x="0" y="0"/>
                </a:cubicBezTo>
                <a:cubicBezTo>
                  <a:pt x="0" y="2"/>
                  <a:pt x="0" y="2"/>
                  <a:pt x="0" y="2"/>
                </a:cubicBezTo>
                <a:cubicBezTo>
                  <a:pt x="8" y="6"/>
                  <a:pt x="8" y="6"/>
                  <a:pt x="8" y="6"/>
                </a:cubicBezTo>
                <a:cubicBezTo>
                  <a:pt x="8" y="6"/>
                  <a:pt x="8" y="6"/>
                  <a:pt x="8" y="6"/>
                </a:cubicBezTo>
                <a:cubicBezTo>
                  <a:pt x="8" y="6"/>
                  <a:pt x="9" y="12"/>
                  <a:pt x="9" y="15"/>
                </a:cubicBezTo>
                <a:cubicBezTo>
                  <a:pt x="9" y="77"/>
                  <a:pt x="9" y="77"/>
                  <a:pt x="9" y="77"/>
                </a:cubicBezTo>
                <a:cubicBezTo>
                  <a:pt x="9" y="79"/>
                  <a:pt x="8" y="85"/>
                  <a:pt x="8" y="85"/>
                </a:cubicBezTo>
                <a:cubicBezTo>
                  <a:pt x="8" y="85"/>
                  <a:pt x="8" y="85"/>
                  <a:pt x="8" y="85"/>
                </a:cubicBezTo>
                <a:cubicBezTo>
                  <a:pt x="0" y="88"/>
                  <a:pt x="0" y="88"/>
                  <a:pt x="0" y="88"/>
                </a:cubicBezTo>
                <a:cubicBezTo>
                  <a:pt x="0" y="91"/>
                  <a:pt x="0" y="91"/>
                  <a:pt x="0" y="91"/>
                </a:cubicBezTo>
                <a:cubicBezTo>
                  <a:pt x="24" y="91"/>
                  <a:pt x="24" y="91"/>
                  <a:pt x="24" y="91"/>
                </a:cubicBezTo>
                <a:lnTo>
                  <a:pt x="24" y="88"/>
                </a:lnTo>
                <a:close/>
              </a:path>
            </a:pathLst>
          </a:custGeom>
          <a:solidFill>
            <a:srgbClr val="A3968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22" name="Freeform 58"/>
          <p:cNvSpPr>
            <a:spLocks/>
          </p:cNvSpPr>
          <p:nvPr userDrawn="1"/>
        </p:nvSpPr>
        <p:spPr bwMode="auto">
          <a:xfrm>
            <a:off x="10049934" y="446088"/>
            <a:ext cx="173567" cy="303213"/>
          </a:xfrm>
          <a:custGeom>
            <a:avLst/>
            <a:gdLst/>
            <a:ahLst/>
            <a:cxnLst>
              <a:cxn ang="0">
                <a:pos x="41" y="95"/>
              </a:cxn>
              <a:cxn ang="0">
                <a:pos x="23" y="47"/>
              </a:cxn>
              <a:cxn ang="0">
                <a:pos x="41" y="0"/>
              </a:cxn>
              <a:cxn ang="0">
                <a:pos x="0" y="47"/>
              </a:cxn>
              <a:cxn ang="0">
                <a:pos x="41" y="95"/>
              </a:cxn>
            </a:cxnLst>
            <a:rect l="0" t="0" r="r" b="b"/>
            <a:pathLst>
              <a:path w="41" h="95">
                <a:moveTo>
                  <a:pt x="41" y="95"/>
                </a:moveTo>
                <a:cubicBezTo>
                  <a:pt x="25" y="82"/>
                  <a:pt x="23" y="55"/>
                  <a:pt x="23" y="47"/>
                </a:cubicBezTo>
                <a:cubicBezTo>
                  <a:pt x="23" y="39"/>
                  <a:pt x="25" y="13"/>
                  <a:pt x="41" y="0"/>
                </a:cubicBezTo>
                <a:cubicBezTo>
                  <a:pt x="16" y="2"/>
                  <a:pt x="0" y="21"/>
                  <a:pt x="0" y="47"/>
                </a:cubicBezTo>
                <a:cubicBezTo>
                  <a:pt x="0" y="74"/>
                  <a:pt x="16" y="92"/>
                  <a:pt x="41" y="95"/>
                </a:cubicBezTo>
                <a:close/>
              </a:path>
            </a:pathLst>
          </a:custGeom>
          <a:solidFill>
            <a:srgbClr val="A3968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323" name="Freeform 59"/>
          <p:cNvSpPr>
            <a:spLocks noEditPoints="1"/>
          </p:cNvSpPr>
          <p:nvPr userDrawn="1"/>
        </p:nvSpPr>
        <p:spPr bwMode="auto">
          <a:xfrm>
            <a:off x="11163300" y="452438"/>
            <a:ext cx="366184" cy="290513"/>
          </a:xfrm>
          <a:custGeom>
            <a:avLst/>
            <a:gdLst/>
            <a:ahLst/>
            <a:cxnLst>
              <a:cxn ang="0">
                <a:pos x="19" y="88"/>
              </a:cxn>
              <a:cxn ang="0">
                <a:pos x="13" y="85"/>
              </a:cxn>
              <a:cxn ang="0">
                <a:pos x="13" y="85"/>
              </a:cxn>
              <a:cxn ang="0">
                <a:pos x="21" y="64"/>
              </a:cxn>
              <a:cxn ang="0">
                <a:pos x="49" y="64"/>
              </a:cxn>
              <a:cxn ang="0">
                <a:pos x="56" y="85"/>
              </a:cxn>
              <a:cxn ang="0">
                <a:pos x="49" y="88"/>
              </a:cxn>
              <a:cxn ang="0">
                <a:pos x="49" y="91"/>
              </a:cxn>
              <a:cxn ang="0">
                <a:pos x="86" y="91"/>
              </a:cxn>
              <a:cxn ang="0">
                <a:pos x="86" y="88"/>
              </a:cxn>
              <a:cxn ang="0">
                <a:pos x="79" y="85"/>
              </a:cxn>
              <a:cxn ang="0">
                <a:pos x="45" y="0"/>
              </a:cxn>
              <a:cxn ang="0">
                <a:pos x="40" y="0"/>
              </a:cxn>
              <a:cxn ang="0">
                <a:pos x="39" y="0"/>
              </a:cxn>
              <a:cxn ang="0">
                <a:pos x="7" y="85"/>
              </a:cxn>
              <a:cxn ang="0">
                <a:pos x="0" y="88"/>
              </a:cxn>
              <a:cxn ang="0">
                <a:pos x="0" y="91"/>
              </a:cxn>
              <a:cxn ang="0">
                <a:pos x="19" y="91"/>
              </a:cxn>
              <a:cxn ang="0">
                <a:pos x="19" y="88"/>
              </a:cxn>
              <a:cxn ang="0">
                <a:pos x="35" y="26"/>
              </a:cxn>
              <a:cxn ang="0">
                <a:pos x="47" y="59"/>
              </a:cxn>
              <a:cxn ang="0">
                <a:pos x="23" y="59"/>
              </a:cxn>
              <a:cxn ang="0">
                <a:pos x="35" y="26"/>
              </a:cxn>
            </a:cxnLst>
            <a:rect l="0" t="0" r="r" b="b"/>
            <a:pathLst>
              <a:path w="86" h="91">
                <a:moveTo>
                  <a:pt x="19" y="88"/>
                </a:moveTo>
                <a:cubicBezTo>
                  <a:pt x="13" y="85"/>
                  <a:pt x="13" y="85"/>
                  <a:pt x="13" y="85"/>
                </a:cubicBezTo>
                <a:cubicBezTo>
                  <a:pt x="13" y="85"/>
                  <a:pt x="13" y="85"/>
                  <a:pt x="13" y="85"/>
                </a:cubicBezTo>
                <a:cubicBezTo>
                  <a:pt x="13" y="85"/>
                  <a:pt x="16" y="75"/>
                  <a:pt x="21" y="64"/>
                </a:cubicBezTo>
                <a:cubicBezTo>
                  <a:pt x="49" y="64"/>
                  <a:pt x="49" y="64"/>
                  <a:pt x="49" y="64"/>
                </a:cubicBezTo>
                <a:cubicBezTo>
                  <a:pt x="56" y="85"/>
                  <a:pt x="56" y="85"/>
                  <a:pt x="56" y="85"/>
                </a:cubicBezTo>
                <a:cubicBezTo>
                  <a:pt x="49" y="88"/>
                  <a:pt x="49" y="88"/>
                  <a:pt x="49" y="88"/>
                </a:cubicBezTo>
                <a:cubicBezTo>
                  <a:pt x="49" y="91"/>
                  <a:pt x="49" y="91"/>
                  <a:pt x="49" y="91"/>
                </a:cubicBezTo>
                <a:cubicBezTo>
                  <a:pt x="86" y="91"/>
                  <a:pt x="86" y="91"/>
                  <a:pt x="86" y="91"/>
                </a:cubicBezTo>
                <a:cubicBezTo>
                  <a:pt x="86" y="88"/>
                  <a:pt x="86" y="88"/>
                  <a:pt x="86" y="88"/>
                </a:cubicBezTo>
                <a:cubicBezTo>
                  <a:pt x="79" y="85"/>
                  <a:pt x="79" y="85"/>
                  <a:pt x="79" y="85"/>
                </a:cubicBezTo>
                <a:cubicBezTo>
                  <a:pt x="45" y="0"/>
                  <a:pt x="45" y="0"/>
                  <a:pt x="45" y="0"/>
                </a:cubicBezTo>
                <a:cubicBezTo>
                  <a:pt x="40" y="0"/>
                  <a:pt x="40" y="0"/>
                  <a:pt x="40" y="0"/>
                </a:cubicBezTo>
                <a:cubicBezTo>
                  <a:pt x="39" y="0"/>
                  <a:pt x="39" y="0"/>
                  <a:pt x="39" y="0"/>
                </a:cubicBezTo>
                <a:cubicBezTo>
                  <a:pt x="7" y="85"/>
                  <a:pt x="7" y="85"/>
                  <a:pt x="7" y="85"/>
                </a:cubicBezTo>
                <a:cubicBezTo>
                  <a:pt x="0" y="88"/>
                  <a:pt x="0" y="88"/>
                  <a:pt x="0" y="88"/>
                </a:cubicBezTo>
                <a:cubicBezTo>
                  <a:pt x="0" y="91"/>
                  <a:pt x="0" y="91"/>
                  <a:pt x="0" y="91"/>
                </a:cubicBezTo>
                <a:cubicBezTo>
                  <a:pt x="19" y="91"/>
                  <a:pt x="19" y="91"/>
                  <a:pt x="19" y="91"/>
                </a:cubicBezTo>
                <a:lnTo>
                  <a:pt x="19" y="88"/>
                </a:lnTo>
                <a:close/>
                <a:moveTo>
                  <a:pt x="35" y="26"/>
                </a:moveTo>
                <a:cubicBezTo>
                  <a:pt x="47" y="59"/>
                  <a:pt x="47" y="59"/>
                  <a:pt x="47" y="59"/>
                </a:cubicBezTo>
                <a:cubicBezTo>
                  <a:pt x="23" y="59"/>
                  <a:pt x="23" y="59"/>
                  <a:pt x="23" y="59"/>
                </a:cubicBezTo>
                <a:cubicBezTo>
                  <a:pt x="28" y="45"/>
                  <a:pt x="34" y="29"/>
                  <a:pt x="35" y="26"/>
                </a:cubicBezTo>
                <a:close/>
              </a:path>
            </a:pathLst>
          </a:custGeom>
          <a:solidFill>
            <a:srgbClr val="A3968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2" name="Title 1"/>
          <p:cNvSpPr>
            <a:spLocks noGrp="1"/>
          </p:cNvSpPr>
          <p:nvPr>
            <p:ph type="title" hasCustomPrompt="1"/>
          </p:nvPr>
        </p:nvSpPr>
        <p:spPr>
          <a:xfrm>
            <a:off x="4693139" y="2438400"/>
            <a:ext cx="6260123" cy="1000125"/>
          </a:xfrm>
          <a:prstGeom prst="rect">
            <a:avLst/>
          </a:prstGeom>
        </p:spPr>
        <p:txBody>
          <a:bodyPr vert="horz" lIns="0" tIns="0" rIns="0" bIns="0" rtlCol="0" anchor="b" anchorCtr="0">
            <a:noAutofit/>
          </a:bodyPr>
          <a:lstStyle>
            <a:lvl1pPr algn="l">
              <a:defRPr kumimoji="0" lang="fr-FR" sz="3300" b="1" i="0" u="none" strike="noStrike" kern="1200" cap="none" spc="0" normalizeH="0" baseline="0" noProof="0" dirty="0">
                <a:ln>
                  <a:noFill/>
                </a:ln>
                <a:solidFill>
                  <a:schemeClr val="bg1"/>
                </a:solidFill>
                <a:effectLst/>
                <a:uLnTx/>
                <a:uFillTx/>
                <a:latin typeface="Arial" pitchFamily="34" charset="0"/>
                <a:ea typeface="+mj-ea"/>
                <a:cs typeface="Arial"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Titre du chapitre</a:t>
            </a:r>
          </a:p>
        </p:txBody>
      </p:sp>
      <p:sp>
        <p:nvSpPr>
          <p:cNvPr id="42" name="Text Placeholder 41"/>
          <p:cNvSpPr>
            <a:spLocks noGrp="1"/>
          </p:cNvSpPr>
          <p:nvPr>
            <p:ph type="body" sz="quarter" idx="10" hasCustomPrompt="1"/>
          </p:nvPr>
        </p:nvSpPr>
        <p:spPr>
          <a:xfrm>
            <a:off x="788017" y="2811782"/>
            <a:ext cx="1467731" cy="1767839"/>
          </a:xfrm>
        </p:spPr>
        <p:txBody>
          <a:bodyPr anchor="ctr"/>
          <a:lstStyle>
            <a:lvl1pPr algn="ctr">
              <a:defRPr sz="16300" b="0">
                <a:solidFill>
                  <a:schemeClr val="bg1"/>
                </a:solidFill>
                <a:latin typeface="+mj-lt"/>
                <a:ea typeface="National Extrabold" pitchFamily="50" charset="0"/>
              </a:defRPr>
            </a:lvl1pPr>
          </a:lstStyle>
          <a:p>
            <a:pPr lvl="0"/>
            <a:r>
              <a:rPr lang="en-US" dirty="0"/>
              <a:t>1</a:t>
            </a:r>
            <a:endParaRPr lang="fr-FR" dirty="0"/>
          </a:p>
        </p:txBody>
      </p:sp>
      <p:sp>
        <p:nvSpPr>
          <p:cNvPr id="4" name="Freeform 8"/>
          <p:cNvSpPr>
            <a:spLocks/>
          </p:cNvSpPr>
          <p:nvPr userDrawn="1"/>
        </p:nvSpPr>
        <p:spPr bwMode="auto">
          <a:xfrm>
            <a:off x="11525252" y="5046663"/>
            <a:ext cx="4233" cy="1588"/>
          </a:xfrm>
          <a:custGeom>
            <a:avLst/>
            <a:gdLst/>
            <a:ahLst/>
            <a:cxnLst>
              <a:cxn ang="0">
                <a:pos x="1" y="0"/>
              </a:cxn>
              <a:cxn ang="0">
                <a:pos x="0" y="0"/>
              </a:cxn>
              <a:cxn ang="0">
                <a:pos x="1" y="0"/>
              </a:cxn>
            </a:cxnLst>
            <a:rect l="0" t="0" r="r" b="b"/>
            <a:pathLst>
              <a:path w="1">
                <a:moveTo>
                  <a:pt x="1" y="0"/>
                </a:moveTo>
                <a:cubicBezTo>
                  <a:pt x="0" y="0"/>
                  <a:pt x="0" y="0"/>
                  <a:pt x="0" y="0"/>
                </a:cubicBezTo>
                <a:cubicBezTo>
                  <a:pt x="1" y="0"/>
                  <a:pt x="1" y="0"/>
                  <a:pt x="1" y="0"/>
                </a:cubicBezTo>
                <a:close/>
              </a:path>
            </a:pathLst>
          </a:custGeom>
          <a:solidFill>
            <a:srgbClr val="582E91"/>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11273" name="Freeform 9"/>
          <p:cNvSpPr>
            <a:spLocks/>
          </p:cNvSpPr>
          <p:nvPr userDrawn="1"/>
        </p:nvSpPr>
        <p:spPr bwMode="auto">
          <a:xfrm>
            <a:off x="11070167" y="1944687"/>
            <a:ext cx="129117" cy="31750"/>
          </a:xfrm>
          <a:custGeom>
            <a:avLst/>
            <a:gdLst/>
            <a:ahLst/>
            <a:cxnLst>
              <a:cxn ang="0">
                <a:pos x="30" y="3"/>
              </a:cxn>
              <a:cxn ang="0">
                <a:pos x="6" y="0"/>
              </a:cxn>
              <a:cxn ang="0">
                <a:pos x="1" y="5"/>
              </a:cxn>
              <a:cxn ang="0">
                <a:pos x="19" y="10"/>
              </a:cxn>
              <a:cxn ang="0">
                <a:pos x="30" y="8"/>
              </a:cxn>
              <a:cxn ang="0">
                <a:pos x="30" y="3"/>
              </a:cxn>
            </a:cxnLst>
            <a:rect l="0" t="0" r="r" b="b"/>
            <a:pathLst>
              <a:path w="30" h="10">
                <a:moveTo>
                  <a:pt x="30" y="3"/>
                </a:moveTo>
                <a:cubicBezTo>
                  <a:pt x="23" y="0"/>
                  <a:pt x="14" y="0"/>
                  <a:pt x="6" y="0"/>
                </a:cubicBezTo>
                <a:cubicBezTo>
                  <a:pt x="0" y="2"/>
                  <a:pt x="1" y="3"/>
                  <a:pt x="1" y="5"/>
                </a:cubicBezTo>
                <a:cubicBezTo>
                  <a:pt x="6" y="8"/>
                  <a:pt x="17" y="7"/>
                  <a:pt x="19" y="10"/>
                </a:cubicBezTo>
                <a:cubicBezTo>
                  <a:pt x="22" y="9"/>
                  <a:pt x="26" y="10"/>
                  <a:pt x="30" y="8"/>
                </a:cubicBezTo>
                <a:cubicBezTo>
                  <a:pt x="21" y="7"/>
                  <a:pt x="28" y="4"/>
                  <a:pt x="30" y="3"/>
                </a:cubicBezTo>
                <a:close/>
              </a:path>
            </a:pathLst>
          </a:custGeom>
          <a:solidFill>
            <a:srgbClr val="A3968E"/>
          </a:solidFill>
          <a:ln w="9525">
            <a:noFill/>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75" name="Text Placeholder 69"/>
          <p:cNvSpPr>
            <a:spLocks noGrp="1"/>
          </p:cNvSpPr>
          <p:nvPr>
            <p:ph type="body" sz="quarter" idx="11" hasCustomPrompt="1"/>
          </p:nvPr>
        </p:nvSpPr>
        <p:spPr>
          <a:xfrm>
            <a:off x="4693139" y="3463926"/>
            <a:ext cx="6260123" cy="498475"/>
          </a:xfrm>
        </p:spPr>
        <p:txBody>
          <a:bodyPr/>
          <a:lstStyle>
            <a:lvl1pPr>
              <a:defRPr sz="2200" cap="all" baseline="0">
                <a:solidFill>
                  <a:srgbClr val="582E91"/>
                </a:solidFill>
                <a:latin typeface="+mj-lt"/>
              </a:defRPr>
            </a:lvl1pPr>
            <a:lvl2pPr>
              <a:defRPr sz="2600" cap="all" baseline="0"/>
            </a:lvl2pPr>
            <a:lvl3pPr>
              <a:defRPr sz="2600" cap="all" baseline="0"/>
            </a:lvl3pPr>
            <a:lvl4pPr>
              <a:defRPr sz="2600" cap="all" baseline="0"/>
            </a:lvl4pPr>
            <a:lvl5pPr>
              <a:defRPr sz="2600" cap="all" baseline="0"/>
            </a:lvl5pPr>
          </a:lstStyle>
          <a:p>
            <a:pPr lvl="0"/>
            <a:r>
              <a:rPr lang="en-US" dirty="0" err="1"/>
              <a:t>Sous</a:t>
            </a:r>
            <a:r>
              <a:rPr lang="en-US" dirty="0"/>
              <a:t> </a:t>
            </a:r>
            <a:r>
              <a:rPr lang="en-US" dirty="0" err="1"/>
              <a:t>titre</a:t>
            </a:r>
            <a:endParaRPr lang="en-US" dirty="0"/>
          </a:p>
        </p:txBody>
      </p:sp>
      <p:sp>
        <p:nvSpPr>
          <p:cNvPr id="76" name="Text Placeholder 69"/>
          <p:cNvSpPr>
            <a:spLocks noGrp="1"/>
          </p:cNvSpPr>
          <p:nvPr>
            <p:ph type="body" sz="quarter" idx="12" hasCustomPrompt="1"/>
          </p:nvPr>
        </p:nvSpPr>
        <p:spPr>
          <a:xfrm>
            <a:off x="4693139" y="4137025"/>
            <a:ext cx="6260123" cy="596900"/>
          </a:xfrm>
        </p:spPr>
        <p:txBody>
          <a:bodyPr/>
          <a:lstStyle>
            <a:lvl1pPr>
              <a:defRPr sz="1700" cap="none" baseline="0">
                <a:solidFill>
                  <a:schemeClr val="bg1"/>
                </a:solidFill>
                <a:latin typeface="Arial Black" pitchFamily="34" charset="0"/>
              </a:defRPr>
            </a:lvl1pPr>
            <a:lvl2pPr>
              <a:defRPr sz="2600" cap="all" baseline="0"/>
            </a:lvl2pPr>
            <a:lvl3pPr>
              <a:defRPr sz="2600" cap="all" baseline="0"/>
            </a:lvl3pPr>
            <a:lvl4pPr>
              <a:defRPr sz="2600" cap="all" baseline="0"/>
            </a:lvl4pPr>
            <a:lvl5pPr>
              <a:defRPr sz="2600" cap="all" baseline="0"/>
            </a:lvl5pPr>
          </a:lstStyle>
          <a:p>
            <a:pPr lvl="0"/>
            <a:r>
              <a:rPr lang="en-US" dirty="0" err="1"/>
              <a:t>niveau</a:t>
            </a:r>
            <a:r>
              <a:rPr lang="en-US" dirty="0"/>
              <a:t> 1</a:t>
            </a:r>
          </a:p>
        </p:txBody>
      </p:sp>
      <p:sp>
        <p:nvSpPr>
          <p:cNvPr id="61" name="Rectangle 40"/>
          <p:cNvSpPr>
            <a:spLocks noChangeArrowheads="1"/>
          </p:cNvSpPr>
          <p:nvPr userDrawn="1"/>
        </p:nvSpPr>
        <p:spPr bwMode="auto">
          <a:xfrm>
            <a:off x="4693139" y="4043362"/>
            <a:ext cx="884767" cy="12700"/>
          </a:xfrm>
          <a:prstGeom prst="rect">
            <a:avLst/>
          </a:prstGeom>
          <a:solidFill>
            <a:schemeClr val="bg1"/>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363046479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6F22C-0B7F-4EBA-9F2B-848A97D2EAF8}" type="datetimeFigureOut">
              <a:rPr lang="fr-FR" smtClean="0"/>
              <a:t>04/02/2026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9D7853-832E-41AC-AD95-4A492EA4FE49}" type="slidenum">
              <a:rPr lang="fr-FR" smtClean="0"/>
              <a:t>‹N°›</a:t>
            </a:fld>
            <a:endParaRPr lang="fr-FR"/>
          </a:p>
        </p:txBody>
      </p:sp>
    </p:spTree>
    <p:extLst>
      <p:ext uri="{BB962C8B-B14F-4D97-AF65-F5344CB8AC3E}">
        <p14:creationId xmlns:p14="http://schemas.microsoft.com/office/powerpoint/2010/main" val="523576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WEw-GjTriIo" TargetMode="External"/><Relationship Id="rId2" Type="http://schemas.openxmlformats.org/officeDocument/2006/relationships/hyperlink" Target="https://www.youtube.com/watch?v=uRhnBsiIjqQ" TargetMode="External"/><Relationship Id="rId1" Type="http://schemas.openxmlformats.org/officeDocument/2006/relationships/slideLayout" Target="../slideLayouts/slideLayout2.xml"/><Relationship Id="rId5" Type="http://schemas.openxmlformats.org/officeDocument/2006/relationships/hyperlink" Target="https://www.youtube.com/watch?v=TBFC5isQuYA" TargetMode="External"/><Relationship Id="rId4" Type="http://schemas.openxmlformats.org/officeDocument/2006/relationships/hyperlink" Target="https://www.youtube.com/watch?v=XFLG88iANrk"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normAutofit/>
          </a:bodyPr>
          <a:lstStyle/>
          <a:p>
            <a:pPr marL="0" indent="0">
              <a:buNone/>
            </a:pPr>
            <a:r>
              <a:rPr lang="fr-FR" sz="2800" b="1" dirty="0">
                <a:solidFill>
                  <a:srgbClr val="7030A0"/>
                </a:solidFill>
                <a:latin typeface="Cambria" panose="02040503050406030204" pitchFamily="18" charset="0"/>
                <a:ea typeface="Cambria" panose="02040503050406030204" pitchFamily="18" charset="0"/>
              </a:rPr>
              <a:t>OMRI Yassine</a:t>
            </a:r>
          </a:p>
          <a:p>
            <a:pPr marL="0" indent="0">
              <a:buNone/>
            </a:pPr>
            <a:endParaRPr lang="fr-FR" sz="2800" b="1" dirty="0">
              <a:solidFill>
                <a:srgbClr val="7030A0"/>
              </a:solidFill>
              <a:latin typeface="Cambria" panose="02040503050406030204" pitchFamily="18" charset="0"/>
              <a:ea typeface="Cambria" panose="02040503050406030204" pitchFamily="18" charset="0"/>
            </a:endParaRPr>
          </a:p>
          <a:p>
            <a:pPr marL="0" indent="0">
              <a:buNone/>
            </a:pPr>
            <a:endParaRPr lang="en-US" dirty="0">
              <a:solidFill>
                <a:schemeClr val="accent5">
                  <a:lumMod val="50000"/>
                </a:schemeClr>
              </a:solidFill>
              <a:latin typeface="Cambria" panose="02040503050406030204" pitchFamily="18" charset="0"/>
            </a:endParaRPr>
          </a:p>
        </p:txBody>
      </p:sp>
      <p:sp>
        <p:nvSpPr>
          <p:cNvPr id="5" name="Titre 4">
            <a:extLst>
              <a:ext uri="{FF2B5EF4-FFF2-40B4-BE49-F238E27FC236}">
                <a16:creationId xmlns:a16="http://schemas.microsoft.com/office/drawing/2014/main" id="{3E9F48F3-5025-7C47-732E-654925F4C6CE}"/>
              </a:ext>
            </a:extLst>
          </p:cNvPr>
          <p:cNvSpPr>
            <a:spLocks noGrp="1"/>
          </p:cNvSpPr>
          <p:nvPr>
            <p:ph type="ctrTitle"/>
          </p:nvPr>
        </p:nvSpPr>
        <p:spPr>
          <a:xfrm>
            <a:off x="2029934" y="2440214"/>
            <a:ext cx="7883323" cy="1092200"/>
          </a:xfrm>
        </p:spPr>
        <p:txBody>
          <a:bodyPr/>
          <a:lstStyle/>
          <a:p>
            <a:r>
              <a:rPr lang="fr-FR" dirty="0">
                <a:latin typeface="Cambria" panose="02040503050406030204" pitchFamily="18" charset="0"/>
                <a:ea typeface="Cambria" panose="02040503050406030204" pitchFamily="18" charset="0"/>
              </a:rPr>
              <a:t>COMPANIES AND GEOPOLICAL RISKS</a:t>
            </a:r>
            <a:endParaRPr lang="fr-FR" dirty="0"/>
          </a:p>
        </p:txBody>
      </p:sp>
      <p:sp>
        <p:nvSpPr>
          <p:cNvPr id="7" name="Espace réservé du texte 6">
            <a:extLst>
              <a:ext uri="{FF2B5EF4-FFF2-40B4-BE49-F238E27FC236}">
                <a16:creationId xmlns:a16="http://schemas.microsoft.com/office/drawing/2014/main" id="{BB7C5D47-C7FF-C360-72BF-C626A66C36A5}"/>
              </a:ext>
            </a:extLst>
          </p:cNvPr>
          <p:cNvSpPr>
            <a:spLocks noGrp="1"/>
          </p:cNvSpPr>
          <p:nvPr>
            <p:ph type="body" sz="quarter" idx="11"/>
          </p:nvPr>
        </p:nvSpPr>
        <p:spPr>
          <a:xfrm>
            <a:off x="2029934" y="4394200"/>
            <a:ext cx="7179401" cy="596900"/>
          </a:xfrm>
        </p:spPr>
        <p:txBody>
          <a:bodyPr/>
          <a:lstStyle/>
          <a:p>
            <a:pPr marL="0" indent="0">
              <a:buNone/>
            </a:pPr>
            <a:r>
              <a:rPr lang="fr-FR"/>
              <a:t>2025-2026</a:t>
            </a:r>
            <a:endParaRPr lang="fr-FR" dirty="0"/>
          </a:p>
        </p:txBody>
      </p:sp>
    </p:spTree>
    <p:custDataLst>
      <p:tags r:id="rId1"/>
    </p:custDataLst>
    <p:extLst>
      <p:ext uri="{BB962C8B-B14F-4D97-AF65-F5344CB8AC3E}">
        <p14:creationId xmlns:p14="http://schemas.microsoft.com/office/powerpoint/2010/main" val="44037762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452278" y="43544"/>
            <a:ext cx="6603151" cy="1059543"/>
          </a:xfrm>
        </p:spPr>
        <p:txBody>
          <a:bodyPr/>
          <a:lstStyle/>
          <a:p>
            <a:pPr eaLnBrk="1" hangingPunct="1"/>
            <a:r>
              <a:rPr lang="en-US" altLang="fr-FR" b="1" dirty="0">
                <a:solidFill>
                  <a:srgbClr val="7030A0"/>
                </a:solidFill>
                <a:latin typeface="Cambria" panose="02040503050406030204" pitchFamily="18" charset="0"/>
              </a:rPr>
              <a:t>Course Content</a:t>
            </a:r>
          </a:p>
        </p:txBody>
      </p:sp>
      <p:sp>
        <p:nvSpPr>
          <p:cNvPr id="456707" name="Rectangle 3"/>
          <p:cNvSpPr>
            <a:spLocks noGrp="1" noChangeArrowheads="1"/>
          </p:cNvSpPr>
          <p:nvPr>
            <p:ph idx="1"/>
          </p:nvPr>
        </p:nvSpPr>
        <p:spPr>
          <a:xfrm>
            <a:off x="1306286" y="1103087"/>
            <a:ext cx="8635152" cy="5754914"/>
          </a:xfrm>
        </p:spPr>
        <p:txBody>
          <a:bodyPr>
            <a:normAutofit fontScale="85000" lnSpcReduction="20000"/>
          </a:bodyPr>
          <a:lstStyle/>
          <a:p>
            <a:pPr marL="0" indent="0">
              <a:buNone/>
            </a:pPr>
            <a:r>
              <a:rPr lang="fr-FR" sz="2400" b="1" dirty="0">
                <a:solidFill>
                  <a:srgbClr val="7030A0"/>
                </a:solidFill>
                <a:latin typeface="Cambria" panose="02040503050406030204" pitchFamily="18" charset="0"/>
                <a:ea typeface="Cambria" panose="02040503050406030204" pitchFamily="18" charset="0"/>
              </a:rPr>
              <a:t>I.      </a:t>
            </a:r>
            <a:r>
              <a:rPr lang="fr-FR" sz="2600" b="1" dirty="0" err="1">
                <a:solidFill>
                  <a:srgbClr val="7030A0"/>
                </a:solidFill>
                <a:latin typeface="Cambria" panose="02040503050406030204" pitchFamily="18" charset="0"/>
                <a:ea typeface="Cambria" panose="02040503050406030204" pitchFamily="18" charset="0"/>
              </a:rPr>
              <a:t>Geopolitics</a:t>
            </a:r>
            <a:r>
              <a:rPr lang="fr-FR" sz="2600" b="1" dirty="0">
                <a:solidFill>
                  <a:srgbClr val="7030A0"/>
                </a:solidFill>
                <a:latin typeface="Cambria" panose="02040503050406030204" pitchFamily="18" charset="0"/>
                <a:ea typeface="Cambria" panose="02040503050406030204" pitchFamily="18" charset="0"/>
              </a:rPr>
              <a:t> Concepts &amp; </a:t>
            </a:r>
            <a:r>
              <a:rPr lang="fr-FR" sz="2600" b="1" dirty="0" err="1">
                <a:solidFill>
                  <a:srgbClr val="7030A0"/>
                </a:solidFill>
                <a:latin typeface="Cambria" panose="02040503050406030204" pitchFamily="18" charset="0"/>
                <a:ea typeface="Cambria" panose="02040503050406030204" pitchFamily="18" charset="0"/>
              </a:rPr>
              <a:t>Definitions</a:t>
            </a:r>
            <a:r>
              <a:rPr lang="fr-FR" sz="2600" b="1" dirty="0">
                <a:solidFill>
                  <a:srgbClr val="7030A0"/>
                </a:solidFill>
                <a:latin typeface="Cambria" panose="02040503050406030204" pitchFamily="18" charset="0"/>
                <a:ea typeface="Cambria" panose="02040503050406030204" pitchFamily="18" charset="0"/>
              </a:rPr>
              <a:t> of </a:t>
            </a:r>
            <a:r>
              <a:rPr lang="fr-FR" sz="2600" b="1" dirty="0" err="1">
                <a:solidFill>
                  <a:srgbClr val="7030A0"/>
                </a:solidFill>
                <a:latin typeface="Cambria" panose="02040503050406030204" pitchFamily="18" charset="0"/>
                <a:ea typeface="Cambria" panose="02040503050406030204" pitchFamily="18" charset="0"/>
              </a:rPr>
              <a:t>Geopolitical</a:t>
            </a:r>
            <a:r>
              <a:rPr lang="fr-FR" sz="2600" b="1" dirty="0">
                <a:solidFill>
                  <a:srgbClr val="7030A0"/>
                </a:solidFill>
                <a:latin typeface="Cambria" panose="02040503050406030204" pitchFamily="18" charset="0"/>
                <a:ea typeface="Cambria" panose="02040503050406030204" pitchFamily="18" charset="0"/>
              </a:rPr>
              <a:t> Risk	</a:t>
            </a:r>
          </a:p>
          <a:p>
            <a:pPr marL="0" indent="0">
              <a:buNone/>
            </a:pPr>
            <a:r>
              <a:rPr lang="fr-FR" sz="2600" b="1" dirty="0">
                <a:solidFill>
                  <a:srgbClr val="7030A0"/>
                </a:solidFill>
                <a:latin typeface="Cambria" panose="02040503050406030204" pitchFamily="18" charset="0"/>
                <a:ea typeface="Cambria" panose="02040503050406030204" pitchFamily="18" charset="0"/>
              </a:rPr>
              <a:t>      a) </a:t>
            </a:r>
            <a:r>
              <a:rPr lang="fr-FR" sz="2600" b="1" dirty="0" err="1">
                <a:solidFill>
                  <a:srgbClr val="7030A0"/>
                </a:solidFill>
                <a:latin typeface="Cambria" panose="02040503050406030204" pitchFamily="18" charset="0"/>
                <a:ea typeface="Cambria" panose="02040503050406030204" pitchFamily="18" charset="0"/>
              </a:rPr>
              <a:t>Definitions</a:t>
            </a:r>
            <a:endParaRPr lang="fr-FR" sz="2600" b="1" dirty="0">
              <a:solidFill>
                <a:srgbClr val="7030A0"/>
              </a:solidFill>
              <a:latin typeface="Cambria" panose="02040503050406030204" pitchFamily="18" charset="0"/>
              <a:ea typeface="Cambria" panose="02040503050406030204" pitchFamily="18" charset="0"/>
            </a:endParaRPr>
          </a:p>
          <a:p>
            <a:pPr marL="0" indent="0">
              <a:buNone/>
            </a:pPr>
            <a:r>
              <a:rPr lang="fr-FR" sz="2600" b="1" dirty="0">
                <a:solidFill>
                  <a:srgbClr val="7030A0"/>
                </a:solidFill>
                <a:latin typeface="Cambria" panose="02040503050406030204" pitchFamily="18" charset="0"/>
                <a:ea typeface="Cambria" panose="02040503050406030204" pitchFamily="18" charset="0"/>
              </a:rPr>
              <a:t>       b) Concepts</a:t>
            </a:r>
          </a:p>
          <a:p>
            <a:pPr marL="0" indent="0">
              <a:buNone/>
            </a:pPr>
            <a:r>
              <a:rPr lang="fr-FR" sz="2600" b="1" dirty="0">
                <a:solidFill>
                  <a:srgbClr val="7030A0"/>
                </a:solidFill>
                <a:latin typeface="Cambria" panose="02040503050406030204" pitchFamily="18" charset="0"/>
                <a:ea typeface="Cambria" panose="02040503050406030204" pitchFamily="18" charset="0"/>
              </a:rPr>
              <a:t>       c) </a:t>
            </a:r>
            <a:r>
              <a:rPr lang="fr-FR" sz="2600" b="1" dirty="0" err="1">
                <a:solidFill>
                  <a:srgbClr val="7030A0"/>
                </a:solidFill>
                <a:latin typeface="Cambria" panose="02040503050406030204" pitchFamily="18" charset="0"/>
                <a:ea typeface="Cambria" panose="02040503050406030204" pitchFamily="18" charset="0"/>
              </a:rPr>
              <a:t>Ten</a:t>
            </a:r>
            <a:r>
              <a:rPr lang="fr-FR" sz="2600" b="1" dirty="0">
                <a:solidFill>
                  <a:srgbClr val="7030A0"/>
                </a:solidFill>
                <a:latin typeface="Cambria" panose="02040503050406030204" pitchFamily="18" charset="0"/>
                <a:ea typeface="Cambria" panose="02040503050406030204" pitchFamily="18" charset="0"/>
              </a:rPr>
              <a:t> types of </a:t>
            </a:r>
            <a:r>
              <a:rPr lang="fr-FR" sz="2600" b="1" dirty="0" err="1">
                <a:solidFill>
                  <a:srgbClr val="7030A0"/>
                </a:solidFill>
                <a:latin typeface="Cambria" panose="02040503050406030204" pitchFamily="18" charset="0"/>
                <a:ea typeface="Cambria" panose="02040503050406030204" pitchFamily="18" charset="0"/>
              </a:rPr>
              <a:t>Geopolitical</a:t>
            </a:r>
            <a:r>
              <a:rPr lang="fr-FR" sz="2600" b="1" dirty="0">
                <a:solidFill>
                  <a:srgbClr val="7030A0"/>
                </a:solidFill>
                <a:latin typeface="Cambria" panose="02040503050406030204" pitchFamily="18" charset="0"/>
                <a:ea typeface="Cambria" panose="02040503050406030204" pitchFamily="18" charset="0"/>
              </a:rPr>
              <a:t> Risk</a:t>
            </a:r>
          </a:p>
          <a:p>
            <a:endParaRPr lang="fr-FR" sz="2600" b="1" dirty="0">
              <a:solidFill>
                <a:srgbClr val="7030A0"/>
              </a:solidFill>
              <a:latin typeface="Cambria" panose="02040503050406030204" pitchFamily="18" charset="0"/>
              <a:ea typeface="Cambria" panose="02040503050406030204" pitchFamily="18" charset="0"/>
            </a:endParaRPr>
          </a:p>
          <a:p>
            <a:pPr marL="400050" indent="-400050">
              <a:buAutoNum type="romanUcPeriod" startAt="2"/>
            </a:pPr>
            <a:r>
              <a:rPr lang="fr-FR" sz="2600" b="1" dirty="0" err="1">
                <a:solidFill>
                  <a:srgbClr val="7030A0"/>
                </a:solidFill>
                <a:latin typeface="Cambria" panose="02040503050406030204" pitchFamily="18" charset="0"/>
                <a:ea typeface="Cambria" panose="02040503050406030204" pitchFamily="18" charset="0"/>
              </a:rPr>
              <a:t>Measuring</a:t>
            </a:r>
            <a:r>
              <a:rPr lang="fr-FR" sz="2600" b="1" dirty="0">
                <a:solidFill>
                  <a:srgbClr val="7030A0"/>
                </a:solidFill>
                <a:latin typeface="Cambria" panose="02040503050406030204" pitchFamily="18" charset="0"/>
                <a:ea typeface="Cambria" panose="02040503050406030204" pitchFamily="18" charset="0"/>
              </a:rPr>
              <a:t> </a:t>
            </a:r>
            <a:r>
              <a:rPr lang="fr-FR" sz="2600" b="1" dirty="0" err="1">
                <a:solidFill>
                  <a:srgbClr val="7030A0"/>
                </a:solidFill>
                <a:latin typeface="Cambria" panose="02040503050406030204" pitchFamily="18" charset="0"/>
                <a:ea typeface="Cambria" panose="02040503050406030204" pitchFamily="18" charset="0"/>
              </a:rPr>
              <a:t>Geopolitical</a:t>
            </a:r>
            <a:r>
              <a:rPr lang="fr-FR" sz="2600" b="1" dirty="0">
                <a:solidFill>
                  <a:srgbClr val="7030A0"/>
                </a:solidFill>
                <a:latin typeface="Cambria" panose="02040503050406030204" pitchFamily="18" charset="0"/>
                <a:ea typeface="Cambria" panose="02040503050406030204" pitchFamily="18" charset="0"/>
              </a:rPr>
              <a:t> Risk </a:t>
            </a:r>
          </a:p>
          <a:p>
            <a:pPr marL="0" indent="0">
              <a:buNone/>
            </a:pPr>
            <a:r>
              <a:rPr lang="fr-FR" sz="2600" b="1" dirty="0">
                <a:solidFill>
                  <a:srgbClr val="7030A0"/>
                </a:solidFill>
                <a:latin typeface="Cambria" panose="02040503050406030204" pitchFamily="18" charset="0"/>
                <a:ea typeface="Cambria" panose="02040503050406030204" pitchFamily="18" charset="0"/>
              </a:rPr>
              <a:t>       a) </a:t>
            </a:r>
            <a:r>
              <a:rPr lang="fr-FR" sz="2600" b="1" dirty="0" err="1">
                <a:solidFill>
                  <a:srgbClr val="7030A0"/>
                </a:solidFill>
                <a:latin typeface="Cambria" panose="02040503050406030204" pitchFamily="18" charset="0"/>
                <a:ea typeface="Cambria" panose="02040503050406030204" pitchFamily="18" charset="0"/>
              </a:rPr>
              <a:t>Geopolitical</a:t>
            </a:r>
            <a:r>
              <a:rPr lang="fr-FR" sz="2600" b="1" dirty="0">
                <a:solidFill>
                  <a:srgbClr val="7030A0"/>
                </a:solidFill>
                <a:latin typeface="Cambria" panose="02040503050406030204" pitchFamily="18" charset="0"/>
                <a:ea typeface="Cambria" panose="02040503050406030204" pitchFamily="18" charset="0"/>
              </a:rPr>
              <a:t> Risk index</a:t>
            </a:r>
          </a:p>
          <a:p>
            <a:pPr marL="0" indent="0">
              <a:buNone/>
            </a:pPr>
            <a:r>
              <a:rPr lang="fr-FR" sz="2600" b="1" dirty="0">
                <a:solidFill>
                  <a:srgbClr val="7030A0"/>
                </a:solidFill>
                <a:latin typeface="Cambria" panose="02040503050406030204" pitchFamily="18" charset="0"/>
                <a:ea typeface="Cambria" panose="02040503050406030204" pitchFamily="18" charset="0"/>
              </a:rPr>
              <a:t>       b) Rating </a:t>
            </a:r>
            <a:r>
              <a:rPr lang="fr-FR" sz="2600" b="1" dirty="0" err="1">
                <a:solidFill>
                  <a:srgbClr val="7030A0"/>
                </a:solidFill>
                <a:latin typeface="Cambria" panose="02040503050406030204" pitchFamily="18" charset="0"/>
                <a:ea typeface="Cambria" panose="02040503050406030204" pitchFamily="18" charset="0"/>
              </a:rPr>
              <a:t>agencies</a:t>
            </a:r>
            <a:endParaRPr lang="fr-FR" sz="2600" b="1" dirty="0">
              <a:solidFill>
                <a:srgbClr val="7030A0"/>
              </a:solidFill>
              <a:latin typeface="Cambria" panose="02040503050406030204" pitchFamily="18" charset="0"/>
              <a:ea typeface="Cambria" panose="02040503050406030204" pitchFamily="18" charset="0"/>
            </a:endParaRPr>
          </a:p>
          <a:p>
            <a:endParaRPr lang="fr-FR" sz="2600" b="1" dirty="0">
              <a:solidFill>
                <a:srgbClr val="7030A0"/>
              </a:solidFill>
              <a:latin typeface="Cambria" panose="02040503050406030204" pitchFamily="18" charset="0"/>
              <a:ea typeface="Cambria" panose="02040503050406030204" pitchFamily="18" charset="0"/>
            </a:endParaRPr>
          </a:p>
          <a:p>
            <a:pPr marL="400050" indent="-400050">
              <a:buAutoNum type="romanUcPeriod" startAt="3"/>
            </a:pPr>
            <a:r>
              <a:rPr lang="fr-FR" sz="2600" b="1" dirty="0" err="1">
                <a:solidFill>
                  <a:srgbClr val="7030A0"/>
                </a:solidFill>
                <a:latin typeface="Cambria" panose="02040503050406030204" pitchFamily="18" charset="0"/>
                <a:ea typeface="Cambria" panose="02040503050406030204" pitchFamily="18" charset="0"/>
              </a:rPr>
              <a:t>Anticipating</a:t>
            </a:r>
            <a:r>
              <a:rPr lang="fr-FR" sz="2600" b="1" dirty="0">
                <a:solidFill>
                  <a:srgbClr val="7030A0"/>
                </a:solidFill>
                <a:latin typeface="Cambria" panose="02040503050406030204" pitchFamily="18" charset="0"/>
                <a:ea typeface="Cambria" panose="02040503050406030204" pitchFamily="18" charset="0"/>
              </a:rPr>
              <a:t> and </a:t>
            </a:r>
            <a:r>
              <a:rPr lang="fr-FR" sz="2600" b="1" dirty="0" err="1">
                <a:solidFill>
                  <a:srgbClr val="7030A0"/>
                </a:solidFill>
                <a:latin typeface="Cambria" panose="02040503050406030204" pitchFamily="18" charset="0"/>
                <a:ea typeface="Cambria" panose="02040503050406030204" pitchFamily="18" charset="0"/>
              </a:rPr>
              <a:t>Assuming</a:t>
            </a:r>
            <a:r>
              <a:rPr lang="fr-FR" sz="2600" b="1" dirty="0">
                <a:solidFill>
                  <a:srgbClr val="7030A0"/>
                </a:solidFill>
                <a:latin typeface="Cambria" panose="02040503050406030204" pitchFamily="18" charset="0"/>
                <a:ea typeface="Cambria" panose="02040503050406030204" pitchFamily="18" charset="0"/>
              </a:rPr>
              <a:t> </a:t>
            </a:r>
            <a:r>
              <a:rPr lang="fr-FR" sz="2600" b="1" dirty="0" err="1">
                <a:solidFill>
                  <a:srgbClr val="7030A0"/>
                </a:solidFill>
                <a:latin typeface="Cambria" panose="02040503050406030204" pitchFamily="18" charset="0"/>
                <a:ea typeface="Cambria" panose="02040503050406030204" pitchFamily="18" charset="0"/>
              </a:rPr>
              <a:t>Geopolitical</a:t>
            </a:r>
            <a:r>
              <a:rPr lang="fr-FR" sz="2600" b="1" dirty="0">
                <a:solidFill>
                  <a:srgbClr val="7030A0"/>
                </a:solidFill>
                <a:latin typeface="Cambria" panose="02040503050406030204" pitchFamily="18" charset="0"/>
                <a:ea typeface="Cambria" panose="02040503050406030204" pitchFamily="18" charset="0"/>
              </a:rPr>
              <a:t> Risk</a:t>
            </a:r>
          </a:p>
          <a:p>
            <a:pPr marL="800100" lvl="1" indent="-342900">
              <a:buAutoNum type="alphaLcParenR"/>
            </a:pPr>
            <a:r>
              <a:rPr lang="fr-FR" sz="2600" b="1" dirty="0" err="1">
                <a:solidFill>
                  <a:srgbClr val="7030A0"/>
                </a:solidFill>
                <a:latin typeface="Cambria" panose="02040503050406030204" pitchFamily="18" charset="0"/>
                <a:ea typeface="Cambria" panose="02040503050406030204" pitchFamily="18" charset="0"/>
              </a:rPr>
              <a:t>Understanding</a:t>
            </a:r>
            <a:endParaRPr lang="fr-FR" sz="2600" b="1" dirty="0">
              <a:solidFill>
                <a:srgbClr val="7030A0"/>
              </a:solidFill>
              <a:latin typeface="Cambria" panose="02040503050406030204" pitchFamily="18" charset="0"/>
              <a:ea typeface="Cambria" panose="02040503050406030204" pitchFamily="18" charset="0"/>
            </a:endParaRPr>
          </a:p>
          <a:p>
            <a:pPr marL="800100" lvl="1" indent="-342900">
              <a:buAutoNum type="alphaLcParenR"/>
            </a:pPr>
            <a:r>
              <a:rPr lang="fr-FR" sz="2600" b="1" dirty="0" err="1">
                <a:solidFill>
                  <a:srgbClr val="7030A0"/>
                </a:solidFill>
                <a:latin typeface="Cambria" panose="02040503050406030204" pitchFamily="18" charset="0"/>
                <a:ea typeface="Cambria" panose="02040503050406030204" pitchFamily="18" charset="0"/>
              </a:rPr>
              <a:t>Analysing</a:t>
            </a:r>
            <a:endParaRPr lang="fr-FR" sz="2600" b="1" dirty="0">
              <a:solidFill>
                <a:srgbClr val="7030A0"/>
              </a:solidFill>
              <a:latin typeface="Cambria" panose="02040503050406030204" pitchFamily="18" charset="0"/>
              <a:ea typeface="Cambria" panose="02040503050406030204" pitchFamily="18" charset="0"/>
            </a:endParaRPr>
          </a:p>
          <a:p>
            <a:pPr marL="800100" lvl="1" indent="-342900">
              <a:buAutoNum type="alphaLcParenR"/>
            </a:pPr>
            <a:r>
              <a:rPr lang="fr-FR" sz="2600" b="1" dirty="0" err="1">
                <a:solidFill>
                  <a:srgbClr val="7030A0"/>
                </a:solidFill>
                <a:latin typeface="Cambria" panose="02040503050406030204" pitchFamily="18" charset="0"/>
                <a:ea typeface="Cambria" panose="02040503050406030204" pitchFamily="18" charset="0"/>
              </a:rPr>
              <a:t>Mitigating</a:t>
            </a:r>
            <a:endParaRPr lang="fr-FR" sz="2600" b="1" dirty="0">
              <a:solidFill>
                <a:srgbClr val="7030A0"/>
              </a:solidFill>
              <a:latin typeface="Cambria" panose="02040503050406030204" pitchFamily="18" charset="0"/>
              <a:ea typeface="Cambria" panose="02040503050406030204" pitchFamily="18" charset="0"/>
            </a:endParaRPr>
          </a:p>
          <a:p>
            <a:pPr marL="800100" lvl="1" indent="-342900">
              <a:buAutoNum type="alphaLcParenR"/>
            </a:pPr>
            <a:r>
              <a:rPr lang="fr-FR" sz="2600" b="1" dirty="0" err="1">
                <a:solidFill>
                  <a:srgbClr val="7030A0"/>
                </a:solidFill>
                <a:latin typeface="Cambria" panose="02040503050406030204" pitchFamily="18" charset="0"/>
                <a:ea typeface="Cambria" panose="02040503050406030204" pitchFamily="18" charset="0"/>
              </a:rPr>
              <a:t>Assuming</a:t>
            </a:r>
            <a:r>
              <a:rPr lang="fr-FR" sz="2600" b="1" dirty="0">
                <a:solidFill>
                  <a:srgbClr val="7030A0"/>
                </a:solidFill>
                <a:latin typeface="Cambria" panose="02040503050406030204" pitchFamily="18" charset="0"/>
                <a:ea typeface="Cambria" panose="02040503050406030204" pitchFamily="18" charset="0"/>
              </a:rPr>
              <a:t> (</a:t>
            </a:r>
            <a:r>
              <a:rPr lang="fr-FR" sz="2600" b="1" dirty="0" err="1">
                <a:solidFill>
                  <a:srgbClr val="7030A0"/>
                </a:solidFill>
                <a:latin typeface="Cambria" panose="02040503050406030204" pitchFamily="18" charset="0"/>
                <a:ea typeface="Cambria" panose="02040503050406030204" pitchFamily="18" charset="0"/>
              </a:rPr>
              <a:t>responding</a:t>
            </a:r>
            <a:r>
              <a:rPr lang="fr-FR" sz="2600" b="1" dirty="0">
                <a:solidFill>
                  <a:srgbClr val="7030A0"/>
                </a:solidFill>
                <a:latin typeface="Cambria" panose="02040503050406030204" pitchFamily="18" charset="0"/>
                <a:ea typeface="Cambria" panose="02040503050406030204" pitchFamily="18" charset="0"/>
              </a:rPr>
              <a:t>)</a:t>
            </a:r>
          </a:p>
          <a:p>
            <a:pPr lvl="1"/>
            <a:endParaRPr lang="fr-FR" sz="2600" b="1" dirty="0">
              <a:solidFill>
                <a:srgbClr val="7030A0"/>
              </a:solidFill>
              <a:latin typeface="Cambria" panose="02040503050406030204" pitchFamily="18" charset="0"/>
              <a:ea typeface="Cambria" panose="02040503050406030204" pitchFamily="18" charset="0"/>
            </a:endParaRPr>
          </a:p>
          <a:p>
            <a:pPr marL="0" indent="0">
              <a:buNone/>
            </a:pPr>
            <a:r>
              <a:rPr lang="fr-FR" sz="2600" b="1" dirty="0">
                <a:solidFill>
                  <a:srgbClr val="7030A0"/>
                </a:solidFill>
                <a:latin typeface="Cambria" panose="02040503050406030204" pitchFamily="18" charset="0"/>
                <a:ea typeface="Cambria" panose="02040503050406030204" pitchFamily="18" charset="0"/>
              </a:rPr>
              <a:t>IV.   Case </a:t>
            </a:r>
            <a:r>
              <a:rPr lang="fr-FR" sz="2600" b="1" dirty="0" err="1">
                <a:solidFill>
                  <a:srgbClr val="7030A0"/>
                </a:solidFill>
                <a:latin typeface="Cambria" panose="02040503050406030204" pitchFamily="18" charset="0"/>
                <a:ea typeface="Cambria" panose="02040503050406030204" pitchFamily="18" charset="0"/>
              </a:rPr>
              <a:t>Study</a:t>
            </a:r>
            <a:endParaRPr lang="fr-FR" sz="2600" b="1" dirty="0">
              <a:solidFill>
                <a:srgbClr val="7030A0"/>
              </a:solidFill>
              <a:latin typeface="Cambria" panose="02040503050406030204" pitchFamily="18" charset="0"/>
              <a:ea typeface="Cambria" panose="02040503050406030204" pitchFamily="18" charset="0"/>
            </a:endParaRPr>
          </a:p>
          <a:p>
            <a:pPr marL="0" indent="0">
              <a:lnSpc>
                <a:spcPct val="80000"/>
              </a:lnSpc>
              <a:buNone/>
            </a:pPr>
            <a:endParaRPr lang="en-US" altLang="fr-FR" dirty="0">
              <a:solidFill>
                <a:schemeClr val="accent5">
                  <a:lumMod val="50000"/>
                </a:schemeClr>
              </a:solidFill>
              <a:latin typeface="Cambria" panose="02040503050406030204" pitchFamily="18" charset="0"/>
            </a:endParaRPr>
          </a:p>
        </p:txBody>
      </p:sp>
    </p:spTree>
    <p:extLst>
      <p:ext uri="{BB962C8B-B14F-4D97-AF65-F5344CB8AC3E}">
        <p14:creationId xmlns:p14="http://schemas.microsoft.com/office/powerpoint/2010/main" val="15642239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67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67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67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67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670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670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670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56707">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56707">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6707">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6707">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6707">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56707">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6707"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250563" y="188685"/>
            <a:ext cx="6603151" cy="1059543"/>
          </a:xfrm>
        </p:spPr>
        <p:txBody>
          <a:bodyPr>
            <a:normAutofit/>
          </a:bodyPr>
          <a:lstStyle/>
          <a:p>
            <a:pPr eaLnBrk="1" hangingPunct="1"/>
            <a:r>
              <a:rPr lang="fr-FR" sz="3600" b="1" u="sng" dirty="0">
                <a:solidFill>
                  <a:srgbClr val="7030A0"/>
                </a:solidFill>
                <a:latin typeface="Cambria" panose="02040503050406030204" pitchFamily="18" charset="0"/>
                <a:ea typeface="Cambria" panose="02040503050406030204" pitchFamily="18" charset="0"/>
              </a:rPr>
              <a:t>Evaluation</a:t>
            </a:r>
            <a:endParaRPr lang="en-US" altLang="fr-FR" sz="3600" dirty="0">
              <a:solidFill>
                <a:srgbClr val="7030A0"/>
              </a:solidFill>
              <a:latin typeface="Cambria" panose="02040503050406030204" pitchFamily="18" charset="0"/>
            </a:endParaRPr>
          </a:p>
        </p:txBody>
      </p:sp>
      <p:sp>
        <p:nvSpPr>
          <p:cNvPr id="456707" name="Rectangle 3"/>
          <p:cNvSpPr>
            <a:spLocks noGrp="1" noChangeArrowheads="1"/>
          </p:cNvSpPr>
          <p:nvPr>
            <p:ph idx="1"/>
          </p:nvPr>
        </p:nvSpPr>
        <p:spPr>
          <a:xfrm>
            <a:off x="1306285" y="1103087"/>
            <a:ext cx="8635151" cy="4833256"/>
          </a:xfrm>
        </p:spPr>
        <p:txBody>
          <a:bodyPr>
            <a:normAutofit/>
          </a:bodyPr>
          <a:lstStyle/>
          <a:p>
            <a:pPr marL="0" indent="0">
              <a:buNone/>
            </a:pPr>
            <a:endParaRPr lang="fr-FR" sz="2600" b="1" dirty="0">
              <a:solidFill>
                <a:srgbClr val="7030A0"/>
              </a:solidFill>
              <a:latin typeface="Cambria" panose="02040503050406030204" pitchFamily="18" charset="0"/>
              <a:ea typeface="Cambria" panose="02040503050406030204" pitchFamily="18" charset="0"/>
            </a:endParaRPr>
          </a:p>
          <a:p>
            <a:pPr fontAlgn="t"/>
            <a:endParaRPr lang="fr-FR" dirty="0"/>
          </a:p>
          <a:p>
            <a:pPr marL="0" indent="0" fontAlgn="t">
              <a:buNone/>
            </a:pPr>
            <a:endParaRPr lang="fr-FR" dirty="0"/>
          </a:p>
          <a:p>
            <a:pPr marL="0" indent="0">
              <a:lnSpc>
                <a:spcPct val="80000"/>
              </a:lnSpc>
              <a:buNone/>
            </a:pPr>
            <a:endParaRPr lang="en-US" altLang="fr-FR" dirty="0">
              <a:solidFill>
                <a:schemeClr val="accent5">
                  <a:lumMod val="50000"/>
                </a:schemeClr>
              </a:solidFill>
              <a:latin typeface="Cambria" panose="02040503050406030204" pitchFamily="18" charset="0"/>
            </a:endParaRPr>
          </a:p>
        </p:txBody>
      </p:sp>
      <p:graphicFrame>
        <p:nvGraphicFramePr>
          <p:cNvPr id="2" name="Tableau 1">
            <a:extLst>
              <a:ext uri="{FF2B5EF4-FFF2-40B4-BE49-F238E27FC236}">
                <a16:creationId xmlns:a16="http://schemas.microsoft.com/office/drawing/2014/main" id="{2C4A3968-AA5D-EB6F-D0A6-BD2474399261}"/>
              </a:ext>
            </a:extLst>
          </p:cNvPr>
          <p:cNvGraphicFramePr>
            <a:graphicFrameLocks noGrp="1"/>
          </p:cNvGraphicFramePr>
          <p:nvPr>
            <p:extLst>
              <p:ext uri="{D42A27DB-BD31-4B8C-83A1-F6EECF244321}">
                <p14:modId xmlns:p14="http://schemas.microsoft.com/office/powerpoint/2010/main" val="2324686898"/>
              </p:ext>
            </p:extLst>
          </p:nvPr>
        </p:nvGraphicFramePr>
        <p:xfrm>
          <a:off x="609601" y="1103087"/>
          <a:ext cx="10885713" cy="5091889"/>
        </p:xfrm>
        <a:graphic>
          <a:graphicData uri="http://schemas.openxmlformats.org/drawingml/2006/table">
            <a:tbl>
              <a:tblPr firstRow="1" bandRow="1">
                <a:tableStyleId>{073A0DAA-6AF3-43AB-8588-CEC1D06C72B9}</a:tableStyleId>
              </a:tblPr>
              <a:tblGrid>
                <a:gridCol w="2130206">
                  <a:extLst>
                    <a:ext uri="{9D8B030D-6E8A-4147-A177-3AD203B41FA5}">
                      <a16:colId xmlns:a16="http://schemas.microsoft.com/office/drawing/2014/main" val="20000"/>
                    </a:ext>
                  </a:extLst>
                </a:gridCol>
                <a:gridCol w="4007674">
                  <a:extLst>
                    <a:ext uri="{9D8B030D-6E8A-4147-A177-3AD203B41FA5}">
                      <a16:colId xmlns:a16="http://schemas.microsoft.com/office/drawing/2014/main" val="20001"/>
                    </a:ext>
                  </a:extLst>
                </a:gridCol>
                <a:gridCol w="2026404">
                  <a:extLst>
                    <a:ext uri="{9D8B030D-6E8A-4147-A177-3AD203B41FA5}">
                      <a16:colId xmlns:a16="http://schemas.microsoft.com/office/drawing/2014/main" val="20002"/>
                    </a:ext>
                  </a:extLst>
                </a:gridCol>
                <a:gridCol w="2721429">
                  <a:extLst>
                    <a:ext uri="{9D8B030D-6E8A-4147-A177-3AD203B41FA5}">
                      <a16:colId xmlns:a16="http://schemas.microsoft.com/office/drawing/2014/main" val="20003"/>
                    </a:ext>
                  </a:extLst>
                </a:gridCol>
              </a:tblGrid>
              <a:tr h="999658">
                <a:tc>
                  <a:txBody>
                    <a:bodyPr/>
                    <a:lstStyle/>
                    <a:p>
                      <a:r>
                        <a:rPr lang="fr-FR" dirty="0">
                          <a:latin typeface="Cambria" panose="02040503050406030204" pitchFamily="18" charset="0"/>
                          <a:ea typeface="Cambria" panose="02040503050406030204" pitchFamily="18" charset="0"/>
                        </a:rPr>
                        <a:t>Type</a:t>
                      </a:r>
                    </a:p>
                  </a:txBody>
                  <a:tcPr/>
                </a:tc>
                <a:tc>
                  <a:txBody>
                    <a:bodyPr/>
                    <a:lstStyle/>
                    <a:p>
                      <a:pPr algn="ctr"/>
                      <a:r>
                        <a:rPr lang="fr-FR" dirty="0" err="1">
                          <a:latin typeface="Cambria" panose="02040503050406030204" pitchFamily="18" charset="0"/>
                          <a:ea typeface="Cambria" panose="02040503050406030204" pitchFamily="18" charset="0"/>
                        </a:rPr>
                        <a:t>Entiltled</a:t>
                      </a:r>
                      <a:endParaRPr lang="fr-FR" dirty="0">
                        <a:latin typeface="Cambria" panose="02040503050406030204" pitchFamily="18" charset="0"/>
                        <a:ea typeface="Cambria" panose="02040503050406030204" pitchFamily="18" charset="0"/>
                      </a:endParaRPr>
                    </a:p>
                  </a:txBody>
                  <a:tcPr/>
                </a:tc>
                <a:tc>
                  <a:txBody>
                    <a:bodyPr/>
                    <a:lstStyle/>
                    <a:p>
                      <a:r>
                        <a:rPr lang="fr-FR" dirty="0">
                          <a:latin typeface="Cambria" panose="02040503050406030204" pitchFamily="18" charset="0"/>
                          <a:ea typeface="Cambria" panose="02040503050406030204" pitchFamily="18" charset="0"/>
                        </a:rPr>
                        <a:t>Duration</a:t>
                      </a:r>
                    </a:p>
                  </a:txBody>
                  <a:tcPr/>
                </a:tc>
                <a:tc>
                  <a:txBody>
                    <a:bodyPr/>
                    <a:lstStyle/>
                    <a:p>
                      <a:r>
                        <a:rPr lang="fr-FR">
                          <a:latin typeface="Cambria" panose="02040503050406030204" pitchFamily="18" charset="0"/>
                          <a:ea typeface="Cambria" panose="02040503050406030204" pitchFamily="18" charset="0"/>
                        </a:rPr>
                        <a:t>% of the grade</a:t>
                      </a:r>
                      <a:endParaRPr lang="fr-FR"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0000"/>
                  </a:ext>
                </a:extLst>
              </a:tr>
              <a:tr h="1749403">
                <a:tc>
                  <a:txBody>
                    <a:bodyPr/>
                    <a:lstStyle/>
                    <a:p>
                      <a:pPr algn="ctr"/>
                      <a:r>
                        <a:rPr lang="fr-FR" dirty="0" err="1">
                          <a:latin typeface="Cambria" panose="02040503050406030204" pitchFamily="18" charset="0"/>
                          <a:ea typeface="Cambria" panose="02040503050406030204" pitchFamily="18" charset="0"/>
                        </a:rPr>
                        <a:t>Mid-term</a:t>
                      </a:r>
                      <a:r>
                        <a:rPr lang="fr-FR" dirty="0">
                          <a:latin typeface="Cambria" panose="02040503050406030204" pitchFamily="18" charset="0"/>
                          <a:ea typeface="Cambria" panose="02040503050406030204" pitchFamily="18" charset="0"/>
                        </a:rPr>
                        <a:t> Exam </a:t>
                      </a:r>
                    </a:p>
                    <a:p>
                      <a:pPr algn="ctr"/>
                      <a:r>
                        <a:rPr lang="fr-FR" dirty="0">
                          <a:latin typeface="Cambria" panose="02040503050406030204" pitchFamily="18" charset="0"/>
                          <a:ea typeface="Cambria" panose="02040503050406030204" pitchFamily="18" charset="0"/>
                        </a:rPr>
                        <a:t>(group)</a:t>
                      </a:r>
                    </a:p>
                  </a:txBody>
                  <a:tcPr/>
                </a:tc>
                <a:tc>
                  <a:txBody>
                    <a:bodyPr/>
                    <a:lstStyle/>
                    <a:p>
                      <a:pPr algn="ctr"/>
                      <a:r>
                        <a:rPr lang="fr-FR" dirty="0" err="1">
                          <a:latin typeface="Cambria" panose="02040503050406030204" pitchFamily="18" charset="0"/>
                          <a:ea typeface="Cambria" panose="02040503050406030204" pitchFamily="18" charset="0"/>
                        </a:rPr>
                        <a:t>Written</a:t>
                      </a:r>
                      <a:r>
                        <a:rPr lang="fr-FR" baseline="0" dirty="0">
                          <a:latin typeface="Cambria" panose="02040503050406030204" pitchFamily="18" charset="0"/>
                          <a:ea typeface="Cambria" panose="02040503050406030204" pitchFamily="18" charset="0"/>
                        </a:rPr>
                        <a:t> file + </a:t>
                      </a:r>
                    </a:p>
                    <a:p>
                      <a:pPr algn="ctr"/>
                      <a:r>
                        <a:rPr lang="fr-FR" baseline="0" dirty="0">
                          <a:latin typeface="Cambria" panose="02040503050406030204" pitchFamily="18" charset="0"/>
                          <a:ea typeface="Cambria" panose="02040503050406030204" pitchFamily="18" charset="0"/>
                        </a:rPr>
                        <a:t>oral </a:t>
                      </a:r>
                      <a:r>
                        <a:rPr lang="fr-FR" baseline="0" dirty="0" err="1">
                          <a:latin typeface="Cambria" panose="02040503050406030204" pitchFamily="18" charset="0"/>
                          <a:ea typeface="Cambria" panose="02040503050406030204" pitchFamily="18" charset="0"/>
                        </a:rPr>
                        <a:t>presentation</a:t>
                      </a:r>
                      <a:endParaRPr lang="fr-FR" dirty="0">
                        <a:latin typeface="Cambria" panose="02040503050406030204" pitchFamily="18" charset="0"/>
                        <a:ea typeface="Cambria" panose="02040503050406030204" pitchFamily="18" charset="0"/>
                      </a:endParaRPr>
                    </a:p>
                  </a:txBody>
                  <a:tcPr/>
                </a:tc>
                <a:tc>
                  <a:txBody>
                    <a:bodyPr/>
                    <a:lstStyle/>
                    <a:p>
                      <a:pPr algn="ctr"/>
                      <a:r>
                        <a:rPr lang="fr-FR" dirty="0">
                          <a:latin typeface="Cambria" panose="02040503050406030204" pitchFamily="18" charset="0"/>
                          <a:ea typeface="Cambria" panose="02040503050406030204" pitchFamily="18" charset="0"/>
                        </a:rPr>
                        <a:t>30 min</a:t>
                      </a:r>
                    </a:p>
                  </a:txBody>
                  <a:tcPr/>
                </a:tc>
                <a:tc>
                  <a:txBody>
                    <a:bodyPr/>
                    <a:lstStyle/>
                    <a:p>
                      <a:pPr algn="ctr"/>
                      <a:r>
                        <a:rPr lang="fr-FR" dirty="0">
                          <a:latin typeface="Cambria" panose="02040503050406030204" pitchFamily="18" charset="0"/>
                          <a:ea typeface="Cambria" panose="02040503050406030204" pitchFamily="18" charset="0"/>
                        </a:rPr>
                        <a:t>40%</a:t>
                      </a:r>
                    </a:p>
                  </a:txBody>
                  <a:tcPr/>
                </a:tc>
                <a:extLst>
                  <a:ext uri="{0D108BD9-81ED-4DB2-BD59-A6C34878D82A}">
                    <a16:rowId xmlns:a16="http://schemas.microsoft.com/office/drawing/2014/main" val="10001"/>
                  </a:ext>
                </a:extLst>
              </a:tr>
              <a:tr h="2342828">
                <a:tc>
                  <a:txBody>
                    <a:bodyPr/>
                    <a:lstStyle/>
                    <a:p>
                      <a:pPr algn="ctr"/>
                      <a:r>
                        <a:rPr lang="fr-FR" dirty="0">
                          <a:latin typeface="Cambria" panose="02040503050406030204" pitchFamily="18" charset="0"/>
                          <a:ea typeface="Cambria" panose="02040503050406030204" pitchFamily="18" charset="0"/>
                        </a:rPr>
                        <a:t>Final</a:t>
                      </a:r>
                      <a:r>
                        <a:rPr lang="fr-FR" baseline="0" dirty="0">
                          <a:latin typeface="Cambria" panose="02040503050406030204" pitchFamily="18" charset="0"/>
                          <a:ea typeface="Cambria" panose="02040503050406030204" pitchFamily="18" charset="0"/>
                        </a:rPr>
                        <a:t> exam (</a:t>
                      </a:r>
                      <a:r>
                        <a:rPr lang="fr-FR" baseline="0" dirty="0" err="1">
                          <a:latin typeface="Cambria" panose="02040503050406030204" pitchFamily="18" charset="0"/>
                          <a:ea typeface="Cambria" panose="02040503050406030204" pitchFamily="18" charset="0"/>
                        </a:rPr>
                        <a:t>individual</a:t>
                      </a:r>
                      <a:r>
                        <a:rPr lang="fr-FR" baseline="0" dirty="0">
                          <a:latin typeface="Cambria" panose="02040503050406030204" pitchFamily="18" charset="0"/>
                          <a:ea typeface="Cambria" panose="02040503050406030204" pitchFamily="18" charset="0"/>
                        </a:rPr>
                        <a:t>)</a:t>
                      </a:r>
                    </a:p>
                    <a:p>
                      <a:pPr algn="ctr"/>
                      <a:endParaRPr lang="fr-FR" dirty="0">
                        <a:latin typeface="Cambria" panose="02040503050406030204" pitchFamily="18" charset="0"/>
                        <a:ea typeface="Cambria" panose="02040503050406030204" pitchFamily="18" charset="0"/>
                      </a:endParaRPr>
                    </a:p>
                  </a:txBody>
                  <a:tcPr/>
                </a:tc>
                <a:tc>
                  <a:txBody>
                    <a:bodyPr/>
                    <a:lstStyle/>
                    <a:p>
                      <a:pPr algn="ctr"/>
                      <a:r>
                        <a:rPr lang="fr-FR" dirty="0" err="1">
                          <a:latin typeface="Cambria" panose="02040503050406030204" pitchFamily="18" charset="0"/>
                          <a:ea typeface="Cambria" panose="02040503050406030204" pitchFamily="18" charset="0"/>
                        </a:rPr>
                        <a:t>Written</a:t>
                      </a:r>
                      <a:r>
                        <a:rPr lang="fr-FR" dirty="0">
                          <a:latin typeface="Cambria" panose="02040503050406030204" pitchFamily="18" charset="0"/>
                          <a:ea typeface="Cambria" panose="02040503050406030204" pitchFamily="18" charset="0"/>
                        </a:rPr>
                        <a:t>:</a:t>
                      </a:r>
                    </a:p>
                    <a:p>
                      <a:pPr algn="ctr"/>
                      <a:r>
                        <a:rPr lang="en-US" b="1" dirty="0">
                          <a:latin typeface="Cambria" panose="02040503050406030204" pitchFamily="18" charset="0"/>
                          <a:ea typeface="Cambria" panose="02040503050406030204" pitchFamily="18" charset="0"/>
                        </a:rPr>
                        <a:t>Final Exam consists of two parts:</a:t>
                      </a:r>
                    </a:p>
                    <a:p>
                      <a:pPr algn="ctr"/>
                      <a:r>
                        <a:rPr lang="en-US" b="1" dirty="0">
                          <a:latin typeface="Cambria" panose="02040503050406030204" pitchFamily="18" charset="0"/>
                          <a:ea typeface="Cambria" panose="02040503050406030204" pitchFamily="18" charset="0"/>
                        </a:rPr>
                        <a:t>1</a:t>
                      </a:r>
                      <a:r>
                        <a:rPr lang="en-US" dirty="0">
                          <a:latin typeface="Cambria" panose="02040503050406030204" pitchFamily="18" charset="0"/>
                          <a:ea typeface="Cambria" panose="02040503050406030204" pitchFamily="18" charset="0"/>
                        </a:rPr>
                        <a:t>-Theoretical questions and</a:t>
                      </a:r>
                      <a:r>
                        <a:rPr lang="en-US">
                          <a:latin typeface="Cambria" panose="02040503050406030204" pitchFamily="18" charset="0"/>
                          <a:ea typeface="Cambria" panose="02040503050406030204" pitchFamily="18" charset="0"/>
                        </a:rPr>
                        <a:t>/or Multiple </a:t>
                      </a:r>
                      <a:r>
                        <a:rPr lang="en-US" dirty="0">
                          <a:latin typeface="Cambria" panose="02040503050406030204" pitchFamily="18" charset="0"/>
                          <a:ea typeface="Cambria" panose="02040503050406030204" pitchFamily="18" charset="0"/>
                        </a:rPr>
                        <a:t>choice questions(only one Correct Answer- No Negative Points).</a:t>
                      </a:r>
                    </a:p>
                    <a:p>
                      <a:pPr algn="ctr"/>
                      <a:endParaRPr lang="en-US" dirty="0">
                        <a:latin typeface="Cambria" panose="02040503050406030204" pitchFamily="18" charset="0"/>
                        <a:ea typeface="Cambria" panose="02040503050406030204" pitchFamily="18" charset="0"/>
                      </a:endParaRPr>
                    </a:p>
                    <a:p>
                      <a:pPr algn="ctr"/>
                      <a:r>
                        <a:rPr lang="en-US" b="1" dirty="0">
                          <a:latin typeface="Cambria" panose="02040503050406030204" pitchFamily="18" charset="0"/>
                          <a:ea typeface="Cambria" panose="02040503050406030204" pitchFamily="18" charset="0"/>
                        </a:rPr>
                        <a:t>2</a:t>
                      </a:r>
                      <a:r>
                        <a:rPr lang="en-US" dirty="0">
                          <a:latin typeface="Cambria" panose="02040503050406030204" pitchFamily="18" charset="0"/>
                          <a:ea typeface="Cambria" panose="02040503050406030204" pitchFamily="18" charset="0"/>
                        </a:rPr>
                        <a:t>- Case Study.</a:t>
                      </a:r>
                      <a:endParaRPr lang="fr-FR" dirty="0">
                        <a:latin typeface="Cambria" panose="02040503050406030204" pitchFamily="18" charset="0"/>
                        <a:ea typeface="Cambria" panose="02040503050406030204" pitchFamily="18" charset="0"/>
                      </a:endParaRPr>
                    </a:p>
                    <a:p>
                      <a:pPr algn="ctr"/>
                      <a:endParaRPr lang="fr-FR" dirty="0">
                        <a:latin typeface="Cambria" panose="02040503050406030204" pitchFamily="18" charset="0"/>
                        <a:ea typeface="Cambria" panose="02040503050406030204" pitchFamily="18" charset="0"/>
                      </a:endParaRPr>
                    </a:p>
                  </a:txBody>
                  <a:tcPr/>
                </a:tc>
                <a:tc>
                  <a:txBody>
                    <a:bodyPr/>
                    <a:lstStyle/>
                    <a:p>
                      <a:pPr algn="ctr"/>
                      <a:r>
                        <a:rPr lang="fr-FR" dirty="0">
                          <a:latin typeface="Cambria" panose="02040503050406030204" pitchFamily="18" charset="0"/>
                          <a:ea typeface="Cambria" panose="02040503050406030204" pitchFamily="18" charset="0"/>
                        </a:rPr>
                        <a:t>120 min </a:t>
                      </a:r>
                    </a:p>
                  </a:txBody>
                  <a:tcPr/>
                </a:tc>
                <a:tc>
                  <a:txBody>
                    <a:bodyPr/>
                    <a:lstStyle/>
                    <a:p>
                      <a:pPr algn="ctr"/>
                      <a:r>
                        <a:rPr lang="fr-FR" dirty="0">
                          <a:latin typeface="Cambria" panose="02040503050406030204" pitchFamily="18" charset="0"/>
                          <a:ea typeface="Cambria" panose="02040503050406030204" pitchFamily="18" charset="0"/>
                        </a:rPr>
                        <a:t>60%</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6447568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1D32BE-CD50-F706-CFDE-B77987DBA7ED}"/>
              </a:ext>
            </a:extLst>
          </p:cNvPr>
          <p:cNvSpPr>
            <a:spLocks noGrp="1"/>
          </p:cNvSpPr>
          <p:nvPr>
            <p:ph type="title"/>
          </p:nvPr>
        </p:nvSpPr>
        <p:spPr>
          <a:xfrm>
            <a:off x="949960" y="172720"/>
            <a:ext cx="10515600" cy="447040"/>
          </a:xfrm>
        </p:spPr>
        <p:txBody>
          <a:bodyPr>
            <a:normAutofit fontScale="90000"/>
          </a:bodyPr>
          <a:lstStyle/>
          <a:p>
            <a:r>
              <a:rPr lang="fr-FR" b="1" u="sng" dirty="0" err="1">
                <a:solidFill>
                  <a:srgbClr val="7030A0"/>
                </a:solidFill>
                <a:latin typeface="Cambria" panose="02040503050406030204" pitchFamily="18" charset="0"/>
                <a:ea typeface="Cambria" panose="02040503050406030204" pitchFamily="18" charset="0"/>
              </a:rPr>
              <a:t>Groupwork</a:t>
            </a:r>
            <a:r>
              <a:rPr lang="fr-FR" b="1" u="sng" dirty="0">
                <a:solidFill>
                  <a:srgbClr val="7030A0"/>
                </a:solidFill>
                <a:latin typeface="Cambria" panose="02040503050406030204" pitchFamily="18" charset="0"/>
                <a:ea typeface="Cambria" panose="02040503050406030204" pitchFamily="18" charset="0"/>
              </a:rPr>
              <a:t> topics:</a:t>
            </a:r>
            <a:endParaRPr lang="fr-FR" dirty="0"/>
          </a:p>
        </p:txBody>
      </p:sp>
      <p:sp>
        <p:nvSpPr>
          <p:cNvPr id="3" name="Espace réservé du contenu 2">
            <a:extLst>
              <a:ext uri="{FF2B5EF4-FFF2-40B4-BE49-F238E27FC236}">
                <a16:creationId xmlns:a16="http://schemas.microsoft.com/office/drawing/2014/main" id="{D6BC4719-313A-D8DF-C7B6-60AF51D92E1A}"/>
              </a:ext>
            </a:extLst>
          </p:cNvPr>
          <p:cNvSpPr>
            <a:spLocks noGrp="1"/>
          </p:cNvSpPr>
          <p:nvPr>
            <p:ph idx="1"/>
          </p:nvPr>
        </p:nvSpPr>
        <p:spPr>
          <a:xfrm>
            <a:off x="335280" y="1253330"/>
            <a:ext cx="11008360" cy="5177949"/>
          </a:xfrm>
        </p:spPr>
        <p:txBody>
          <a:bodyPr>
            <a:normAutofit fontScale="70000" lnSpcReduction="20000"/>
          </a:bodyPr>
          <a:lstStyle/>
          <a:p>
            <a:pPr marL="342900" indent="-342900">
              <a:buAutoNum type="arabicPeriod"/>
            </a:pPr>
            <a:r>
              <a:rPr lang="fr-FR" sz="4000" b="1" dirty="0">
                <a:solidFill>
                  <a:srgbClr val="7030A0"/>
                </a:solidFill>
                <a:latin typeface="Cambria" panose="02040503050406030204" pitchFamily="18" charset="0"/>
                <a:ea typeface="Cambria" panose="02040503050406030204" pitchFamily="18" charset="0"/>
              </a:rPr>
              <a:t>South China </a:t>
            </a:r>
            <a:r>
              <a:rPr lang="fr-FR" sz="4000" b="1" dirty="0" err="1">
                <a:solidFill>
                  <a:srgbClr val="7030A0"/>
                </a:solidFill>
                <a:latin typeface="Cambria" panose="02040503050406030204" pitchFamily="18" charset="0"/>
                <a:ea typeface="Cambria" panose="02040503050406030204" pitchFamily="18" charset="0"/>
              </a:rPr>
              <a:t>Sea</a:t>
            </a:r>
            <a:endParaRPr lang="fr-FR" sz="4000" b="1" dirty="0">
              <a:solidFill>
                <a:srgbClr val="7030A0"/>
              </a:solidFill>
              <a:latin typeface="Cambria" panose="02040503050406030204" pitchFamily="18" charset="0"/>
              <a:ea typeface="Cambria" panose="02040503050406030204" pitchFamily="18" charset="0"/>
            </a:endParaRPr>
          </a:p>
          <a:p>
            <a:pPr marL="0" indent="0">
              <a:buNone/>
            </a:pPr>
            <a:r>
              <a:rPr lang="en-US" sz="3400" dirty="0">
                <a:latin typeface="Cambria" panose="02040503050406030204" pitchFamily="18" charset="0"/>
                <a:ea typeface="Cambria" panose="02040503050406030204" pitchFamily="18" charset="0"/>
              </a:rPr>
              <a:t>The South China Sea is a strategic hotspot marked by great-power rivalry, security tensions, and regional instability. How do these geopolitical dynamics affect international business?</a:t>
            </a:r>
            <a:endParaRPr lang="fr-FR" sz="3400" dirty="0">
              <a:solidFill>
                <a:srgbClr val="7030A0"/>
              </a:solidFill>
              <a:latin typeface="Cambria" panose="02040503050406030204" pitchFamily="18" charset="0"/>
              <a:ea typeface="Cambria" panose="02040503050406030204" pitchFamily="18" charset="0"/>
            </a:endParaRPr>
          </a:p>
          <a:p>
            <a:pPr marL="0" indent="0">
              <a:buNone/>
            </a:pPr>
            <a:endParaRPr lang="fr-FR" sz="3600" b="1" dirty="0">
              <a:solidFill>
                <a:srgbClr val="7030A0"/>
              </a:solidFill>
              <a:latin typeface="Cambria" panose="02040503050406030204" pitchFamily="18" charset="0"/>
              <a:ea typeface="Cambria" panose="02040503050406030204" pitchFamily="18" charset="0"/>
            </a:endParaRPr>
          </a:p>
          <a:p>
            <a:pPr marL="0" indent="0">
              <a:buNone/>
            </a:pPr>
            <a:r>
              <a:rPr lang="fr-FR" sz="4000" b="1" dirty="0">
                <a:solidFill>
                  <a:srgbClr val="7030A0"/>
                </a:solidFill>
                <a:latin typeface="Cambria" panose="02040503050406030204" pitchFamily="18" charset="0"/>
                <a:ea typeface="Cambria" panose="02040503050406030204" pitchFamily="18" charset="0"/>
              </a:rPr>
              <a:t>2</a:t>
            </a:r>
            <a:r>
              <a:rPr lang="en-US" sz="4000" b="1" dirty="0">
                <a:solidFill>
                  <a:srgbClr val="7030A0"/>
                </a:solidFill>
                <a:latin typeface="Cambria" panose="02040503050406030204" pitchFamily="18" charset="0"/>
                <a:ea typeface="Cambria" panose="02040503050406030204" pitchFamily="18" charset="0"/>
              </a:rPr>
              <a:t>. Black Sea</a:t>
            </a:r>
            <a:endParaRPr lang="en-US" sz="4000" dirty="0">
              <a:solidFill>
                <a:srgbClr val="7030A0"/>
              </a:solidFill>
              <a:latin typeface="Cambria" panose="02040503050406030204" pitchFamily="18" charset="0"/>
              <a:ea typeface="Cambria" panose="02040503050406030204" pitchFamily="18" charset="0"/>
            </a:endParaRPr>
          </a:p>
          <a:p>
            <a:endParaRPr lang="en-US" b="1" dirty="0">
              <a:solidFill>
                <a:srgbClr val="7030A0"/>
              </a:solidFill>
              <a:latin typeface="Cambria" panose="02040503050406030204" pitchFamily="18" charset="0"/>
              <a:ea typeface="Cambria" panose="02040503050406030204" pitchFamily="18" charset="0"/>
            </a:endParaRPr>
          </a:p>
          <a:p>
            <a:pPr marL="0" indent="0">
              <a:buNone/>
            </a:pPr>
            <a:r>
              <a:rPr lang="en-US" sz="3100" dirty="0">
                <a:latin typeface="Cambria" panose="02040503050406030204" pitchFamily="18" charset="0"/>
                <a:ea typeface="Cambria" panose="02040503050406030204" pitchFamily="18" charset="0"/>
              </a:rPr>
              <a:t>competition for influence in the Black Sea, involving Russia, NATO, and the EU. What are the implications and the geopolitical risks for international business?</a:t>
            </a:r>
            <a:endParaRPr lang="fr-FR" sz="3100" b="1" dirty="0">
              <a:solidFill>
                <a:srgbClr val="7030A0"/>
              </a:solidFill>
              <a:latin typeface="Cambria" panose="02040503050406030204" pitchFamily="18" charset="0"/>
              <a:ea typeface="Cambria" panose="02040503050406030204" pitchFamily="18" charset="0"/>
            </a:endParaRPr>
          </a:p>
          <a:p>
            <a:pPr marL="0" indent="0">
              <a:buNone/>
            </a:pPr>
            <a:endParaRPr lang="fr-FR" sz="3600" b="1" dirty="0">
              <a:solidFill>
                <a:srgbClr val="7030A0"/>
              </a:solidFill>
              <a:latin typeface="Cambria" panose="02040503050406030204" pitchFamily="18" charset="0"/>
              <a:ea typeface="Cambria" panose="02040503050406030204" pitchFamily="18" charset="0"/>
            </a:endParaRPr>
          </a:p>
          <a:p>
            <a:pPr marL="0" indent="0">
              <a:buNone/>
            </a:pPr>
            <a:r>
              <a:rPr lang="fr-FR" sz="4000" b="1" dirty="0">
                <a:solidFill>
                  <a:srgbClr val="7030A0"/>
                </a:solidFill>
                <a:latin typeface="Cambria" panose="02040503050406030204" pitchFamily="18" charset="0"/>
                <a:ea typeface="Cambria" panose="02040503050406030204" pitchFamily="18" charset="0"/>
              </a:rPr>
              <a:t>3. </a:t>
            </a:r>
            <a:r>
              <a:rPr lang="en-US" sz="4000" b="1" dirty="0">
                <a:solidFill>
                  <a:srgbClr val="7030A0"/>
                </a:solidFill>
                <a:latin typeface="Cambria" panose="02040503050406030204" pitchFamily="18" charset="0"/>
                <a:ea typeface="Cambria" panose="02040503050406030204" pitchFamily="18" charset="0"/>
              </a:rPr>
              <a:t>Horn of Africa</a:t>
            </a:r>
          </a:p>
          <a:p>
            <a:pPr marL="0" indent="0">
              <a:buNone/>
            </a:pPr>
            <a:r>
              <a:rPr lang="en-US" sz="3100" dirty="0">
                <a:latin typeface="Cambria" panose="02040503050406030204" pitchFamily="18" charset="0"/>
                <a:ea typeface="Cambria" panose="02040503050406030204" pitchFamily="18" charset="0"/>
              </a:rPr>
              <a:t>Fragmented states across the Red Sea and the Horn of Africa illustrate a region in deep crisis, characterized by armed conflict, state collapse, foreign intervention, and terrorism. What geopolitical risks does this environment pose for international business and regional stability?</a:t>
            </a:r>
            <a:endParaRPr lang="fr-FR" sz="31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30736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720ECA-8586-EB26-DB0F-CEF7A722C997}"/>
              </a:ext>
            </a:extLst>
          </p:cNvPr>
          <p:cNvSpPr>
            <a:spLocks noGrp="1"/>
          </p:cNvSpPr>
          <p:nvPr>
            <p:ph type="title"/>
          </p:nvPr>
        </p:nvSpPr>
        <p:spPr>
          <a:xfrm>
            <a:off x="838200" y="365125"/>
            <a:ext cx="10515600" cy="620395"/>
          </a:xfrm>
        </p:spPr>
        <p:txBody>
          <a:bodyPr>
            <a:normAutofit fontScale="90000"/>
          </a:bodyPr>
          <a:lstStyle/>
          <a:p>
            <a:r>
              <a:rPr lang="fr-FR" b="1" u="sng" dirty="0" err="1">
                <a:solidFill>
                  <a:srgbClr val="7030A0"/>
                </a:solidFill>
                <a:latin typeface="Cambria" panose="02040503050406030204" pitchFamily="18" charset="0"/>
                <a:ea typeface="Cambria" panose="02040503050406030204" pitchFamily="18" charset="0"/>
              </a:rPr>
              <a:t>Groupwork</a:t>
            </a:r>
            <a:r>
              <a:rPr lang="fr-FR" b="1" u="sng" dirty="0">
                <a:solidFill>
                  <a:srgbClr val="7030A0"/>
                </a:solidFill>
                <a:latin typeface="Cambria" panose="02040503050406030204" pitchFamily="18" charset="0"/>
                <a:ea typeface="Cambria" panose="02040503050406030204" pitchFamily="18" charset="0"/>
              </a:rPr>
              <a:t> topics</a:t>
            </a:r>
            <a:endParaRPr lang="fr-FR" dirty="0"/>
          </a:p>
        </p:txBody>
      </p:sp>
      <p:sp>
        <p:nvSpPr>
          <p:cNvPr id="3" name="Espace réservé du contenu 2">
            <a:extLst>
              <a:ext uri="{FF2B5EF4-FFF2-40B4-BE49-F238E27FC236}">
                <a16:creationId xmlns:a16="http://schemas.microsoft.com/office/drawing/2014/main" id="{2C7590C5-1BA1-3B1C-856B-6F30DD41ADAB}"/>
              </a:ext>
            </a:extLst>
          </p:cNvPr>
          <p:cNvSpPr>
            <a:spLocks noGrp="1"/>
          </p:cNvSpPr>
          <p:nvPr>
            <p:ph idx="1"/>
          </p:nvPr>
        </p:nvSpPr>
        <p:spPr>
          <a:xfrm>
            <a:off x="838200" y="1690688"/>
            <a:ext cx="10515600" cy="4802187"/>
          </a:xfrm>
        </p:spPr>
        <p:txBody>
          <a:bodyPr>
            <a:normAutofit lnSpcReduction="10000"/>
          </a:bodyPr>
          <a:lstStyle/>
          <a:p>
            <a:pPr marL="0" indent="0">
              <a:buNone/>
            </a:pPr>
            <a:r>
              <a:rPr lang="fr-FR" b="1" dirty="0">
                <a:solidFill>
                  <a:srgbClr val="7030A0"/>
                </a:solidFill>
                <a:latin typeface="Cambria" panose="02040503050406030204" pitchFamily="18" charset="0"/>
                <a:ea typeface="Cambria" panose="02040503050406030204" pitchFamily="18" charset="0"/>
              </a:rPr>
              <a:t>4. The Sahel</a:t>
            </a:r>
          </a:p>
          <a:p>
            <a:pPr marL="0" indent="0">
              <a:buNone/>
            </a:pPr>
            <a:r>
              <a:rPr lang="en-US" sz="2400" dirty="0">
                <a:latin typeface="Cambria" panose="02040503050406030204" pitchFamily="18" charset="0"/>
                <a:ea typeface="Cambria" panose="02040503050406030204" pitchFamily="18" charset="0"/>
              </a:rPr>
              <a:t>In Mali, Burkina Faso, and Central Africa, military coups, economic fragility, terrorism, foreign military involvement, and increasing Chinese presence create a volatile geopolitical environment. What risks does this pose for international business?</a:t>
            </a:r>
          </a:p>
          <a:p>
            <a:pPr marL="0" indent="0">
              <a:buNone/>
            </a:pPr>
            <a:endParaRPr lang="fr-FR" sz="2400" dirty="0">
              <a:solidFill>
                <a:srgbClr val="7030A0"/>
              </a:solidFill>
              <a:latin typeface="Cambria" panose="02040503050406030204" pitchFamily="18" charset="0"/>
              <a:ea typeface="Cambria" panose="02040503050406030204" pitchFamily="18" charset="0"/>
            </a:endParaRPr>
          </a:p>
          <a:p>
            <a:pPr marL="0" indent="0">
              <a:buNone/>
            </a:pPr>
            <a:r>
              <a:rPr lang="fr-FR" b="1" dirty="0">
                <a:solidFill>
                  <a:srgbClr val="7030A0"/>
                </a:solidFill>
                <a:latin typeface="Cambria" panose="02040503050406030204" pitchFamily="18" charset="0"/>
                <a:ea typeface="Cambria" panose="02040503050406030204" pitchFamily="18" charset="0"/>
              </a:rPr>
              <a:t>5. Venezuela/ South America</a:t>
            </a:r>
          </a:p>
          <a:p>
            <a:endParaRPr lang="fr-FR" b="1" dirty="0">
              <a:solidFill>
                <a:srgbClr val="7030A0"/>
              </a:solidFill>
              <a:latin typeface="Cambria" panose="02040503050406030204" pitchFamily="18" charset="0"/>
              <a:ea typeface="Cambria" panose="02040503050406030204" pitchFamily="18" charset="0"/>
            </a:endParaRPr>
          </a:p>
          <a:p>
            <a:pPr marL="0" indent="0">
              <a:buNone/>
            </a:pPr>
            <a:r>
              <a:rPr lang="en-US" sz="2400" dirty="0">
                <a:latin typeface="Cambria" panose="02040503050406030204" pitchFamily="18" charset="0"/>
                <a:ea typeface="Cambria" panose="02040503050406030204" pitchFamily="18" charset="0"/>
              </a:rPr>
              <a:t>The arrest of the Venezuelan president by the United States would have far-reaching geopolitical consequences and could generate a wide range of political, economic, social, and security risks. What would be the implications for global stability?</a:t>
            </a:r>
            <a:endParaRPr lang="fr-FR" sz="2400" dirty="0">
              <a:solidFill>
                <a:srgbClr val="7030A0"/>
              </a:solidFill>
              <a:latin typeface="Cambria" panose="02040503050406030204" pitchFamily="18" charset="0"/>
              <a:ea typeface="Cambria" panose="02040503050406030204" pitchFamily="18" charset="0"/>
            </a:endParaRPr>
          </a:p>
          <a:p>
            <a:endParaRPr lang="fr-FR" dirty="0"/>
          </a:p>
        </p:txBody>
      </p:sp>
    </p:spTree>
    <p:extLst>
      <p:ext uri="{BB962C8B-B14F-4D97-AF65-F5344CB8AC3E}">
        <p14:creationId xmlns:p14="http://schemas.microsoft.com/office/powerpoint/2010/main" val="258353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14173" y="2481947"/>
            <a:ext cx="8485833" cy="1208314"/>
          </a:xfrm>
        </p:spPr>
        <p:txBody>
          <a:bodyPr/>
          <a:lstStyle/>
          <a:p>
            <a:pPr>
              <a:lnSpc>
                <a:spcPct val="100000"/>
              </a:lnSpc>
              <a:spcBef>
                <a:spcPts val="0"/>
              </a:spcBef>
            </a:pPr>
            <a:r>
              <a:rPr lang="fr-FR" sz="4000" dirty="0" err="1">
                <a:solidFill>
                  <a:srgbClr val="7030A0"/>
                </a:solidFill>
                <a:latin typeface="Cambria" panose="02040503050406030204" pitchFamily="18" charset="0"/>
                <a:ea typeface="Cambria" panose="02040503050406030204" pitchFamily="18" charset="0"/>
              </a:rPr>
              <a:t>Geopolitic</a:t>
            </a:r>
            <a:r>
              <a:rPr lang="fr-FR" sz="4000" dirty="0">
                <a:solidFill>
                  <a:srgbClr val="7030A0"/>
                </a:solidFill>
                <a:latin typeface="Cambria" panose="02040503050406030204" pitchFamily="18" charset="0"/>
                <a:ea typeface="Cambria" panose="02040503050406030204" pitchFamily="18" charset="0"/>
              </a:rPr>
              <a:t> concepts and </a:t>
            </a:r>
            <a:r>
              <a:rPr lang="fr-FR" sz="4000" dirty="0" err="1">
                <a:solidFill>
                  <a:srgbClr val="7030A0"/>
                </a:solidFill>
                <a:latin typeface="Cambria" panose="02040503050406030204" pitchFamily="18" charset="0"/>
                <a:ea typeface="Cambria" panose="02040503050406030204" pitchFamily="18" charset="0"/>
              </a:rPr>
              <a:t>definition</a:t>
            </a:r>
            <a:r>
              <a:rPr lang="fr-FR" sz="4000" dirty="0">
                <a:solidFill>
                  <a:srgbClr val="7030A0"/>
                </a:solidFill>
                <a:latin typeface="Cambria" panose="02040503050406030204" pitchFamily="18" charset="0"/>
                <a:ea typeface="Cambria" panose="02040503050406030204" pitchFamily="18" charset="0"/>
              </a:rPr>
              <a:t> of GPR</a:t>
            </a:r>
            <a:endParaRPr lang="fr-FR" altLang="fr-FR" sz="3200" dirty="0">
              <a:solidFill>
                <a:srgbClr val="7030A0"/>
              </a:solidFill>
              <a:latin typeface="Cambria" panose="02040503050406030204" pitchFamily="18" charset="0"/>
            </a:endParaRPr>
          </a:p>
        </p:txBody>
      </p:sp>
    </p:spTree>
    <p:custDataLst>
      <p:tags r:id="rId1"/>
    </p:custDataLst>
    <p:extLst>
      <p:ext uri="{BB962C8B-B14F-4D97-AF65-F5344CB8AC3E}">
        <p14:creationId xmlns:p14="http://schemas.microsoft.com/office/powerpoint/2010/main" val="424536663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p:txBody>
          <a:bodyPr>
            <a:normAutofit/>
          </a:bodyPr>
          <a:lstStyle/>
          <a:p>
            <a:r>
              <a:rPr lang="fr-FR" sz="3600" b="1" dirty="0">
                <a:solidFill>
                  <a:srgbClr val="7030A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 </a:t>
            </a:r>
            <a:r>
              <a:rPr lang="fr-FR" sz="3600" b="1" dirty="0" err="1">
                <a:solidFill>
                  <a:srgbClr val="7030A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Definitions</a:t>
            </a:r>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p:txBody>
          <a:bodyPr>
            <a:normAutofit lnSpcReduction="10000"/>
          </a:bodyPr>
          <a:lstStyle/>
          <a:p>
            <a:pPr marL="0" indent="0">
              <a:buNone/>
            </a:pPr>
            <a:r>
              <a:rPr lang="fr-FR" sz="3200" b="1" u="sng" dirty="0" err="1">
                <a:solidFill>
                  <a:srgbClr val="7030A0"/>
                </a:solidFill>
                <a:latin typeface="Cambria" panose="02040503050406030204" pitchFamily="18" charset="0"/>
                <a:ea typeface="Cambria" panose="02040503050406030204" pitchFamily="18" charset="0"/>
              </a:rPr>
              <a:t>Geopolitics</a:t>
            </a:r>
            <a:r>
              <a:rPr lang="fr-FR" sz="3200" b="1" u="sng" dirty="0">
                <a:solidFill>
                  <a:srgbClr val="7030A0"/>
                </a:solidFill>
                <a:latin typeface="Cambria" panose="02040503050406030204" pitchFamily="18" charset="0"/>
                <a:ea typeface="Cambria" panose="02040503050406030204" pitchFamily="18" charset="0"/>
              </a:rPr>
              <a:t> :</a:t>
            </a:r>
            <a:r>
              <a:rPr lang="fr-FR" sz="3200" b="1" u="sng" dirty="0">
                <a:latin typeface="Cambria" panose="02040503050406030204" pitchFamily="18" charset="0"/>
                <a:ea typeface="Cambria" panose="02040503050406030204" pitchFamily="18" charset="0"/>
              </a:rPr>
              <a:t> </a:t>
            </a:r>
          </a:p>
          <a:p>
            <a:endParaRPr lang="fr-FR" dirty="0">
              <a:latin typeface="Cambria" panose="02040503050406030204" pitchFamily="18" charset="0"/>
              <a:ea typeface="Cambria" panose="02040503050406030204" pitchFamily="18" charset="0"/>
            </a:endParaRPr>
          </a:p>
          <a:p>
            <a:r>
              <a:rPr lang="fr-FR" sz="2800" b="1" dirty="0">
                <a:solidFill>
                  <a:srgbClr val="7030A0"/>
                </a:solidFill>
                <a:latin typeface="Cambria" panose="02040503050406030204" pitchFamily="18" charset="0"/>
                <a:ea typeface="Cambria" panose="02040503050406030204" pitchFamily="18" charset="0"/>
              </a:rPr>
              <a:t> </a:t>
            </a:r>
            <a:r>
              <a:rPr lang="en-US" sz="2400" dirty="0">
                <a:solidFill>
                  <a:srgbClr val="7030A0"/>
                </a:solidFill>
              </a:rPr>
              <a:t>Historically, geopolitics has been used to describe the practice of states controlling and competing for territory.</a:t>
            </a:r>
          </a:p>
          <a:p>
            <a:endParaRPr lang="en-US" sz="2400" dirty="0">
              <a:solidFill>
                <a:srgbClr val="7030A0"/>
              </a:solidFill>
            </a:endParaRPr>
          </a:p>
          <a:p>
            <a:r>
              <a:rPr lang="en-US" sz="2400" dirty="0">
                <a:solidFill>
                  <a:srgbClr val="7030A0"/>
                </a:solidFill>
              </a:rPr>
              <a:t>In recent decades, we have also included corporate groups, non-governmental organizations, rebel groups, and political parties.</a:t>
            </a:r>
          </a:p>
          <a:p>
            <a:endParaRPr lang="en-US" sz="2400" dirty="0">
              <a:solidFill>
                <a:srgbClr val="7030A0"/>
              </a:solidFill>
            </a:endParaRPr>
          </a:p>
          <a:p>
            <a:r>
              <a:rPr lang="en-US" sz="2400" dirty="0">
                <a:solidFill>
                  <a:srgbClr val="7030A0"/>
                </a:solidFill>
              </a:rPr>
              <a:t>The current usage of the term “geopolitics” covers a wide range of events, with diverse causes and consequences, from terrorist attacks to climate change, and from Brexit to the global financial crisis.</a:t>
            </a:r>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3173651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p:txBody>
          <a:bodyPr>
            <a:normAutofit/>
          </a:bodyPr>
          <a:lstStyle/>
          <a:p>
            <a:r>
              <a:rPr lang="fr-FR" sz="3600" b="1" dirty="0">
                <a:solidFill>
                  <a:srgbClr val="7030A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 </a:t>
            </a:r>
            <a:r>
              <a:rPr lang="fr-FR" sz="3600" b="1" dirty="0" err="1">
                <a:solidFill>
                  <a:srgbClr val="7030A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Definitions</a:t>
            </a:r>
            <a:endParaRPr lang="fr-FR" sz="3600" dirty="0">
              <a:solidFill>
                <a:srgbClr val="7030A0"/>
              </a:solidFill>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p:txBody>
          <a:bodyPr>
            <a:normAutofit/>
          </a:bodyPr>
          <a:lstStyle/>
          <a:p>
            <a:pPr marL="0" indent="0">
              <a:buNone/>
            </a:pPr>
            <a:endParaRPr lang="fr-FR" sz="2800" b="1" dirty="0">
              <a:solidFill>
                <a:srgbClr val="7030A0"/>
              </a:solidFill>
              <a:latin typeface="Cambria" panose="02040503050406030204" pitchFamily="18" charset="0"/>
              <a:ea typeface="Cambria" panose="02040503050406030204" pitchFamily="18" charset="0"/>
            </a:endParaRPr>
          </a:p>
          <a:p>
            <a:pPr marL="0" indent="0">
              <a:buNone/>
            </a:pPr>
            <a:r>
              <a:rPr lang="fr-FR" b="1" u="sng" dirty="0" err="1">
                <a:solidFill>
                  <a:srgbClr val="7030A0"/>
                </a:solidFill>
                <a:latin typeface="Cambria" panose="02040503050406030204" pitchFamily="18" charset="0"/>
                <a:ea typeface="Cambria" panose="02040503050406030204" pitchFamily="18" charset="0"/>
              </a:rPr>
              <a:t>Geopolitical</a:t>
            </a:r>
            <a:r>
              <a:rPr lang="fr-FR" b="1" u="sng" dirty="0">
                <a:solidFill>
                  <a:srgbClr val="7030A0"/>
                </a:solidFill>
                <a:latin typeface="Cambria" panose="02040503050406030204" pitchFamily="18" charset="0"/>
                <a:ea typeface="Cambria" panose="02040503050406030204" pitchFamily="18" charset="0"/>
              </a:rPr>
              <a:t> Risk : </a:t>
            </a:r>
          </a:p>
          <a:p>
            <a:endParaRPr lang="fr-FR" sz="2800" dirty="0">
              <a:solidFill>
                <a:srgbClr val="7030A0"/>
              </a:solidFill>
              <a:latin typeface="Cambria" panose="02040503050406030204" pitchFamily="18" charset="0"/>
              <a:ea typeface="Cambria" panose="02040503050406030204" pitchFamily="18" charset="0"/>
            </a:endParaRPr>
          </a:p>
          <a:p>
            <a:r>
              <a:rPr lang="en-US" dirty="0">
                <a:solidFill>
                  <a:srgbClr val="7030A0"/>
                </a:solidFill>
              </a:rPr>
              <a:t>Geopolitical risk can be defined as the risk associated with wars, terrorist acts, and tensions between states that disrupt the normal and peaceful course of international relations.</a:t>
            </a:r>
          </a:p>
          <a:p>
            <a:endParaRPr lang="en-US" dirty="0">
              <a:solidFill>
                <a:srgbClr val="7030A0"/>
              </a:solidFill>
            </a:endParaRPr>
          </a:p>
          <a:p>
            <a:r>
              <a:rPr lang="en-US" dirty="0">
                <a:solidFill>
                  <a:srgbClr val="7030A0"/>
                </a:solidFill>
              </a:rPr>
              <a:t>This definition is not exhaustive, as geopolitical risk may be understood differently by different actors.</a:t>
            </a:r>
          </a:p>
          <a:p>
            <a:endParaRPr lang="fr-FR" dirty="0"/>
          </a:p>
        </p:txBody>
      </p:sp>
    </p:spTree>
    <p:extLst>
      <p:ext uri="{BB962C8B-B14F-4D97-AF65-F5344CB8AC3E}">
        <p14:creationId xmlns:p14="http://schemas.microsoft.com/office/powerpoint/2010/main" val="422397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p:txBody>
          <a:bodyPr>
            <a:normAutofit/>
          </a:bodyPr>
          <a:lstStyle/>
          <a:p>
            <a:r>
              <a:rPr lang="fr-FR" sz="3600" b="1" dirty="0">
                <a:solidFill>
                  <a:srgbClr val="7030A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 </a:t>
            </a:r>
            <a:r>
              <a:rPr lang="fr-FR" sz="3600" b="1" dirty="0" err="1">
                <a:solidFill>
                  <a:srgbClr val="7030A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Definitions</a:t>
            </a:r>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p:txBody>
          <a:bodyPr>
            <a:normAutofit/>
          </a:bodyPr>
          <a:lstStyle/>
          <a:p>
            <a:pPr marL="0" indent="0">
              <a:buNone/>
            </a:pPr>
            <a:endParaRPr lang="fr-FR" sz="2800" b="1" dirty="0">
              <a:solidFill>
                <a:srgbClr val="7030A0"/>
              </a:solidFill>
              <a:latin typeface="Cambria" panose="02040503050406030204" pitchFamily="18" charset="0"/>
              <a:ea typeface="Cambria" panose="02040503050406030204" pitchFamily="18" charset="0"/>
            </a:endParaRPr>
          </a:p>
          <a:p>
            <a:pPr marL="0" indent="0">
              <a:buNone/>
            </a:pPr>
            <a:r>
              <a:rPr lang="en-US" b="1" dirty="0">
                <a:solidFill>
                  <a:srgbClr val="7030A0"/>
                </a:solidFill>
              </a:rPr>
              <a:t>For Companies and Business Operations:</a:t>
            </a:r>
          </a:p>
          <a:p>
            <a:pPr marL="0" indent="0">
              <a:buNone/>
            </a:pPr>
            <a:endParaRPr lang="en-US" dirty="0">
              <a:solidFill>
                <a:srgbClr val="7030A0"/>
              </a:solidFill>
            </a:endParaRPr>
          </a:p>
          <a:p>
            <a:r>
              <a:rPr lang="en-US" dirty="0">
                <a:solidFill>
                  <a:srgbClr val="7030A0"/>
                </a:solidFill>
              </a:rPr>
              <a:t>Geopolitical risk (GPR) refers to the probability that political actions or events will significantly affect a company’s business activities.</a:t>
            </a:r>
          </a:p>
          <a:p>
            <a:endParaRPr lang="en-US" dirty="0">
              <a:solidFill>
                <a:srgbClr val="7030A0"/>
              </a:solidFill>
            </a:endParaRPr>
          </a:p>
          <a:p>
            <a:r>
              <a:rPr lang="en-US" dirty="0">
                <a:solidFill>
                  <a:srgbClr val="7030A0"/>
                </a:solidFill>
              </a:rPr>
              <a:t>Such political actions affecting businesses can occur at all levels—from the domestic environment and public spaces to international markets and foreign operations.</a:t>
            </a:r>
          </a:p>
          <a:p>
            <a:endParaRPr lang="fr-FR" dirty="0"/>
          </a:p>
          <a:p>
            <a:endParaRPr lang="fr-FR" dirty="0"/>
          </a:p>
        </p:txBody>
      </p:sp>
    </p:spTree>
    <p:extLst>
      <p:ext uri="{BB962C8B-B14F-4D97-AF65-F5344CB8AC3E}">
        <p14:creationId xmlns:p14="http://schemas.microsoft.com/office/powerpoint/2010/main" val="3082487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p:txBody>
          <a:bodyPr>
            <a:normAutofit/>
          </a:bodyPr>
          <a:lstStyle/>
          <a:p>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p:txBody>
          <a:bodyPr>
            <a:normAutofit/>
          </a:bodyPr>
          <a:lstStyle/>
          <a:p>
            <a:pPr marL="0" indent="0">
              <a:buNone/>
            </a:pPr>
            <a:endParaRPr lang="fr-FR" sz="2800" b="1" dirty="0">
              <a:solidFill>
                <a:srgbClr val="7030A0"/>
              </a:solidFill>
              <a:latin typeface="Cambria" panose="02040503050406030204" pitchFamily="18" charset="0"/>
              <a:ea typeface="Cambria" panose="02040503050406030204" pitchFamily="18" charset="0"/>
            </a:endParaRPr>
          </a:p>
          <a:p>
            <a:endParaRPr lang="fr-FR" dirty="0"/>
          </a:p>
        </p:txBody>
      </p:sp>
      <p:pic>
        <p:nvPicPr>
          <p:cNvPr id="4" name="Image 3">
            <a:extLst>
              <a:ext uri="{FF2B5EF4-FFF2-40B4-BE49-F238E27FC236}">
                <a16:creationId xmlns:a16="http://schemas.microsoft.com/office/drawing/2014/main" id="{8331783C-CC3B-1B4D-0D23-C99985AC8F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380"/>
            <a:ext cx="12192000" cy="7002379"/>
          </a:xfrm>
          <a:prstGeom prst="rect">
            <a:avLst/>
          </a:prstGeom>
        </p:spPr>
      </p:pic>
    </p:spTree>
    <p:extLst>
      <p:ext uri="{BB962C8B-B14F-4D97-AF65-F5344CB8AC3E}">
        <p14:creationId xmlns:p14="http://schemas.microsoft.com/office/powerpoint/2010/main" val="3210327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A13D14-A616-1759-7D16-A3AC03441422}"/>
              </a:ext>
            </a:extLst>
          </p:cNvPr>
          <p:cNvSpPr>
            <a:spLocks noGrp="1"/>
          </p:cNvSpPr>
          <p:nvPr>
            <p:ph type="title"/>
          </p:nvPr>
        </p:nvSpPr>
        <p:spPr/>
        <p:txBody>
          <a:bodyPr/>
          <a:lstStyle/>
          <a:p>
            <a:endParaRPr lang="fr-FR"/>
          </a:p>
        </p:txBody>
      </p:sp>
      <p:pic>
        <p:nvPicPr>
          <p:cNvPr id="5" name="Picture 2">
            <a:extLst>
              <a:ext uri="{FF2B5EF4-FFF2-40B4-BE49-F238E27FC236}">
                <a16:creationId xmlns:a16="http://schemas.microsoft.com/office/drawing/2014/main" id="{FD9B54BA-B95B-0573-7106-BF07B849CA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6229" y="259576"/>
            <a:ext cx="10515600" cy="7013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4870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687514" y="304800"/>
            <a:ext cx="6770687" cy="914400"/>
          </a:xfrm>
        </p:spPr>
        <p:txBody>
          <a:bodyPr/>
          <a:lstStyle/>
          <a:p>
            <a:pPr eaLnBrk="1" hangingPunct="1"/>
            <a:endParaRPr lang="en-US" altLang="fr-FR" sz="3200" dirty="0">
              <a:solidFill>
                <a:schemeClr val="accent5">
                  <a:lumMod val="50000"/>
                </a:schemeClr>
              </a:solidFill>
              <a:latin typeface="Cambria" panose="02040503050406030204" pitchFamily="18" charset="0"/>
            </a:endParaRPr>
          </a:p>
        </p:txBody>
      </p:sp>
      <p:pic>
        <p:nvPicPr>
          <p:cNvPr id="2" name="Picture 2">
            <a:extLst>
              <a:ext uri="{FF2B5EF4-FFF2-40B4-BE49-F238E27FC236}">
                <a16:creationId xmlns:a16="http://schemas.microsoft.com/office/drawing/2014/main" id="{80AF4CB7-B02F-3CDC-2046-D45986AF85A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6635" y="489381"/>
            <a:ext cx="9798730" cy="5879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42982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p:txBody>
          <a:bodyPr>
            <a:normAutofit/>
          </a:bodyPr>
          <a:lstStyle/>
          <a:p>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p:txBody>
          <a:bodyPr>
            <a:normAutofit/>
          </a:bodyPr>
          <a:lstStyle/>
          <a:p>
            <a:pPr marL="0" indent="0">
              <a:buNone/>
            </a:pPr>
            <a:endParaRPr lang="fr-FR" dirty="0">
              <a:solidFill>
                <a:srgbClr val="7030A0"/>
              </a:solidFill>
              <a:latin typeface="Cambria" panose="02040503050406030204" pitchFamily="18" charset="0"/>
              <a:ea typeface="Cambria" panose="02040503050406030204" pitchFamily="18" charset="0"/>
            </a:endParaRPr>
          </a:p>
          <a:p>
            <a:endParaRPr lang="fr-FR" dirty="0"/>
          </a:p>
          <a:p>
            <a:endParaRPr lang="fr-FR" dirty="0"/>
          </a:p>
        </p:txBody>
      </p:sp>
      <p:pic>
        <p:nvPicPr>
          <p:cNvPr id="4" name="Image 3">
            <a:extLst>
              <a:ext uri="{FF2B5EF4-FFF2-40B4-BE49-F238E27FC236}">
                <a16:creationId xmlns:a16="http://schemas.microsoft.com/office/drawing/2014/main" id="{5FB5B878-6482-2222-E445-DA326DF16C81}"/>
              </a:ext>
            </a:extLst>
          </p:cNvPr>
          <p:cNvPicPr>
            <a:picLocks noChangeAspect="1"/>
          </p:cNvPicPr>
          <p:nvPr/>
        </p:nvPicPr>
        <p:blipFill>
          <a:blip r:embed="rId2"/>
          <a:stretch>
            <a:fillRect/>
          </a:stretch>
        </p:blipFill>
        <p:spPr>
          <a:xfrm>
            <a:off x="1024306" y="2228849"/>
            <a:ext cx="9861758" cy="2923721"/>
          </a:xfrm>
          <a:prstGeom prst="rect">
            <a:avLst/>
          </a:prstGeom>
        </p:spPr>
      </p:pic>
    </p:spTree>
    <p:extLst>
      <p:ext uri="{BB962C8B-B14F-4D97-AF65-F5344CB8AC3E}">
        <p14:creationId xmlns:p14="http://schemas.microsoft.com/office/powerpoint/2010/main" val="1768835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p:txBody>
          <a:bodyPr>
            <a:normAutofit/>
          </a:bodyPr>
          <a:lstStyle/>
          <a:p>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p:txBody>
          <a:bodyPr>
            <a:normAutofit/>
          </a:bodyPr>
          <a:lstStyle/>
          <a:p>
            <a:pPr marL="0" indent="0">
              <a:buNone/>
            </a:pPr>
            <a:endParaRPr lang="fr-FR" dirty="0">
              <a:solidFill>
                <a:srgbClr val="7030A0"/>
              </a:solidFill>
              <a:latin typeface="Cambria" panose="02040503050406030204" pitchFamily="18" charset="0"/>
              <a:ea typeface="Cambria" panose="02040503050406030204" pitchFamily="18" charset="0"/>
            </a:endParaRPr>
          </a:p>
          <a:p>
            <a:endParaRPr lang="fr-FR" dirty="0"/>
          </a:p>
          <a:p>
            <a:endParaRPr lang="fr-FR" dirty="0"/>
          </a:p>
        </p:txBody>
      </p:sp>
      <p:pic>
        <p:nvPicPr>
          <p:cNvPr id="4" name="Picture 2">
            <a:extLst>
              <a:ext uri="{FF2B5EF4-FFF2-40B4-BE49-F238E27FC236}">
                <a16:creationId xmlns:a16="http://schemas.microsoft.com/office/drawing/2014/main" id="{4B0CBEB7-C184-1342-210F-B7BDCC169C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155" y="602928"/>
            <a:ext cx="10277341" cy="6119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445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p:txBody>
          <a:bodyPr>
            <a:normAutofit/>
          </a:bodyPr>
          <a:lstStyle/>
          <a:p>
            <a:r>
              <a:rPr lang="fr-FR" sz="3600" b="1" dirty="0">
                <a:solidFill>
                  <a:srgbClr val="7030A0"/>
                </a:solidFill>
                <a:latin typeface="Cambria" panose="02040503050406030204" pitchFamily="18" charset="0"/>
                <a:ea typeface="Cambria" panose="02040503050406030204" pitchFamily="18" charset="0"/>
              </a:rPr>
              <a:t>B) Concepts</a:t>
            </a:r>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p:txBody>
          <a:bodyPr>
            <a:normAutofit lnSpcReduction="10000"/>
          </a:bodyPr>
          <a:lstStyle/>
          <a:p>
            <a:pPr marL="0" indent="0">
              <a:buNone/>
            </a:pPr>
            <a:endParaRPr lang="fr-FR" dirty="0">
              <a:solidFill>
                <a:srgbClr val="7030A0"/>
              </a:solidFill>
              <a:latin typeface="Cambria" panose="02040503050406030204" pitchFamily="18" charset="0"/>
              <a:ea typeface="Cambria" panose="02040503050406030204" pitchFamily="18" charset="0"/>
            </a:endParaRPr>
          </a:p>
          <a:p>
            <a:pPr marL="0" indent="0">
              <a:buNone/>
            </a:pPr>
            <a:r>
              <a:rPr lang="en-US" b="1" dirty="0">
                <a:solidFill>
                  <a:srgbClr val="7030A0"/>
                </a:solidFill>
              </a:rPr>
              <a:t>We can identify five levels of actors whose actions generate geopolitical risk (GPR) for businesses:</a:t>
            </a:r>
          </a:p>
          <a:p>
            <a:pPr marL="0" indent="0">
              <a:buNone/>
            </a:pPr>
            <a:endParaRPr lang="en-US" dirty="0"/>
          </a:p>
          <a:p>
            <a:pPr>
              <a:buFont typeface="Arial" panose="020B0604020202020204" pitchFamily="34" charset="0"/>
              <a:buChar char="•"/>
            </a:pPr>
            <a:r>
              <a:rPr lang="en-US" dirty="0">
                <a:solidFill>
                  <a:srgbClr val="7030A0"/>
                </a:solidFill>
              </a:rPr>
              <a:t>Individuals</a:t>
            </a:r>
          </a:p>
          <a:p>
            <a:pPr>
              <a:buFont typeface="Arial" panose="020B0604020202020204" pitchFamily="34" charset="0"/>
              <a:buChar char="•"/>
            </a:pPr>
            <a:r>
              <a:rPr lang="en-US" dirty="0">
                <a:solidFill>
                  <a:srgbClr val="7030A0"/>
                </a:solidFill>
              </a:rPr>
              <a:t>Local organizations</a:t>
            </a:r>
          </a:p>
          <a:p>
            <a:pPr>
              <a:buFont typeface="Arial" panose="020B0604020202020204" pitchFamily="34" charset="0"/>
              <a:buChar char="•"/>
            </a:pPr>
            <a:r>
              <a:rPr lang="en-US" dirty="0">
                <a:solidFill>
                  <a:srgbClr val="7030A0"/>
                </a:solidFill>
              </a:rPr>
              <a:t>National government actors and state institutions</a:t>
            </a:r>
          </a:p>
          <a:p>
            <a:pPr>
              <a:buFont typeface="Arial" panose="020B0604020202020204" pitchFamily="34" charset="0"/>
              <a:buChar char="•"/>
            </a:pPr>
            <a:r>
              <a:rPr lang="en-US" dirty="0">
                <a:solidFill>
                  <a:srgbClr val="7030A0"/>
                </a:solidFill>
              </a:rPr>
              <a:t>Transnational groups</a:t>
            </a:r>
          </a:p>
          <a:p>
            <a:pPr>
              <a:buFont typeface="Arial" panose="020B0604020202020204" pitchFamily="34" charset="0"/>
              <a:buChar char="•"/>
            </a:pPr>
            <a:r>
              <a:rPr lang="fr-FR" dirty="0">
                <a:solidFill>
                  <a:srgbClr val="7030A0"/>
                </a:solidFill>
              </a:rPr>
              <a:t>Supranational and international institutions</a:t>
            </a:r>
            <a:endParaRPr lang="en-US" dirty="0">
              <a:solidFill>
                <a:srgbClr val="7030A0"/>
              </a:solidFill>
            </a:endParaRPr>
          </a:p>
          <a:p>
            <a:endParaRPr lang="fr-FR" dirty="0"/>
          </a:p>
        </p:txBody>
      </p:sp>
    </p:spTree>
    <p:extLst>
      <p:ext uri="{BB962C8B-B14F-4D97-AF65-F5344CB8AC3E}">
        <p14:creationId xmlns:p14="http://schemas.microsoft.com/office/powerpoint/2010/main" val="121208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a:xfrm>
            <a:off x="838199" y="365125"/>
            <a:ext cx="10515601" cy="534761"/>
          </a:xfrm>
        </p:spPr>
        <p:txBody>
          <a:bodyPr>
            <a:normAutofit fontScale="90000"/>
          </a:bodyPr>
          <a:lstStyle/>
          <a:p>
            <a:r>
              <a:rPr lang="fr-FR" sz="3600" b="1" dirty="0">
                <a:solidFill>
                  <a:srgbClr val="7030A0"/>
                </a:solidFill>
              </a:rPr>
              <a:t>B) </a:t>
            </a:r>
            <a:r>
              <a:rPr lang="fr-FR" sz="3600" b="1" dirty="0">
                <a:solidFill>
                  <a:srgbClr val="7030A0"/>
                </a:solidFill>
                <a:latin typeface="Cambria" panose="02040503050406030204" pitchFamily="18" charset="0"/>
                <a:ea typeface="Cambria" panose="02040503050406030204" pitchFamily="18" charset="0"/>
              </a:rPr>
              <a:t>Concepts</a:t>
            </a:r>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a:xfrm>
            <a:off x="314960" y="975361"/>
            <a:ext cx="11612879" cy="5770880"/>
          </a:xfrm>
        </p:spPr>
        <p:txBody>
          <a:bodyPr>
            <a:normAutofit fontScale="47500" lnSpcReduction="20000"/>
          </a:bodyPr>
          <a:lstStyle/>
          <a:p>
            <a:pPr marL="0" indent="0">
              <a:buNone/>
            </a:pPr>
            <a:endParaRPr lang="fr-FR" dirty="0">
              <a:solidFill>
                <a:srgbClr val="7030A0"/>
              </a:solidFill>
              <a:latin typeface="Cambria" panose="02040503050406030204" pitchFamily="18" charset="0"/>
              <a:ea typeface="Cambria" panose="02040503050406030204" pitchFamily="18" charset="0"/>
            </a:endParaRPr>
          </a:p>
          <a:p>
            <a:pPr marL="342900" indent="-342900">
              <a:buAutoNum type="arabicPeriod"/>
            </a:pPr>
            <a:r>
              <a:rPr lang="fr-FR" sz="3800" b="1" u="sng" dirty="0" err="1">
                <a:solidFill>
                  <a:srgbClr val="7030A0"/>
                </a:solidFill>
                <a:latin typeface="Cambria" panose="02040503050406030204" pitchFamily="18" charset="0"/>
                <a:ea typeface="Cambria" panose="02040503050406030204" pitchFamily="18" charset="0"/>
              </a:rPr>
              <a:t>Individual</a:t>
            </a:r>
            <a:r>
              <a:rPr lang="fr-FR" sz="3800" b="1" u="sng" dirty="0">
                <a:solidFill>
                  <a:srgbClr val="7030A0"/>
                </a:solidFill>
                <a:latin typeface="Cambria" panose="02040503050406030204" pitchFamily="18" charset="0"/>
                <a:ea typeface="Cambria" panose="02040503050406030204" pitchFamily="18" charset="0"/>
              </a:rPr>
              <a:t> : </a:t>
            </a:r>
          </a:p>
          <a:p>
            <a:pPr marL="0" indent="0">
              <a:buNone/>
            </a:pPr>
            <a:r>
              <a:rPr lang="fr-FR" sz="3800" dirty="0" err="1">
                <a:solidFill>
                  <a:srgbClr val="7030A0"/>
                </a:solidFill>
                <a:latin typeface="Cambria" panose="02040503050406030204" pitchFamily="18" charset="0"/>
                <a:ea typeface="Cambria" panose="02040503050406030204" pitchFamily="18" charset="0"/>
              </a:rPr>
              <a:t>Such</a:t>
            </a:r>
            <a:r>
              <a:rPr lang="fr-FR" sz="3800" dirty="0">
                <a:solidFill>
                  <a:srgbClr val="7030A0"/>
                </a:solidFill>
                <a:latin typeface="Cambria" panose="02040503050406030204" pitchFamily="18" charset="0"/>
                <a:ea typeface="Cambria" panose="02040503050406030204" pitchFamily="18" charset="0"/>
              </a:rPr>
              <a:t> as :  </a:t>
            </a:r>
          </a:p>
          <a:p>
            <a:pPr marL="285750" indent="-285750">
              <a:buFont typeface="Arial" panose="020B0604020202020204" pitchFamily="34" charset="0"/>
              <a:buChar char="•"/>
            </a:pPr>
            <a:r>
              <a:rPr lang="fr-FR" sz="3800" dirty="0">
                <a:solidFill>
                  <a:srgbClr val="7030A0"/>
                </a:solidFill>
                <a:latin typeface="Cambria" panose="02040503050406030204" pitchFamily="18" charset="0"/>
                <a:ea typeface="Cambria" panose="02040503050406030204" pitchFamily="18" charset="0"/>
              </a:rPr>
              <a:t>Twitter </a:t>
            </a:r>
            <a:r>
              <a:rPr lang="fr-FR" sz="3800" dirty="0" err="1">
                <a:solidFill>
                  <a:srgbClr val="7030A0"/>
                </a:solidFill>
                <a:latin typeface="Cambria" panose="02040503050406030204" pitchFamily="18" charset="0"/>
                <a:ea typeface="Cambria" panose="02040503050406030204" pitchFamily="18" charset="0"/>
              </a:rPr>
              <a:t>Users</a:t>
            </a:r>
            <a:endParaRPr lang="fr-FR" sz="3800" dirty="0">
              <a:solidFill>
                <a:srgbClr val="7030A0"/>
              </a:solidFill>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fr-FR" sz="3800" dirty="0" err="1">
                <a:solidFill>
                  <a:srgbClr val="7030A0"/>
                </a:solidFill>
                <a:latin typeface="Cambria" panose="02040503050406030204" pitchFamily="18" charset="0"/>
                <a:ea typeface="Cambria" panose="02040503050406030204" pitchFamily="18" charset="0"/>
              </a:rPr>
              <a:t>Documentary</a:t>
            </a:r>
            <a:r>
              <a:rPr lang="fr-FR" sz="3800" dirty="0">
                <a:solidFill>
                  <a:srgbClr val="7030A0"/>
                </a:solidFill>
                <a:latin typeface="Cambria" panose="02040503050406030204" pitchFamily="18" charset="0"/>
                <a:ea typeface="Cambria" panose="02040503050406030204" pitchFamily="18" charset="0"/>
              </a:rPr>
              <a:t> films</a:t>
            </a:r>
          </a:p>
          <a:p>
            <a:pPr marL="285750" indent="-285750">
              <a:buFont typeface="Arial" panose="020B0604020202020204" pitchFamily="34" charset="0"/>
              <a:buChar char="•"/>
            </a:pPr>
            <a:r>
              <a:rPr lang="fr-FR" sz="3800" dirty="0" err="1">
                <a:solidFill>
                  <a:srgbClr val="7030A0"/>
                </a:solidFill>
                <a:latin typeface="Cambria" panose="02040503050406030204" pitchFamily="18" charset="0"/>
                <a:ea typeface="Cambria" panose="02040503050406030204" pitchFamily="18" charset="0"/>
              </a:rPr>
              <a:t>Celebrities</a:t>
            </a:r>
            <a:r>
              <a:rPr lang="fr-FR" sz="3800" dirty="0">
                <a:solidFill>
                  <a:srgbClr val="7030A0"/>
                </a:solidFill>
                <a:latin typeface="Cambria" panose="02040503050406030204" pitchFamily="18" charset="0"/>
                <a:ea typeface="Cambria" panose="02040503050406030204" pitchFamily="18" charset="0"/>
              </a:rPr>
              <a:t>, </a:t>
            </a:r>
            <a:r>
              <a:rPr lang="fr-FR" sz="3800" dirty="0" err="1">
                <a:solidFill>
                  <a:srgbClr val="7030A0"/>
                </a:solidFill>
                <a:latin typeface="Cambria" panose="02040503050406030204" pitchFamily="18" charset="0"/>
                <a:ea typeface="Cambria" panose="02040503050406030204" pitchFamily="18" charset="0"/>
              </a:rPr>
              <a:t>ordinary</a:t>
            </a:r>
            <a:r>
              <a:rPr lang="fr-FR" sz="3800" dirty="0">
                <a:solidFill>
                  <a:srgbClr val="7030A0"/>
                </a:solidFill>
                <a:latin typeface="Cambria" panose="02040503050406030204" pitchFamily="18" charset="0"/>
                <a:ea typeface="Cambria" panose="02040503050406030204" pitchFamily="18" charset="0"/>
              </a:rPr>
              <a:t> </a:t>
            </a:r>
            <a:r>
              <a:rPr lang="fr-FR" sz="3800" dirty="0" err="1">
                <a:solidFill>
                  <a:srgbClr val="7030A0"/>
                </a:solidFill>
                <a:latin typeface="Cambria" panose="02040503050406030204" pitchFamily="18" charset="0"/>
                <a:ea typeface="Cambria" panose="02040503050406030204" pitchFamily="18" charset="0"/>
              </a:rPr>
              <a:t>citizens</a:t>
            </a:r>
            <a:endParaRPr lang="fr-FR" sz="3800" dirty="0">
              <a:solidFill>
                <a:srgbClr val="7030A0"/>
              </a:solidFill>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fr-FR" sz="3800" dirty="0">
                <a:solidFill>
                  <a:srgbClr val="7030A0"/>
                </a:solidFill>
                <a:latin typeface="Cambria" panose="02040503050406030204" pitchFamily="18" charset="0"/>
                <a:ea typeface="Cambria" panose="02040503050406030204" pitchFamily="18" charset="0"/>
              </a:rPr>
              <a:t>Hackers, </a:t>
            </a:r>
            <a:r>
              <a:rPr lang="fr-FR" sz="3800" dirty="0" err="1">
                <a:solidFill>
                  <a:srgbClr val="7030A0"/>
                </a:solidFill>
                <a:latin typeface="Cambria" panose="02040503050406030204" pitchFamily="18" charset="0"/>
                <a:ea typeface="Cambria" panose="02040503050406030204" pitchFamily="18" charset="0"/>
              </a:rPr>
              <a:t>Activists</a:t>
            </a:r>
            <a:endParaRPr lang="fr-FR" sz="3800" dirty="0">
              <a:solidFill>
                <a:srgbClr val="7030A0"/>
              </a:solidFill>
              <a:latin typeface="Cambria" panose="02040503050406030204" pitchFamily="18" charset="0"/>
              <a:ea typeface="Cambria" panose="02040503050406030204" pitchFamily="18" charset="0"/>
            </a:endParaRPr>
          </a:p>
          <a:p>
            <a:pPr marL="342900" indent="-342900">
              <a:buAutoNum type="arabicPeriod"/>
            </a:pPr>
            <a:endParaRPr lang="fr-FR" sz="3800" dirty="0">
              <a:solidFill>
                <a:srgbClr val="7030A0"/>
              </a:solidFill>
              <a:latin typeface="Cambria" panose="02040503050406030204" pitchFamily="18" charset="0"/>
              <a:ea typeface="Cambria" panose="02040503050406030204" pitchFamily="18" charset="0"/>
            </a:endParaRPr>
          </a:p>
          <a:p>
            <a:r>
              <a:rPr lang="fr-FR" sz="3800" b="1" u="sng" dirty="0">
                <a:solidFill>
                  <a:srgbClr val="7030A0"/>
                </a:solidFill>
                <a:latin typeface="Cambria" panose="02040503050406030204" pitchFamily="18" charset="0"/>
                <a:ea typeface="Cambria" panose="02040503050406030204" pitchFamily="18" charset="0"/>
              </a:rPr>
              <a:t>Exemples :</a:t>
            </a:r>
          </a:p>
          <a:p>
            <a:pPr marL="285750" indent="-285750">
              <a:buFont typeface="Arial" panose="020B0604020202020204" pitchFamily="34" charset="0"/>
              <a:buChar char="•"/>
            </a:pPr>
            <a:r>
              <a:rPr lang="en-US" sz="3800" dirty="0">
                <a:solidFill>
                  <a:srgbClr val="7030A0"/>
                </a:solidFill>
                <a:latin typeface="Cambria" panose="02040503050406030204" pitchFamily="18" charset="0"/>
                <a:ea typeface="Cambria" panose="02040503050406030204" pitchFamily="18" charset="0"/>
              </a:rPr>
              <a:t>United Airlines oversold its afternoon flight on April 9, 2017, and the company decided to remove four passengers at random but the police officers forcibly removed one passenger, by pulling him, causing him personal injury, this problem has an international impact.</a:t>
            </a:r>
          </a:p>
          <a:p>
            <a:r>
              <a:rPr lang="fr-FR" sz="3800" dirty="0">
                <a:solidFill>
                  <a:schemeClr val="accent1"/>
                </a:solidFill>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https://www.youtube.com/watch?v=uRhnBsiIjqQ</a:t>
            </a:r>
            <a:endParaRPr lang="fr-FR" sz="3800" dirty="0">
              <a:solidFill>
                <a:schemeClr val="accent1"/>
              </a:solidFill>
              <a:latin typeface="Cambria" panose="02040503050406030204" pitchFamily="18" charset="0"/>
              <a:ea typeface="Cambria" panose="02040503050406030204" pitchFamily="18" charset="0"/>
            </a:endParaRPr>
          </a:p>
          <a:p>
            <a:r>
              <a:rPr lang="fr-FR" sz="3800" dirty="0">
                <a:solidFill>
                  <a:schemeClr val="accent1"/>
                </a:solidFill>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https://www.youtube.com/watch?v=WEw-GjTriIo</a:t>
            </a:r>
            <a:endParaRPr lang="fr-FR" sz="3800" dirty="0">
              <a:solidFill>
                <a:schemeClr val="accent1"/>
              </a:solidFill>
              <a:latin typeface="Cambria" panose="02040503050406030204" pitchFamily="18" charset="0"/>
              <a:ea typeface="Cambria" panose="02040503050406030204" pitchFamily="18" charset="0"/>
            </a:endParaRPr>
          </a:p>
          <a:p>
            <a:r>
              <a:rPr lang="fr-FR" sz="3800" dirty="0">
                <a:solidFill>
                  <a:schemeClr val="accent1"/>
                </a:solidFill>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https://www.youtube.com/watch?v=XFLG88iANrk</a:t>
            </a:r>
            <a:endParaRPr lang="fr-FR" sz="3800" dirty="0">
              <a:solidFill>
                <a:schemeClr val="accent1"/>
              </a:solidFill>
              <a:latin typeface="Cambria" panose="02040503050406030204" pitchFamily="18" charset="0"/>
              <a:ea typeface="Cambria" panose="02040503050406030204" pitchFamily="18" charset="0"/>
            </a:endParaRPr>
          </a:p>
          <a:p>
            <a:endParaRPr lang="fr-FR" sz="3800" dirty="0">
              <a:solidFill>
                <a:schemeClr val="accent1"/>
              </a:solidFill>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3800" dirty="0">
                <a:solidFill>
                  <a:srgbClr val="7030A0"/>
                </a:solidFill>
                <a:latin typeface="Cambria" panose="02040503050406030204" pitchFamily="18" charset="0"/>
                <a:ea typeface="Cambria" panose="02040503050406030204" pitchFamily="18" charset="0"/>
              </a:rPr>
              <a:t>Dolce &amp; Gabbana produced an ad featuring an Asian woman eating Italian dishes with chopsticks, the Chinese people were shocked, and Dolce &amp; Gabbana had to cancel her fashion show following this story.</a:t>
            </a:r>
          </a:p>
          <a:p>
            <a:r>
              <a:rPr lang="fr-FR" sz="3800" dirty="0">
                <a:solidFill>
                  <a:schemeClr val="accent1"/>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https://www.youtube.com/watch?v=TBFC5isQuYA</a:t>
            </a:r>
            <a:endParaRPr lang="fr-FR" sz="3800" dirty="0">
              <a:solidFill>
                <a:schemeClr val="accent1"/>
              </a:solidFill>
              <a:latin typeface="Cambria" panose="02040503050406030204" pitchFamily="18" charset="0"/>
              <a:ea typeface="Cambria" panose="02040503050406030204" pitchFamily="18" charset="0"/>
            </a:endParaRPr>
          </a:p>
          <a:p>
            <a:endParaRPr lang="fr-FR" sz="3300" dirty="0"/>
          </a:p>
          <a:p>
            <a:endParaRPr lang="fr-FR" sz="3300" dirty="0"/>
          </a:p>
          <a:p>
            <a:endParaRPr lang="fr-FR" sz="3300" dirty="0"/>
          </a:p>
          <a:p>
            <a:endParaRPr lang="fr-FR" dirty="0"/>
          </a:p>
        </p:txBody>
      </p:sp>
    </p:spTree>
    <p:extLst>
      <p:ext uri="{BB962C8B-B14F-4D97-AF65-F5344CB8AC3E}">
        <p14:creationId xmlns:p14="http://schemas.microsoft.com/office/powerpoint/2010/main" val="3139565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p:txBody>
          <a:bodyPr>
            <a:normAutofit/>
          </a:bodyPr>
          <a:lstStyle/>
          <a:p>
            <a:r>
              <a:rPr lang="fr-FR" sz="3600" b="1" dirty="0">
                <a:solidFill>
                  <a:srgbClr val="7030A0"/>
                </a:solidFill>
              </a:rPr>
              <a:t>B</a:t>
            </a:r>
            <a:r>
              <a:rPr lang="fr-FR" sz="3600" b="1" dirty="0">
                <a:solidFill>
                  <a:srgbClr val="7030A0"/>
                </a:solidFill>
                <a:latin typeface="Cambria" panose="02040503050406030204" pitchFamily="18" charset="0"/>
                <a:ea typeface="Cambria" panose="02040503050406030204" pitchFamily="18" charset="0"/>
              </a:rPr>
              <a:t>) Concepts</a:t>
            </a:r>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p:txBody>
          <a:bodyPr>
            <a:normAutofit fontScale="70000" lnSpcReduction="20000"/>
          </a:bodyPr>
          <a:lstStyle/>
          <a:p>
            <a:pPr marL="0" indent="0">
              <a:buNone/>
            </a:pPr>
            <a:endParaRPr lang="fr-FR" dirty="0">
              <a:solidFill>
                <a:srgbClr val="7030A0"/>
              </a:solidFill>
              <a:latin typeface="Cambria" panose="02040503050406030204" pitchFamily="18" charset="0"/>
              <a:ea typeface="Cambria" panose="02040503050406030204" pitchFamily="18" charset="0"/>
            </a:endParaRPr>
          </a:p>
          <a:p>
            <a:r>
              <a:rPr lang="fr-FR" b="1" u="sng" dirty="0">
                <a:solidFill>
                  <a:srgbClr val="7030A0"/>
                </a:solidFill>
                <a:latin typeface="Cambria" panose="02040503050406030204" pitchFamily="18" charset="0"/>
                <a:ea typeface="Cambria" panose="02040503050406030204" pitchFamily="18" charset="0"/>
              </a:rPr>
              <a:t>2. Local Organisation</a:t>
            </a:r>
          </a:p>
          <a:p>
            <a:endParaRPr lang="fr-FR" dirty="0">
              <a:solidFill>
                <a:srgbClr val="7030A0"/>
              </a:solidFill>
              <a:latin typeface="Cambria" panose="02040503050406030204" pitchFamily="18" charset="0"/>
              <a:ea typeface="Cambria" panose="02040503050406030204" pitchFamily="18" charset="0"/>
            </a:endParaRPr>
          </a:p>
          <a:p>
            <a:pPr marL="0" indent="0">
              <a:buNone/>
            </a:pPr>
            <a:r>
              <a:rPr lang="fr-FR" dirty="0" err="1">
                <a:solidFill>
                  <a:srgbClr val="7030A0"/>
                </a:solidFill>
                <a:latin typeface="Cambria" panose="02040503050406030204" pitchFamily="18" charset="0"/>
                <a:ea typeface="Cambria" panose="02040503050406030204" pitchFamily="18" charset="0"/>
              </a:rPr>
              <a:t>Such</a:t>
            </a:r>
            <a:r>
              <a:rPr lang="fr-FR" dirty="0">
                <a:solidFill>
                  <a:srgbClr val="7030A0"/>
                </a:solidFill>
                <a:latin typeface="Cambria" panose="02040503050406030204" pitchFamily="18" charset="0"/>
                <a:ea typeface="Cambria" panose="02040503050406030204" pitchFamily="18" charset="0"/>
              </a:rPr>
              <a:t> as </a:t>
            </a:r>
            <a:r>
              <a:rPr lang="fr-FR" dirty="0" err="1">
                <a:solidFill>
                  <a:srgbClr val="7030A0"/>
                </a:solidFill>
                <a:latin typeface="Cambria" panose="02040503050406030204" pitchFamily="18" charset="0"/>
                <a:ea typeface="Cambria" panose="02040503050406030204" pitchFamily="18" charset="0"/>
              </a:rPr>
              <a:t>neighborhood</a:t>
            </a:r>
            <a:r>
              <a:rPr lang="fr-FR" dirty="0">
                <a:solidFill>
                  <a:srgbClr val="7030A0"/>
                </a:solidFill>
                <a:latin typeface="Cambria" panose="02040503050406030204" pitchFamily="18" charset="0"/>
                <a:ea typeface="Cambria" panose="02040503050406030204" pitchFamily="18" charset="0"/>
              </a:rPr>
              <a:t> associations, </a:t>
            </a:r>
            <a:r>
              <a:rPr lang="fr-FR" dirty="0" err="1">
                <a:solidFill>
                  <a:srgbClr val="7030A0"/>
                </a:solidFill>
                <a:latin typeface="Cambria" panose="02040503050406030204" pitchFamily="18" charset="0"/>
                <a:ea typeface="Cambria" panose="02040503050406030204" pitchFamily="18" charset="0"/>
              </a:rPr>
              <a:t>political</a:t>
            </a:r>
            <a:r>
              <a:rPr lang="fr-FR" dirty="0">
                <a:solidFill>
                  <a:srgbClr val="7030A0"/>
                </a:solidFill>
                <a:latin typeface="Cambria" panose="02040503050406030204" pitchFamily="18" charset="0"/>
                <a:ea typeface="Cambria" panose="02040503050406030204" pitchFamily="18" charset="0"/>
              </a:rPr>
              <a:t> groups, and local </a:t>
            </a:r>
            <a:r>
              <a:rPr lang="fr-FR" dirty="0" err="1">
                <a:solidFill>
                  <a:srgbClr val="7030A0"/>
                </a:solidFill>
                <a:latin typeface="Cambria" panose="02040503050406030204" pitchFamily="18" charset="0"/>
                <a:ea typeface="Cambria" panose="02040503050406030204" pitchFamily="18" charset="0"/>
              </a:rPr>
              <a:t>governments</a:t>
            </a:r>
            <a:r>
              <a:rPr lang="fr-FR" dirty="0">
                <a:solidFill>
                  <a:srgbClr val="7030A0"/>
                </a:solidFill>
                <a:latin typeface="Cambria" panose="02040503050406030204" pitchFamily="18" charset="0"/>
                <a:ea typeface="Cambria" panose="02040503050406030204" pitchFamily="18" charset="0"/>
              </a:rPr>
              <a:t>, </a:t>
            </a:r>
            <a:r>
              <a:rPr lang="fr-FR" dirty="0" err="1">
                <a:solidFill>
                  <a:srgbClr val="7030A0"/>
                </a:solidFill>
                <a:latin typeface="Cambria" panose="02040503050406030204" pitchFamily="18" charset="0"/>
                <a:ea typeface="Cambria" panose="02040503050406030204" pitchFamily="18" charset="0"/>
              </a:rPr>
              <a:t>labor</a:t>
            </a:r>
            <a:r>
              <a:rPr lang="fr-FR" dirty="0">
                <a:solidFill>
                  <a:srgbClr val="7030A0"/>
                </a:solidFill>
                <a:latin typeface="Cambria" panose="02040503050406030204" pitchFamily="18" charset="0"/>
                <a:ea typeface="Cambria" panose="02040503050406030204" pitchFamily="18" charset="0"/>
              </a:rPr>
              <a:t> union </a:t>
            </a:r>
          </a:p>
          <a:p>
            <a:endParaRPr lang="fr-FR" dirty="0">
              <a:solidFill>
                <a:srgbClr val="7030A0"/>
              </a:solidFill>
              <a:latin typeface="Cambria" panose="02040503050406030204" pitchFamily="18" charset="0"/>
              <a:ea typeface="Cambria" panose="02040503050406030204" pitchFamily="18" charset="0"/>
            </a:endParaRPr>
          </a:p>
          <a:p>
            <a:pPr marL="0" indent="0">
              <a:buNone/>
            </a:pPr>
            <a:r>
              <a:rPr lang="fr-FR" b="1" u="sng" dirty="0">
                <a:solidFill>
                  <a:srgbClr val="7030A0"/>
                </a:solidFill>
                <a:latin typeface="Cambria" panose="02040503050406030204" pitchFamily="18" charset="0"/>
                <a:ea typeface="Cambria" panose="02040503050406030204" pitchFamily="18" charset="0"/>
              </a:rPr>
              <a:t>Example</a:t>
            </a:r>
            <a:r>
              <a:rPr lang="fr-FR" dirty="0">
                <a:solidFill>
                  <a:srgbClr val="7030A0"/>
                </a:solidFill>
                <a:latin typeface="Cambria" panose="02040503050406030204" pitchFamily="18" charset="0"/>
                <a:ea typeface="Cambria" panose="02040503050406030204" pitchFamily="18" charset="0"/>
              </a:rPr>
              <a:t>: Iran Sanctions</a:t>
            </a:r>
          </a:p>
          <a:p>
            <a:endParaRPr lang="fr-FR" dirty="0">
              <a:solidFill>
                <a:srgbClr val="7030A0"/>
              </a:solidFill>
              <a:latin typeface="Cambria" panose="02040503050406030204" pitchFamily="18" charset="0"/>
              <a:ea typeface="Cambria" panose="02040503050406030204" pitchFamily="18" charset="0"/>
            </a:endParaRPr>
          </a:p>
          <a:p>
            <a:r>
              <a:rPr lang="fr-FR" b="1" u="sng" dirty="0">
                <a:solidFill>
                  <a:srgbClr val="7030A0"/>
                </a:solidFill>
                <a:latin typeface="Cambria" panose="02040503050406030204" pitchFamily="18" charset="0"/>
                <a:ea typeface="Cambria" panose="02040503050406030204" pitchFamily="18" charset="0"/>
              </a:rPr>
              <a:t>3. National </a:t>
            </a:r>
            <a:r>
              <a:rPr lang="fr-FR" b="1" u="sng" dirty="0" err="1">
                <a:solidFill>
                  <a:srgbClr val="7030A0"/>
                </a:solidFill>
                <a:latin typeface="Cambria" panose="02040503050406030204" pitchFamily="18" charset="0"/>
                <a:ea typeface="Cambria" panose="02040503050406030204" pitchFamily="18" charset="0"/>
              </a:rPr>
              <a:t>government</a:t>
            </a:r>
            <a:r>
              <a:rPr lang="fr-FR" b="1" u="sng" dirty="0">
                <a:solidFill>
                  <a:srgbClr val="7030A0"/>
                </a:solidFill>
                <a:latin typeface="Cambria" panose="02040503050406030204" pitchFamily="18" charset="0"/>
                <a:ea typeface="Cambria" panose="02040503050406030204" pitchFamily="18" charset="0"/>
              </a:rPr>
              <a:t> </a:t>
            </a:r>
            <a:r>
              <a:rPr lang="fr-FR" b="1" u="sng" dirty="0" err="1">
                <a:solidFill>
                  <a:srgbClr val="7030A0"/>
                </a:solidFill>
                <a:latin typeface="Cambria" panose="02040503050406030204" pitchFamily="18" charset="0"/>
                <a:ea typeface="Cambria" panose="02040503050406030204" pitchFamily="18" charset="0"/>
              </a:rPr>
              <a:t>actors</a:t>
            </a:r>
            <a:r>
              <a:rPr lang="fr-FR" b="1" u="sng" dirty="0">
                <a:solidFill>
                  <a:srgbClr val="7030A0"/>
                </a:solidFill>
                <a:latin typeface="Cambria" panose="02040503050406030204" pitchFamily="18" charset="0"/>
                <a:ea typeface="Cambria" panose="02040503050406030204" pitchFamily="18" charset="0"/>
              </a:rPr>
              <a:t> and </a:t>
            </a:r>
            <a:r>
              <a:rPr lang="fr-FR" b="1" u="sng" dirty="0" err="1">
                <a:solidFill>
                  <a:srgbClr val="7030A0"/>
                </a:solidFill>
                <a:latin typeface="Cambria" panose="02040503050406030204" pitchFamily="18" charset="0"/>
                <a:ea typeface="Cambria" panose="02040503050406030204" pitchFamily="18" charset="0"/>
              </a:rPr>
              <a:t>their</a:t>
            </a:r>
            <a:r>
              <a:rPr lang="fr-FR" b="1" u="sng" dirty="0">
                <a:solidFill>
                  <a:srgbClr val="7030A0"/>
                </a:solidFill>
                <a:latin typeface="Cambria" panose="02040503050406030204" pitchFamily="18" charset="0"/>
                <a:ea typeface="Cambria" panose="02040503050406030204" pitchFamily="18" charset="0"/>
              </a:rPr>
              <a:t> Institutions </a:t>
            </a:r>
          </a:p>
          <a:p>
            <a:endParaRPr lang="fr-FR" dirty="0">
              <a:solidFill>
                <a:srgbClr val="7030A0"/>
              </a:solidFill>
              <a:latin typeface="Cambria" panose="02040503050406030204" pitchFamily="18" charset="0"/>
              <a:ea typeface="Cambria" panose="02040503050406030204" pitchFamily="18" charset="0"/>
            </a:endParaRPr>
          </a:p>
          <a:p>
            <a:r>
              <a:rPr lang="fr-FR" dirty="0" err="1">
                <a:solidFill>
                  <a:srgbClr val="7030A0"/>
                </a:solidFill>
                <a:latin typeface="Cambria" panose="02040503050406030204" pitchFamily="18" charset="0"/>
                <a:ea typeface="Cambria" panose="02040503050406030204" pitchFamily="18" charset="0"/>
              </a:rPr>
              <a:t>Such</a:t>
            </a:r>
            <a:r>
              <a:rPr lang="fr-FR" dirty="0">
                <a:solidFill>
                  <a:srgbClr val="7030A0"/>
                </a:solidFill>
                <a:latin typeface="Cambria" panose="02040503050406030204" pitchFamily="18" charset="0"/>
                <a:ea typeface="Cambria" panose="02040503050406030204" pitchFamily="18" charset="0"/>
              </a:rPr>
              <a:t> as </a:t>
            </a:r>
            <a:r>
              <a:rPr lang="fr-FR" dirty="0" err="1">
                <a:solidFill>
                  <a:srgbClr val="7030A0"/>
                </a:solidFill>
                <a:latin typeface="Cambria" panose="02040503050406030204" pitchFamily="18" charset="0"/>
                <a:ea typeface="Cambria" panose="02040503050406030204" pitchFamily="18" charset="0"/>
              </a:rPr>
              <a:t>presidents</a:t>
            </a:r>
            <a:r>
              <a:rPr lang="fr-FR" dirty="0">
                <a:solidFill>
                  <a:srgbClr val="7030A0"/>
                </a:solidFill>
                <a:latin typeface="Cambria" panose="02040503050406030204" pitchFamily="18" charset="0"/>
                <a:ea typeface="Cambria" panose="02040503050406030204" pitchFamily="18" charset="0"/>
              </a:rPr>
              <a:t>, </a:t>
            </a:r>
            <a:r>
              <a:rPr lang="fr-FR" dirty="0" err="1">
                <a:solidFill>
                  <a:srgbClr val="7030A0"/>
                </a:solidFill>
                <a:latin typeface="Cambria" panose="02040503050406030204" pitchFamily="18" charset="0"/>
                <a:ea typeface="Cambria" panose="02040503050406030204" pitchFamily="18" charset="0"/>
              </a:rPr>
              <a:t>executive</a:t>
            </a:r>
            <a:r>
              <a:rPr lang="fr-FR" dirty="0">
                <a:solidFill>
                  <a:srgbClr val="7030A0"/>
                </a:solidFill>
                <a:latin typeface="Cambria" panose="02040503050406030204" pitchFamily="18" charset="0"/>
                <a:ea typeface="Cambria" panose="02040503050406030204" pitchFamily="18" charset="0"/>
              </a:rPr>
              <a:t> </a:t>
            </a:r>
            <a:r>
              <a:rPr lang="fr-FR" dirty="0" err="1">
                <a:solidFill>
                  <a:srgbClr val="7030A0"/>
                </a:solidFill>
                <a:latin typeface="Cambria" panose="02040503050406030204" pitchFamily="18" charset="0"/>
                <a:ea typeface="Cambria" panose="02040503050406030204" pitchFamily="18" charset="0"/>
              </a:rPr>
              <a:t>agencies</a:t>
            </a:r>
            <a:r>
              <a:rPr lang="fr-FR" dirty="0">
                <a:solidFill>
                  <a:srgbClr val="7030A0"/>
                </a:solidFill>
                <a:latin typeface="Cambria" panose="02040503050406030204" pitchFamily="18" charset="0"/>
                <a:ea typeface="Cambria" panose="02040503050406030204" pitchFamily="18" charset="0"/>
              </a:rPr>
              <a:t>, </a:t>
            </a:r>
            <a:r>
              <a:rPr lang="fr-FR" dirty="0" err="1">
                <a:solidFill>
                  <a:srgbClr val="7030A0"/>
                </a:solidFill>
                <a:latin typeface="Cambria" panose="02040503050406030204" pitchFamily="18" charset="0"/>
                <a:ea typeface="Cambria" panose="02040503050406030204" pitchFamily="18" charset="0"/>
              </a:rPr>
              <a:t>legislatures</a:t>
            </a:r>
            <a:r>
              <a:rPr lang="fr-FR" dirty="0">
                <a:solidFill>
                  <a:srgbClr val="7030A0"/>
                </a:solidFill>
                <a:latin typeface="Cambria" panose="02040503050406030204" pitchFamily="18" charset="0"/>
                <a:ea typeface="Cambria" panose="02040503050406030204" pitchFamily="18" charset="0"/>
              </a:rPr>
              <a:t>, and the </a:t>
            </a:r>
            <a:r>
              <a:rPr lang="fr-FR" dirty="0" err="1">
                <a:solidFill>
                  <a:srgbClr val="7030A0"/>
                </a:solidFill>
                <a:latin typeface="Cambria" panose="02040503050406030204" pitchFamily="18" charset="0"/>
                <a:ea typeface="Cambria" panose="02040503050406030204" pitchFamily="18" charset="0"/>
              </a:rPr>
              <a:t>judiciary</a:t>
            </a:r>
            <a:r>
              <a:rPr lang="fr-FR" dirty="0">
                <a:solidFill>
                  <a:srgbClr val="7030A0"/>
                </a:solidFill>
                <a:latin typeface="Cambria" panose="02040503050406030204" pitchFamily="18" charset="0"/>
                <a:ea typeface="Cambria" panose="02040503050406030204" pitchFamily="18" charset="0"/>
              </a:rPr>
              <a:t>.</a:t>
            </a:r>
          </a:p>
          <a:p>
            <a:endParaRPr lang="fr-FR" dirty="0">
              <a:solidFill>
                <a:srgbClr val="7030A0"/>
              </a:solidFill>
              <a:latin typeface="Cambria" panose="02040503050406030204" pitchFamily="18" charset="0"/>
              <a:ea typeface="Cambria" panose="02040503050406030204" pitchFamily="18" charset="0"/>
            </a:endParaRPr>
          </a:p>
          <a:p>
            <a:r>
              <a:rPr lang="fr-FR" b="1" u="sng" dirty="0">
                <a:solidFill>
                  <a:srgbClr val="7030A0"/>
                </a:solidFill>
                <a:latin typeface="Cambria" panose="02040503050406030204" pitchFamily="18" charset="0"/>
                <a:ea typeface="Cambria" panose="02040503050406030204" pitchFamily="18" charset="0"/>
              </a:rPr>
              <a:t>Example</a:t>
            </a:r>
            <a:r>
              <a:rPr lang="fr-FR" dirty="0">
                <a:solidFill>
                  <a:srgbClr val="7030A0"/>
                </a:solidFill>
                <a:latin typeface="Cambria" panose="02040503050406030204" pitchFamily="18" charset="0"/>
                <a:ea typeface="Cambria" panose="02040503050406030204" pitchFamily="18" charset="0"/>
              </a:rPr>
              <a:t> : </a:t>
            </a:r>
            <a:r>
              <a:rPr lang="fr-FR" dirty="0" err="1">
                <a:solidFill>
                  <a:srgbClr val="7030A0"/>
                </a:solidFill>
                <a:latin typeface="Cambria" panose="02040503050406030204" pitchFamily="18" charset="0"/>
                <a:ea typeface="Cambria" panose="02040503050406030204" pitchFamily="18" charset="0"/>
              </a:rPr>
              <a:t>Venezuella</a:t>
            </a:r>
            <a:r>
              <a:rPr lang="fr-FR" dirty="0">
                <a:solidFill>
                  <a:srgbClr val="7030A0"/>
                </a:solidFill>
                <a:latin typeface="Cambria" panose="02040503050406030204" pitchFamily="18" charset="0"/>
                <a:ea typeface="Cambria" panose="02040503050406030204" pitchFamily="18" charset="0"/>
              </a:rPr>
              <a:t> Case</a:t>
            </a:r>
          </a:p>
          <a:p>
            <a:endParaRPr lang="fr-FR" dirty="0"/>
          </a:p>
          <a:p>
            <a:endParaRPr lang="fr-FR" dirty="0"/>
          </a:p>
        </p:txBody>
      </p:sp>
    </p:spTree>
    <p:extLst>
      <p:ext uri="{BB962C8B-B14F-4D97-AF65-F5344CB8AC3E}">
        <p14:creationId xmlns:p14="http://schemas.microsoft.com/office/powerpoint/2010/main" val="2224419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a:xfrm>
            <a:off x="838200" y="365125"/>
            <a:ext cx="10515600" cy="833755"/>
          </a:xfrm>
        </p:spPr>
        <p:txBody>
          <a:bodyPr>
            <a:normAutofit/>
          </a:bodyPr>
          <a:lstStyle/>
          <a:p>
            <a:r>
              <a:rPr lang="fr-FR" sz="3600" b="1" dirty="0">
                <a:solidFill>
                  <a:srgbClr val="7030A0"/>
                </a:solidFill>
              </a:rPr>
              <a:t>B) </a:t>
            </a:r>
            <a:r>
              <a:rPr lang="fr-FR" sz="3600" b="1" dirty="0">
                <a:solidFill>
                  <a:srgbClr val="7030A0"/>
                </a:solidFill>
                <a:latin typeface="Cambria" panose="02040503050406030204" pitchFamily="18" charset="0"/>
                <a:ea typeface="Cambria" panose="02040503050406030204" pitchFamily="18" charset="0"/>
              </a:rPr>
              <a:t>Concepts</a:t>
            </a:r>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p:txBody>
          <a:bodyPr>
            <a:normAutofit fontScale="70000" lnSpcReduction="20000"/>
          </a:bodyPr>
          <a:lstStyle/>
          <a:p>
            <a:pPr marL="0" indent="0">
              <a:buNone/>
            </a:pPr>
            <a:endParaRPr lang="fr-FR" dirty="0">
              <a:solidFill>
                <a:srgbClr val="7030A0"/>
              </a:solidFill>
              <a:latin typeface="Cambria" panose="02040503050406030204" pitchFamily="18" charset="0"/>
              <a:ea typeface="Cambria" panose="02040503050406030204" pitchFamily="18" charset="0"/>
            </a:endParaRPr>
          </a:p>
          <a:p>
            <a:r>
              <a:rPr lang="fr-FR" b="1" u="sng" dirty="0">
                <a:solidFill>
                  <a:srgbClr val="7030A0"/>
                </a:solidFill>
                <a:latin typeface="Cambria" panose="02040503050406030204" pitchFamily="18" charset="0"/>
                <a:ea typeface="Cambria" panose="02040503050406030204" pitchFamily="18" charset="0"/>
              </a:rPr>
              <a:t>4. Transnational group</a:t>
            </a:r>
          </a:p>
          <a:p>
            <a:endParaRPr lang="fr-FR" dirty="0">
              <a:solidFill>
                <a:srgbClr val="7030A0"/>
              </a:solidFill>
              <a:latin typeface="Cambria" panose="02040503050406030204" pitchFamily="18" charset="0"/>
              <a:ea typeface="Cambria" panose="02040503050406030204" pitchFamily="18" charset="0"/>
            </a:endParaRPr>
          </a:p>
          <a:p>
            <a:pPr marL="0" indent="0">
              <a:buNone/>
            </a:pPr>
            <a:r>
              <a:rPr lang="fr-FR" dirty="0" err="1">
                <a:solidFill>
                  <a:srgbClr val="7030A0"/>
                </a:solidFill>
                <a:latin typeface="Cambria" panose="02040503050406030204" pitchFamily="18" charset="0"/>
                <a:ea typeface="Cambria" panose="02040503050406030204" pitchFamily="18" charset="0"/>
              </a:rPr>
              <a:t>Such</a:t>
            </a:r>
            <a:r>
              <a:rPr lang="fr-FR" dirty="0">
                <a:solidFill>
                  <a:srgbClr val="7030A0"/>
                </a:solidFill>
                <a:latin typeface="Cambria" panose="02040503050406030204" pitchFamily="18" charset="0"/>
                <a:ea typeface="Cambria" panose="02040503050406030204" pitchFamily="18" charset="0"/>
              </a:rPr>
              <a:t> as </a:t>
            </a:r>
            <a:r>
              <a:rPr lang="fr-FR" dirty="0" err="1">
                <a:solidFill>
                  <a:srgbClr val="7030A0"/>
                </a:solidFill>
                <a:latin typeface="Cambria" panose="02040503050406030204" pitchFamily="18" charset="0"/>
                <a:ea typeface="Cambria" panose="02040503050406030204" pitchFamily="18" charset="0"/>
              </a:rPr>
              <a:t>activists</a:t>
            </a:r>
            <a:r>
              <a:rPr lang="fr-FR" dirty="0">
                <a:solidFill>
                  <a:srgbClr val="7030A0"/>
                </a:solidFill>
                <a:latin typeface="Cambria" panose="02040503050406030204" pitchFamily="18" charset="0"/>
                <a:ea typeface="Cambria" panose="02040503050406030204" pitchFamily="18" charset="0"/>
              </a:rPr>
              <a:t>, </a:t>
            </a:r>
            <a:r>
              <a:rPr lang="fr-FR" dirty="0" err="1">
                <a:solidFill>
                  <a:srgbClr val="7030A0"/>
                </a:solidFill>
                <a:latin typeface="Cambria" panose="02040503050406030204" pitchFamily="18" charset="0"/>
                <a:ea typeface="Cambria" panose="02040503050406030204" pitchFamily="18" charset="0"/>
              </a:rPr>
              <a:t>terrorists</a:t>
            </a:r>
            <a:r>
              <a:rPr lang="fr-FR" dirty="0">
                <a:solidFill>
                  <a:srgbClr val="7030A0"/>
                </a:solidFill>
                <a:latin typeface="Cambria" panose="02040503050406030204" pitchFamily="18" charset="0"/>
                <a:ea typeface="Cambria" panose="02040503050406030204" pitchFamily="18" charset="0"/>
              </a:rPr>
              <a:t>, hackers, </a:t>
            </a:r>
            <a:r>
              <a:rPr lang="fr-FR" dirty="0" err="1">
                <a:solidFill>
                  <a:srgbClr val="7030A0"/>
                </a:solidFill>
                <a:latin typeface="Cambria" panose="02040503050406030204" pitchFamily="18" charset="0"/>
                <a:ea typeface="Cambria" panose="02040503050406030204" pitchFamily="18" charset="0"/>
              </a:rPr>
              <a:t>criminals</a:t>
            </a:r>
            <a:r>
              <a:rPr lang="fr-FR" dirty="0">
                <a:solidFill>
                  <a:srgbClr val="7030A0"/>
                </a:solidFill>
                <a:latin typeface="Cambria" panose="02040503050406030204" pitchFamily="18" charset="0"/>
                <a:ea typeface="Cambria" panose="02040503050406030204" pitchFamily="18" charset="0"/>
              </a:rPr>
              <a:t>, </a:t>
            </a:r>
            <a:r>
              <a:rPr lang="fr-FR" dirty="0" err="1">
                <a:solidFill>
                  <a:srgbClr val="7030A0"/>
                </a:solidFill>
                <a:latin typeface="Cambria" panose="02040503050406030204" pitchFamily="18" charset="0"/>
                <a:ea typeface="Cambria" panose="02040503050406030204" pitchFamily="18" charset="0"/>
              </a:rPr>
              <a:t>militaries</a:t>
            </a:r>
            <a:r>
              <a:rPr lang="fr-FR" dirty="0">
                <a:solidFill>
                  <a:srgbClr val="7030A0"/>
                </a:solidFill>
                <a:latin typeface="Cambria" panose="02040503050406030204" pitchFamily="18" charset="0"/>
                <a:ea typeface="Cambria" panose="02040503050406030204" pitchFamily="18" charset="0"/>
              </a:rPr>
              <a:t> and </a:t>
            </a:r>
            <a:r>
              <a:rPr lang="fr-FR" dirty="0" err="1">
                <a:solidFill>
                  <a:srgbClr val="7030A0"/>
                </a:solidFill>
                <a:latin typeface="Cambria" panose="02040503050406030204" pitchFamily="18" charset="0"/>
                <a:ea typeface="Cambria" panose="02040503050406030204" pitchFamily="18" charset="0"/>
              </a:rPr>
              <a:t>ethnic</a:t>
            </a:r>
            <a:r>
              <a:rPr lang="fr-FR" dirty="0">
                <a:solidFill>
                  <a:srgbClr val="7030A0"/>
                </a:solidFill>
                <a:latin typeface="Cambria" panose="02040503050406030204" pitchFamily="18" charset="0"/>
                <a:ea typeface="Cambria" panose="02040503050406030204" pitchFamily="18" charset="0"/>
              </a:rPr>
              <a:t>  religions </a:t>
            </a:r>
            <a:r>
              <a:rPr lang="fr-FR" dirty="0" err="1">
                <a:solidFill>
                  <a:srgbClr val="7030A0"/>
                </a:solidFill>
                <a:latin typeface="Cambria" panose="02040503050406030204" pitchFamily="18" charset="0"/>
                <a:ea typeface="Cambria" panose="02040503050406030204" pitchFamily="18" charset="0"/>
              </a:rPr>
              <a:t>communities</a:t>
            </a:r>
            <a:r>
              <a:rPr lang="fr-FR" dirty="0">
                <a:solidFill>
                  <a:srgbClr val="7030A0"/>
                </a:solidFill>
                <a:latin typeface="Cambria" panose="02040503050406030204" pitchFamily="18" charset="0"/>
                <a:ea typeface="Cambria" panose="02040503050406030204" pitchFamily="18" charset="0"/>
              </a:rPr>
              <a:t>.</a:t>
            </a:r>
          </a:p>
          <a:p>
            <a:endParaRPr lang="fr-FR" dirty="0">
              <a:solidFill>
                <a:srgbClr val="7030A0"/>
              </a:solidFill>
              <a:latin typeface="Cambria" panose="02040503050406030204" pitchFamily="18" charset="0"/>
              <a:ea typeface="Cambria" panose="02040503050406030204" pitchFamily="18" charset="0"/>
            </a:endParaRPr>
          </a:p>
          <a:p>
            <a:pPr marL="0" indent="0">
              <a:buNone/>
            </a:pPr>
            <a:r>
              <a:rPr lang="fr-FR" b="1" u="sng" dirty="0">
                <a:solidFill>
                  <a:srgbClr val="7030A0"/>
                </a:solidFill>
                <a:latin typeface="Cambria" panose="02040503050406030204" pitchFamily="18" charset="0"/>
                <a:ea typeface="Cambria" panose="02040503050406030204" pitchFamily="18" charset="0"/>
              </a:rPr>
              <a:t>Example</a:t>
            </a:r>
            <a:r>
              <a:rPr lang="fr-FR" dirty="0">
                <a:solidFill>
                  <a:srgbClr val="7030A0"/>
                </a:solidFill>
                <a:latin typeface="Cambria" panose="02040503050406030204" pitchFamily="18" charset="0"/>
                <a:ea typeface="Cambria" panose="02040503050406030204" pitchFamily="18" charset="0"/>
              </a:rPr>
              <a:t>: In June 2017 : cyber </a:t>
            </a:r>
            <a:r>
              <a:rPr lang="fr-FR" dirty="0" err="1">
                <a:solidFill>
                  <a:srgbClr val="7030A0"/>
                </a:solidFill>
                <a:latin typeface="Cambria" panose="02040503050406030204" pitchFamily="18" charset="0"/>
                <a:ea typeface="Cambria" panose="02040503050406030204" pitchFamily="18" charset="0"/>
              </a:rPr>
              <a:t>attack</a:t>
            </a:r>
            <a:r>
              <a:rPr lang="fr-FR" dirty="0">
                <a:solidFill>
                  <a:srgbClr val="7030A0"/>
                </a:solidFill>
                <a:latin typeface="Cambria" panose="02040503050406030204" pitchFamily="18" charset="0"/>
                <a:ea typeface="Cambria" panose="02040503050406030204" pitchFamily="18" charset="0"/>
              </a:rPr>
              <a:t> </a:t>
            </a:r>
            <a:r>
              <a:rPr lang="fr-FR" dirty="0" err="1">
                <a:solidFill>
                  <a:srgbClr val="7030A0"/>
                </a:solidFill>
                <a:latin typeface="Cambria" panose="02040503050406030204" pitchFamily="18" charset="0"/>
                <a:ea typeface="Cambria" panose="02040503050406030204" pitchFamily="18" charset="0"/>
              </a:rPr>
              <a:t>Called</a:t>
            </a:r>
            <a:r>
              <a:rPr lang="fr-FR" dirty="0">
                <a:solidFill>
                  <a:srgbClr val="7030A0"/>
                </a:solidFill>
                <a:latin typeface="Cambria" panose="02040503050406030204" pitchFamily="18" charset="0"/>
                <a:ea typeface="Cambria" panose="02040503050406030204" pitchFamily="18" charset="0"/>
              </a:rPr>
              <a:t> « Not </a:t>
            </a:r>
            <a:r>
              <a:rPr lang="fr-FR" dirty="0" err="1">
                <a:solidFill>
                  <a:srgbClr val="7030A0"/>
                </a:solidFill>
                <a:latin typeface="Cambria" panose="02040503050406030204" pitchFamily="18" charset="0"/>
                <a:ea typeface="Cambria" panose="02040503050406030204" pitchFamily="18" charset="0"/>
              </a:rPr>
              <a:t>Petya</a:t>
            </a:r>
            <a:r>
              <a:rPr lang="fr-FR" dirty="0">
                <a:solidFill>
                  <a:srgbClr val="7030A0"/>
                </a:solidFill>
                <a:latin typeface="Cambria" panose="02040503050406030204" pitchFamily="18" charset="0"/>
                <a:ea typeface="Cambria" panose="02040503050406030204" pitchFamily="18" charset="0"/>
              </a:rPr>
              <a:t> » </a:t>
            </a:r>
            <a:r>
              <a:rPr lang="fr-FR" dirty="0" err="1">
                <a:solidFill>
                  <a:srgbClr val="7030A0"/>
                </a:solidFill>
                <a:latin typeface="Cambria" panose="02040503050406030204" pitchFamily="18" charset="0"/>
                <a:ea typeface="Cambria" panose="02040503050406030204" pitchFamily="18" charset="0"/>
              </a:rPr>
              <a:t>disabled</a:t>
            </a:r>
            <a:r>
              <a:rPr lang="fr-FR" dirty="0">
                <a:solidFill>
                  <a:srgbClr val="7030A0"/>
                </a:solidFill>
                <a:latin typeface="Cambria" panose="02040503050406030204" pitchFamily="18" charset="0"/>
                <a:ea typeface="Cambria" panose="02040503050406030204" pitchFamily="18" charset="0"/>
              </a:rPr>
              <a:t> computer </a:t>
            </a:r>
            <a:r>
              <a:rPr lang="fr-FR" dirty="0" err="1">
                <a:solidFill>
                  <a:srgbClr val="7030A0"/>
                </a:solidFill>
                <a:latin typeface="Cambria" panose="02040503050406030204" pitchFamily="18" charset="0"/>
                <a:ea typeface="Cambria" panose="02040503050406030204" pitchFamily="18" charset="0"/>
              </a:rPr>
              <a:t>systems</a:t>
            </a:r>
            <a:r>
              <a:rPr lang="fr-FR" dirty="0">
                <a:solidFill>
                  <a:srgbClr val="7030A0"/>
                </a:solidFill>
                <a:latin typeface="Cambria" panose="02040503050406030204" pitchFamily="18" charset="0"/>
                <a:ea typeface="Cambria" panose="02040503050406030204" pitchFamily="18" charset="0"/>
              </a:rPr>
              <a:t> </a:t>
            </a:r>
            <a:r>
              <a:rPr lang="fr-FR" dirty="0" err="1">
                <a:solidFill>
                  <a:srgbClr val="7030A0"/>
                </a:solidFill>
                <a:latin typeface="Cambria" panose="02040503050406030204" pitchFamily="18" charset="0"/>
                <a:ea typeface="Cambria" panose="02040503050406030204" pitchFamily="18" charset="0"/>
              </a:rPr>
              <a:t>worldwide</a:t>
            </a:r>
            <a:r>
              <a:rPr lang="fr-FR" dirty="0">
                <a:solidFill>
                  <a:srgbClr val="7030A0"/>
                </a:solidFill>
                <a:latin typeface="Cambria" panose="02040503050406030204" pitchFamily="18" charset="0"/>
                <a:ea typeface="Cambria" panose="02040503050406030204" pitchFamily="18" charset="0"/>
              </a:rPr>
              <a:t>.</a:t>
            </a:r>
          </a:p>
          <a:p>
            <a:endParaRPr lang="fr-FR" dirty="0">
              <a:solidFill>
                <a:srgbClr val="7030A0"/>
              </a:solidFill>
              <a:latin typeface="Cambria" panose="02040503050406030204" pitchFamily="18" charset="0"/>
              <a:ea typeface="Cambria" panose="02040503050406030204" pitchFamily="18" charset="0"/>
            </a:endParaRPr>
          </a:p>
          <a:p>
            <a:r>
              <a:rPr lang="fr-FR" b="1" u="sng" dirty="0">
                <a:solidFill>
                  <a:srgbClr val="7030A0"/>
                </a:solidFill>
                <a:latin typeface="Cambria" panose="02040503050406030204" pitchFamily="18" charset="0"/>
                <a:ea typeface="Cambria" panose="02040503050406030204" pitchFamily="18" charset="0"/>
              </a:rPr>
              <a:t>5. Supranational and International Institutions</a:t>
            </a:r>
          </a:p>
          <a:p>
            <a:endParaRPr lang="fr-FR" dirty="0">
              <a:solidFill>
                <a:srgbClr val="7030A0"/>
              </a:solidFill>
              <a:latin typeface="Cambria" panose="02040503050406030204" pitchFamily="18" charset="0"/>
              <a:ea typeface="Cambria" panose="02040503050406030204" pitchFamily="18" charset="0"/>
            </a:endParaRPr>
          </a:p>
          <a:p>
            <a:pPr marL="0" indent="0">
              <a:buNone/>
            </a:pPr>
            <a:r>
              <a:rPr lang="fr-FR" dirty="0" err="1">
                <a:solidFill>
                  <a:srgbClr val="7030A0"/>
                </a:solidFill>
                <a:latin typeface="Cambria" panose="02040503050406030204" pitchFamily="18" charset="0"/>
                <a:ea typeface="Cambria" panose="02040503050406030204" pitchFamily="18" charset="0"/>
              </a:rPr>
              <a:t>Such</a:t>
            </a:r>
            <a:r>
              <a:rPr lang="fr-FR" dirty="0">
                <a:solidFill>
                  <a:srgbClr val="7030A0"/>
                </a:solidFill>
                <a:latin typeface="Cambria" panose="02040503050406030204" pitchFamily="18" charset="0"/>
                <a:ea typeface="Cambria" panose="02040503050406030204" pitchFamily="18" charset="0"/>
              </a:rPr>
              <a:t> as the </a:t>
            </a:r>
            <a:r>
              <a:rPr lang="fr-FR" dirty="0" err="1">
                <a:solidFill>
                  <a:srgbClr val="7030A0"/>
                </a:solidFill>
                <a:latin typeface="Cambria" panose="02040503050406030204" pitchFamily="18" charset="0"/>
                <a:ea typeface="Cambria" panose="02040503050406030204" pitchFamily="18" charset="0"/>
              </a:rPr>
              <a:t>European</a:t>
            </a:r>
            <a:r>
              <a:rPr lang="fr-FR" dirty="0">
                <a:solidFill>
                  <a:srgbClr val="7030A0"/>
                </a:solidFill>
                <a:latin typeface="Cambria" panose="02040503050406030204" pitchFamily="18" charset="0"/>
                <a:ea typeface="Cambria" panose="02040503050406030204" pitchFamily="18" charset="0"/>
              </a:rPr>
              <a:t> Union and United Nations</a:t>
            </a:r>
          </a:p>
          <a:p>
            <a:endParaRPr lang="fr-FR" dirty="0">
              <a:solidFill>
                <a:srgbClr val="7030A0"/>
              </a:solidFill>
              <a:latin typeface="Cambria" panose="02040503050406030204" pitchFamily="18" charset="0"/>
              <a:ea typeface="Cambria" panose="02040503050406030204" pitchFamily="18" charset="0"/>
            </a:endParaRPr>
          </a:p>
          <a:p>
            <a:pPr marL="0" indent="0">
              <a:buNone/>
            </a:pPr>
            <a:r>
              <a:rPr lang="fr-FR" b="1" u="sng" dirty="0">
                <a:solidFill>
                  <a:srgbClr val="7030A0"/>
                </a:solidFill>
                <a:latin typeface="Cambria" panose="02040503050406030204" pitchFamily="18" charset="0"/>
                <a:ea typeface="Cambria" panose="02040503050406030204" pitchFamily="18" charset="0"/>
              </a:rPr>
              <a:t>Example</a:t>
            </a:r>
            <a:r>
              <a:rPr lang="fr-FR" dirty="0">
                <a:solidFill>
                  <a:srgbClr val="7030A0"/>
                </a:solidFill>
                <a:latin typeface="Cambria" panose="02040503050406030204" pitchFamily="18" charset="0"/>
                <a:ea typeface="Cambria" panose="02040503050406030204" pitchFamily="18" charset="0"/>
              </a:rPr>
              <a:t>: United Nations and Iran</a:t>
            </a:r>
          </a:p>
          <a:p>
            <a:endParaRPr lang="fr-FR" dirty="0"/>
          </a:p>
          <a:p>
            <a:endParaRPr lang="fr-FR" dirty="0"/>
          </a:p>
        </p:txBody>
      </p:sp>
    </p:spTree>
    <p:extLst>
      <p:ext uri="{BB962C8B-B14F-4D97-AF65-F5344CB8AC3E}">
        <p14:creationId xmlns:p14="http://schemas.microsoft.com/office/powerpoint/2010/main" val="1706929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FFBD03-0CBC-D2BF-27A9-AB4DB54713F9}"/>
              </a:ext>
            </a:extLst>
          </p:cNvPr>
          <p:cNvSpPr>
            <a:spLocks noGrp="1"/>
          </p:cNvSpPr>
          <p:nvPr>
            <p:ph type="title"/>
          </p:nvPr>
        </p:nvSpPr>
        <p:spPr>
          <a:xfrm>
            <a:off x="810985" y="-69171"/>
            <a:ext cx="10570029" cy="434295"/>
          </a:xfrm>
        </p:spPr>
        <p:txBody>
          <a:bodyPr>
            <a:normAutofit fontScale="90000"/>
          </a:bodyPr>
          <a:lstStyle/>
          <a:p>
            <a:r>
              <a:rPr lang="fr-FR" sz="3600" b="1" dirty="0">
                <a:solidFill>
                  <a:srgbClr val="7030A0"/>
                </a:solidFill>
              </a:rPr>
              <a:t>C)- </a:t>
            </a:r>
            <a:r>
              <a:rPr lang="fr-FR" sz="3600" b="1" dirty="0" err="1">
                <a:solidFill>
                  <a:srgbClr val="7030A0"/>
                </a:solidFill>
                <a:latin typeface="Cambria" panose="02040503050406030204" pitchFamily="18" charset="0"/>
                <a:ea typeface="Cambria" panose="02040503050406030204" pitchFamily="18" charset="0"/>
              </a:rPr>
              <a:t>Ten</a:t>
            </a:r>
            <a:r>
              <a:rPr lang="fr-FR" sz="3600" b="1" dirty="0">
                <a:solidFill>
                  <a:srgbClr val="7030A0"/>
                </a:solidFill>
                <a:latin typeface="Cambria" panose="02040503050406030204" pitchFamily="18" charset="0"/>
                <a:ea typeface="Cambria" panose="02040503050406030204" pitchFamily="18" charset="0"/>
              </a:rPr>
              <a:t> types of </a:t>
            </a:r>
            <a:r>
              <a:rPr lang="fr-FR" sz="3600" b="1" dirty="0" err="1">
                <a:solidFill>
                  <a:srgbClr val="7030A0"/>
                </a:solidFill>
                <a:latin typeface="Cambria" panose="02040503050406030204" pitchFamily="18" charset="0"/>
                <a:ea typeface="Cambria" panose="02040503050406030204" pitchFamily="18" charset="0"/>
              </a:rPr>
              <a:t>Geopolitical</a:t>
            </a:r>
            <a:r>
              <a:rPr lang="fr-FR" sz="3600" b="1" dirty="0">
                <a:solidFill>
                  <a:srgbClr val="7030A0"/>
                </a:solidFill>
                <a:latin typeface="Cambria" panose="02040503050406030204" pitchFamily="18" charset="0"/>
                <a:ea typeface="Cambria" panose="02040503050406030204" pitchFamily="18" charset="0"/>
              </a:rPr>
              <a:t> </a:t>
            </a:r>
            <a:r>
              <a:rPr lang="fr-FR" sz="3600" b="1" dirty="0" err="1">
                <a:solidFill>
                  <a:srgbClr val="7030A0"/>
                </a:solidFill>
                <a:latin typeface="Cambria" panose="02040503050406030204" pitchFamily="18" charset="0"/>
                <a:ea typeface="Cambria" panose="02040503050406030204" pitchFamily="18" charset="0"/>
              </a:rPr>
              <a:t>risk</a:t>
            </a:r>
            <a:endParaRPr lang="fr-FR" sz="3600" dirty="0">
              <a:solidFill>
                <a:srgbClr val="7030A0"/>
              </a:solidFill>
            </a:endParaRPr>
          </a:p>
        </p:txBody>
      </p:sp>
      <p:sp>
        <p:nvSpPr>
          <p:cNvPr id="3" name="Espace réservé du contenu 2">
            <a:extLst>
              <a:ext uri="{FF2B5EF4-FFF2-40B4-BE49-F238E27FC236}">
                <a16:creationId xmlns:a16="http://schemas.microsoft.com/office/drawing/2014/main" id="{66E616B3-545F-625B-7270-8A004604E4AA}"/>
              </a:ext>
            </a:extLst>
          </p:cNvPr>
          <p:cNvSpPr>
            <a:spLocks noGrp="1"/>
          </p:cNvSpPr>
          <p:nvPr>
            <p:ph idx="1"/>
          </p:nvPr>
        </p:nvSpPr>
        <p:spPr>
          <a:xfrm>
            <a:off x="359229" y="487680"/>
            <a:ext cx="10570029" cy="6005196"/>
          </a:xfrm>
        </p:spPr>
        <p:txBody>
          <a:bodyPr>
            <a:normAutofit fontScale="25000" lnSpcReduction="20000"/>
          </a:bodyPr>
          <a:lstStyle/>
          <a:p>
            <a:pPr>
              <a:buFont typeface="+mj-lt"/>
              <a:buAutoNum type="arabicPeriod"/>
            </a:pPr>
            <a:r>
              <a:rPr lang="fr-FR" sz="7200" b="1" dirty="0" err="1">
                <a:solidFill>
                  <a:srgbClr val="7030A0"/>
                </a:solidFill>
              </a:rPr>
              <a:t>Interstate</a:t>
            </a:r>
            <a:r>
              <a:rPr lang="fr-FR" sz="7200" b="1" dirty="0">
                <a:solidFill>
                  <a:srgbClr val="7030A0"/>
                </a:solidFill>
              </a:rPr>
              <a:t> Wars</a:t>
            </a:r>
            <a:r>
              <a:rPr lang="fr-FR" sz="7200" dirty="0">
                <a:solidFill>
                  <a:srgbClr val="7030A0"/>
                </a:solidFill>
              </a:rPr>
              <a:t> (e.g. U.S.–Iraq </a:t>
            </a:r>
            <a:r>
              <a:rPr lang="fr-FR" sz="7200" dirty="0" err="1">
                <a:solidFill>
                  <a:srgbClr val="7030A0"/>
                </a:solidFill>
              </a:rPr>
              <a:t>war</a:t>
            </a:r>
            <a:r>
              <a:rPr lang="fr-FR" sz="7200" dirty="0">
                <a:solidFill>
                  <a:srgbClr val="7030A0"/>
                </a:solidFill>
              </a:rPr>
              <a:t> and </a:t>
            </a:r>
            <a:r>
              <a:rPr lang="fr-FR" sz="7200" dirty="0" err="1">
                <a:solidFill>
                  <a:srgbClr val="7030A0"/>
                </a:solidFill>
              </a:rPr>
              <a:t>its</a:t>
            </a:r>
            <a:r>
              <a:rPr lang="fr-FR" sz="7200" dirty="0">
                <a:solidFill>
                  <a:srgbClr val="7030A0"/>
                </a:solidFill>
              </a:rPr>
              <a:t> impact on Dow Corning)</a:t>
            </a:r>
          </a:p>
          <a:p>
            <a:pPr>
              <a:buFont typeface="+mj-lt"/>
              <a:buAutoNum type="arabicPeriod"/>
            </a:pPr>
            <a:endParaRPr lang="fr-FR" sz="7200" dirty="0">
              <a:solidFill>
                <a:srgbClr val="7030A0"/>
              </a:solidFill>
            </a:endParaRPr>
          </a:p>
          <a:p>
            <a:pPr>
              <a:buFont typeface="+mj-lt"/>
              <a:buAutoNum type="arabicPeriod"/>
            </a:pPr>
            <a:r>
              <a:rPr lang="fr-FR" sz="7200" b="1" dirty="0">
                <a:solidFill>
                  <a:srgbClr val="7030A0"/>
                </a:solidFill>
              </a:rPr>
              <a:t>International </a:t>
            </a:r>
            <a:r>
              <a:rPr lang="fr-FR" sz="7200" b="1" dirty="0" err="1">
                <a:solidFill>
                  <a:srgbClr val="7030A0"/>
                </a:solidFill>
              </a:rPr>
              <a:t>Conflicts</a:t>
            </a:r>
            <a:r>
              <a:rPr lang="fr-FR" sz="7200" b="1" dirty="0">
                <a:solidFill>
                  <a:srgbClr val="7030A0"/>
                </a:solidFill>
              </a:rPr>
              <a:t> and </a:t>
            </a:r>
            <a:r>
              <a:rPr lang="fr-FR" sz="7200" b="1" dirty="0" err="1">
                <a:solidFill>
                  <a:srgbClr val="7030A0"/>
                </a:solidFill>
              </a:rPr>
              <a:t>Humanitarian</a:t>
            </a:r>
            <a:r>
              <a:rPr lang="fr-FR" sz="7200" b="1" dirty="0">
                <a:solidFill>
                  <a:srgbClr val="7030A0"/>
                </a:solidFill>
              </a:rPr>
              <a:t> Crises</a:t>
            </a:r>
            <a:r>
              <a:rPr lang="fr-FR" sz="7200" dirty="0">
                <a:solidFill>
                  <a:srgbClr val="7030A0"/>
                </a:solidFill>
              </a:rPr>
              <a:t> (e.g. </a:t>
            </a:r>
            <a:r>
              <a:rPr lang="fr-FR" sz="7200" dirty="0" err="1">
                <a:solidFill>
                  <a:srgbClr val="7030A0"/>
                </a:solidFill>
              </a:rPr>
              <a:t>refugee</a:t>
            </a:r>
            <a:r>
              <a:rPr lang="fr-FR" sz="7200" dirty="0">
                <a:solidFill>
                  <a:srgbClr val="7030A0"/>
                </a:solidFill>
              </a:rPr>
              <a:t> flows)</a:t>
            </a:r>
          </a:p>
          <a:p>
            <a:pPr>
              <a:buFont typeface="+mj-lt"/>
              <a:buAutoNum type="arabicPeriod"/>
            </a:pPr>
            <a:endParaRPr lang="fr-FR" sz="7200" dirty="0">
              <a:solidFill>
                <a:srgbClr val="7030A0"/>
              </a:solidFill>
            </a:endParaRPr>
          </a:p>
          <a:p>
            <a:pPr>
              <a:buFont typeface="+mj-lt"/>
              <a:buAutoNum type="arabicPeriod"/>
            </a:pPr>
            <a:r>
              <a:rPr lang="fr-FR" sz="7200" b="1" dirty="0">
                <a:solidFill>
                  <a:srgbClr val="7030A0"/>
                </a:solidFill>
              </a:rPr>
              <a:t>Laws, </a:t>
            </a:r>
            <a:r>
              <a:rPr lang="fr-FR" sz="7200" b="1" dirty="0" err="1">
                <a:solidFill>
                  <a:srgbClr val="7030A0"/>
                </a:solidFill>
              </a:rPr>
              <a:t>Regulations</a:t>
            </a:r>
            <a:r>
              <a:rPr lang="fr-FR" sz="7200" b="1" dirty="0">
                <a:solidFill>
                  <a:srgbClr val="7030A0"/>
                </a:solidFill>
              </a:rPr>
              <a:t>, and Public </a:t>
            </a:r>
            <a:r>
              <a:rPr lang="fr-FR" sz="7200" b="1" dirty="0" err="1">
                <a:solidFill>
                  <a:srgbClr val="7030A0"/>
                </a:solidFill>
              </a:rPr>
              <a:t>Policies</a:t>
            </a:r>
            <a:r>
              <a:rPr lang="fr-FR" sz="7200" dirty="0">
                <a:solidFill>
                  <a:srgbClr val="7030A0"/>
                </a:solidFill>
              </a:rPr>
              <a:t> (e.g. San Leon Energy in </a:t>
            </a:r>
            <a:r>
              <a:rPr lang="fr-FR" sz="7200" dirty="0" err="1">
                <a:solidFill>
                  <a:srgbClr val="7030A0"/>
                </a:solidFill>
              </a:rPr>
              <a:t>Poland</a:t>
            </a:r>
            <a:r>
              <a:rPr lang="fr-FR" sz="7200" dirty="0">
                <a:solidFill>
                  <a:srgbClr val="7030A0"/>
                </a:solidFill>
              </a:rPr>
              <a:t>)</a:t>
            </a:r>
          </a:p>
          <a:p>
            <a:pPr>
              <a:buFont typeface="+mj-lt"/>
              <a:buAutoNum type="arabicPeriod"/>
            </a:pPr>
            <a:endParaRPr lang="fr-FR" sz="7200" dirty="0">
              <a:solidFill>
                <a:srgbClr val="7030A0"/>
              </a:solidFill>
            </a:endParaRPr>
          </a:p>
          <a:p>
            <a:pPr>
              <a:buFont typeface="+mj-lt"/>
              <a:buAutoNum type="arabicPeriod"/>
            </a:pPr>
            <a:r>
              <a:rPr lang="fr-FR" sz="7200" b="1" dirty="0" err="1">
                <a:solidFill>
                  <a:srgbClr val="7030A0"/>
                </a:solidFill>
              </a:rPr>
              <a:t>Breaches</a:t>
            </a:r>
            <a:r>
              <a:rPr lang="fr-FR" sz="7200" b="1" dirty="0">
                <a:solidFill>
                  <a:srgbClr val="7030A0"/>
                </a:solidFill>
              </a:rPr>
              <a:t> of </a:t>
            </a:r>
            <a:r>
              <a:rPr lang="fr-FR" sz="7200" b="1" dirty="0" err="1">
                <a:solidFill>
                  <a:srgbClr val="7030A0"/>
                </a:solidFill>
              </a:rPr>
              <a:t>Contract</a:t>
            </a:r>
            <a:r>
              <a:rPr lang="fr-FR" sz="7200" b="1" dirty="0">
                <a:solidFill>
                  <a:srgbClr val="7030A0"/>
                </a:solidFill>
              </a:rPr>
              <a:t> and Expropriation</a:t>
            </a:r>
            <a:r>
              <a:rPr lang="fr-FR" sz="7200" dirty="0">
                <a:solidFill>
                  <a:srgbClr val="7030A0"/>
                </a:solidFill>
              </a:rPr>
              <a:t> (e.g. </a:t>
            </a:r>
            <a:r>
              <a:rPr lang="fr-FR" sz="7200" dirty="0" err="1">
                <a:solidFill>
                  <a:srgbClr val="7030A0"/>
                </a:solidFill>
              </a:rPr>
              <a:t>under</a:t>
            </a:r>
            <a:r>
              <a:rPr lang="fr-FR" sz="7200" dirty="0">
                <a:solidFill>
                  <a:srgbClr val="7030A0"/>
                </a:solidFill>
              </a:rPr>
              <a:t> </a:t>
            </a:r>
            <a:r>
              <a:rPr lang="fr-FR" sz="7200" dirty="0" err="1">
                <a:solidFill>
                  <a:srgbClr val="7030A0"/>
                </a:solidFill>
              </a:rPr>
              <a:t>Chávez</a:t>
            </a:r>
            <a:r>
              <a:rPr lang="fr-FR" sz="7200" dirty="0">
                <a:solidFill>
                  <a:srgbClr val="7030A0"/>
                </a:solidFill>
              </a:rPr>
              <a:t> in Venezuela)</a:t>
            </a:r>
          </a:p>
          <a:p>
            <a:pPr>
              <a:buFont typeface="+mj-lt"/>
              <a:buAutoNum type="arabicPeriod"/>
            </a:pPr>
            <a:endParaRPr lang="fr-FR" sz="7200" dirty="0">
              <a:solidFill>
                <a:srgbClr val="7030A0"/>
              </a:solidFill>
            </a:endParaRPr>
          </a:p>
          <a:p>
            <a:pPr>
              <a:buFont typeface="+mj-lt"/>
              <a:buAutoNum type="arabicPeriod"/>
            </a:pPr>
            <a:r>
              <a:rPr lang="fr-FR" sz="7200" b="1" dirty="0">
                <a:solidFill>
                  <a:srgbClr val="7030A0"/>
                </a:solidFill>
              </a:rPr>
              <a:t>Corruption and </a:t>
            </a:r>
            <a:r>
              <a:rPr lang="fr-FR" sz="7200" b="1" dirty="0" err="1">
                <a:solidFill>
                  <a:srgbClr val="7030A0"/>
                </a:solidFill>
              </a:rPr>
              <a:t>Political</a:t>
            </a:r>
            <a:r>
              <a:rPr lang="fr-FR" sz="7200" b="1" dirty="0">
                <a:solidFill>
                  <a:srgbClr val="7030A0"/>
                </a:solidFill>
              </a:rPr>
              <a:t> </a:t>
            </a:r>
            <a:r>
              <a:rPr lang="fr-FR" sz="7200" b="1" dirty="0" err="1">
                <a:solidFill>
                  <a:srgbClr val="7030A0"/>
                </a:solidFill>
              </a:rPr>
              <a:t>Scandals</a:t>
            </a:r>
            <a:r>
              <a:rPr lang="fr-FR" sz="7200" dirty="0">
                <a:solidFill>
                  <a:srgbClr val="7030A0"/>
                </a:solidFill>
              </a:rPr>
              <a:t> (e.g. </a:t>
            </a:r>
            <a:r>
              <a:rPr lang="fr-FR" sz="7200" dirty="0" err="1">
                <a:solidFill>
                  <a:srgbClr val="7030A0"/>
                </a:solidFill>
              </a:rPr>
              <a:t>Halliburton</a:t>
            </a:r>
            <a:r>
              <a:rPr lang="fr-FR" sz="7200" dirty="0">
                <a:solidFill>
                  <a:srgbClr val="7030A0"/>
                </a:solidFill>
              </a:rPr>
              <a:t>)</a:t>
            </a:r>
          </a:p>
          <a:p>
            <a:pPr>
              <a:buFont typeface="+mj-lt"/>
              <a:buAutoNum type="arabicPeriod"/>
            </a:pPr>
            <a:endParaRPr lang="fr-FR" sz="7200" dirty="0">
              <a:solidFill>
                <a:srgbClr val="7030A0"/>
              </a:solidFill>
            </a:endParaRPr>
          </a:p>
          <a:p>
            <a:pPr>
              <a:buFont typeface="+mj-lt"/>
              <a:buAutoNum type="arabicPeriod"/>
            </a:pPr>
            <a:r>
              <a:rPr lang="fr-FR" sz="7200" b="1" dirty="0">
                <a:solidFill>
                  <a:srgbClr val="7030A0"/>
                </a:solidFill>
              </a:rPr>
              <a:t>Extraterritorial Application of Law</a:t>
            </a:r>
            <a:r>
              <a:rPr lang="fr-FR" sz="7200" dirty="0">
                <a:solidFill>
                  <a:srgbClr val="7030A0"/>
                </a:solidFill>
              </a:rPr>
              <a:t> (e.g. </a:t>
            </a:r>
            <a:r>
              <a:rPr lang="fr-FR" sz="7200" dirty="0" err="1">
                <a:solidFill>
                  <a:srgbClr val="7030A0"/>
                </a:solidFill>
              </a:rPr>
              <a:t>Total’s</a:t>
            </a:r>
            <a:r>
              <a:rPr lang="fr-FR" sz="7200" dirty="0">
                <a:solidFill>
                  <a:srgbClr val="7030A0"/>
                </a:solidFill>
              </a:rPr>
              <a:t> </a:t>
            </a:r>
            <a:r>
              <a:rPr lang="fr-FR" sz="7200" dirty="0" err="1">
                <a:solidFill>
                  <a:srgbClr val="7030A0"/>
                </a:solidFill>
              </a:rPr>
              <a:t>activities</a:t>
            </a:r>
            <a:r>
              <a:rPr lang="fr-FR" sz="7200" dirty="0">
                <a:solidFill>
                  <a:srgbClr val="7030A0"/>
                </a:solidFill>
              </a:rPr>
              <a:t> in Iran)</a:t>
            </a:r>
          </a:p>
          <a:p>
            <a:pPr>
              <a:buFont typeface="+mj-lt"/>
              <a:buAutoNum type="arabicPeriod"/>
            </a:pPr>
            <a:endParaRPr lang="fr-FR" sz="7200" dirty="0">
              <a:solidFill>
                <a:srgbClr val="7030A0"/>
              </a:solidFill>
            </a:endParaRPr>
          </a:p>
          <a:p>
            <a:pPr>
              <a:buFont typeface="+mj-lt"/>
              <a:buAutoNum type="arabicPeriod"/>
            </a:pPr>
            <a:r>
              <a:rPr lang="fr-FR" sz="7200" b="1" dirty="0">
                <a:solidFill>
                  <a:srgbClr val="7030A0"/>
                </a:solidFill>
              </a:rPr>
              <a:t>Manipulation of Natural </a:t>
            </a:r>
            <a:r>
              <a:rPr lang="fr-FR" sz="7200" b="1" dirty="0" err="1">
                <a:solidFill>
                  <a:srgbClr val="7030A0"/>
                </a:solidFill>
              </a:rPr>
              <a:t>Resources</a:t>
            </a:r>
            <a:r>
              <a:rPr lang="fr-FR" sz="7200" dirty="0">
                <a:solidFill>
                  <a:srgbClr val="7030A0"/>
                </a:solidFill>
              </a:rPr>
              <a:t> (e.g. OPEC)</a:t>
            </a:r>
          </a:p>
          <a:p>
            <a:pPr>
              <a:buFont typeface="+mj-lt"/>
              <a:buAutoNum type="arabicPeriod"/>
            </a:pPr>
            <a:endParaRPr lang="fr-FR" sz="7200" dirty="0">
              <a:solidFill>
                <a:srgbClr val="7030A0"/>
              </a:solidFill>
            </a:endParaRPr>
          </a:p>
          <a:p>
            <a:pPr>
              <a:buFont typeface="+mj-lt"/>
              <a:buAutoNum type="arabicPeriod"/>
            </a:pPr>
            <a:r>
              <a:rPr lang="fr-FR" sz="7200" b="1" dirty="0">
                <a:solidFill>
                  <a:srgbClr val="7030A0"/>
                </a:solidFill>
              </a:rPr>
              <a:t>Social </a:t>
            </a:r>
            <a:r>
              <a:rPr lang="fr-FR" sz="7200" b="1" dirty="0" err="1">
                <a:solidFill>
                  <a:srgbClr val="7030A0"/>
                </a:solidFill>
              </a:rPr>
              <a:t>Activism</a:t>
            </a:r>
            <a:r>
              <a:rPr lang="fr-FR" sz="7200" b="1" dirty="0">
                <a:solidFill>
                  <a:srgbClr val="7030A0"/>
                </a:solidFill>
              </a:rPr>
              <a:t> and Civil Society Pressure</a:t>
            </a:r>
            <a:r>
              <a:rPr lang="fr-FR" sz="7200" dirty="0">
                <a:solidFill>
                  <a:srgbClr val="7030A0"/>
                </a:solidFill>
              </a:rPr>
              <a:t> (e.g. Nestlé)</a:t>
            </a:r>
          </a:p>
          <a:p>
            <a:pPr>
              <a:buFont typeface="+mj-lt"/>
              <a:buAutoNum type="arabicPeriod"/>
            </a:pPr>
            <a:endParaRPr lang="fr-FR" sz="7200" dirty="0">
              <a:solidFill>
                <a:srgbClr val="7030A0"/>
              </a:solidFill>
            </a:endParaRPr>
          </a:p>
          <a:p>
            <a:pPr>
              <a:buFont typeface="+mj-lt"/>
              <a:buAutoNum type="arabicPeriod"/>
            </a:pPr>
            <a:r>
              <a:rPr lang="fr-FR" sz="7200" b="1" dirty="0" err="1">
                <a:solidFill>
                  <a:srgbClr val="7030A0"/>
                </a:solidFill>
              </a:rPr>
              <a:t>Terrorism</a:t>
            </a:r>
            <a:r>
              <a:rPr lang="fr-FR" sz="7200" b="1" dirty="0">
                <a:solidFill>
                  <a:srgbClr val="7030A0"/>
                </a:solidFill>
              </a:rPr>
              <a:t> and </a:t>
            </a:r>
            <a:r>
              <a:rPr lang="fr-FR" sz="7200" b="1" dirty="0" err="1">
                <a:solidFill>
                  <a:srgbClr val="7030A0"/>
                </a:solidFill>
              </a:rPr>
              <a:t>Political</a:t>
            </a:r>
            <a:r>
              <a:rPr lang="fr-FR" sz="7200" b="1" dirty="0">
                <a:solidFill>
                  <a:srgbClr val="7030A0"/>
                </a:solidFill>
              </a:rPr>
              <a:t> Violence</a:t>
            </a:r>
            <a:r>
              <a:rPr lang="fr-FR" sz="7200" dirty="0">
                <a:solidFill>
                  <a:srgbClr val="7030A0"/>
                </a:solidFill>
              </a:rPr>
              <a:t> (e.g. Cantor Fitzgerald)</a:t>
            </a:r>
          </a:p>
          <a:p>
            <a:pPr>
              <a:buFont typeface="+mj-lt"/>
              <a:buAutoNum type="arabicPeriod"/>
            </a:pPr>
            <a:endParaRPr lang="fr-FR" sz="7200" dirty="0">
              <a:solidFill>
                <a:srgbClr val="7030A0"/>
              </a:solidFill>
            </a:endParaRPr>
          </a:p>
          <a:p>
            <a:pPr>
              <a:buFont typeface="+mj-lt"/>
              <a:buAutoNum type="arabicPeriod"/>
            </a:pPr>
            <a:r>
              <a:rPr lang="fr-FR" sz="7200" b="1" dirty="0">
                <a:solidFill>
                  <a:srgbClr val="7030A0"/>
                </a:solidFill>
              </a:rPr>
              <a:t>Cyber </a:t>
            </a:r>
            <a:r>
              <a:rPr lang="fr-FR" sz="7200" b="1" dirty="0" err="1">
                <a:solidFill>
                  <a:srgbClr val="7030A0"/>
                </a:solidFill>
              </a:rPr>
              <a:t>Threats</a:t>
            </a:r>
            <a:r>
              <a:rPr lang="fr-FR" sz="7200" b="1" dirty="0">
                <a:solidFill>
                  <a:srgbClr val="7030A0"/>
                </a:solidFill>
              </a:rPr>
              <a:t> and </a:t>
            </a:r>
            <a:r>
              <a:rPr lang="fr-FR" sz="7200" b="1" dirty="0" err="1">
                <a:solidFill>
                  <a:srgbClr val="7030A0"/>
                </a:solidFill>
              </a:rPr>
              <a:t>Cyberattacks</a:t>
            </a:r>
            <a:r>
              <a:rPr lang="fr-FR" sz="7200" dirty="0">
                <a:solidFill>
                  <a:srgbClr val="7030A0"/>
                </a:solidFill>
              </a:rPr>
              <a:t> (e.g. Sony)</a:t>
            </a:r>
          </a:p>
          <a:p>
            <a:r>
              <a:rPr lang="fr-FR" sz="7200" b="1" dirty="0">
                <a:solidFill>
                  <a:srgbClr val="7030A0"/>
                </a:solidFill>
              </a:rPr>
              <a:t> </a:t>
            </a:r>
          </a:p>
          <a:p>
            <a:pPr marL="0" indent="0">
              <a:buNone/>
            </a:pPr>
            <a:endParaRPr lang="fr-FR" dirty="0">
              <a:solidFill>
                <a:srgbClr val="7030A0"/>
              </a:solidFill>
              <a:latin typeface="Cambria" panose="02040503050406030204" pitchFamily="18" charset="0"/>
              <a:ea typeface="Cambria" panose="02040503050406030204" pitchFamily="18" charset="0"/>
            </a:endParaRPr>
          </a:p>
          <a:p>
            <a:endParaRPr lang="fr-FR" dirty="0"/>
          </a:p>
          <a:p>
            <a:endParaRPr lang="fr-FR" dirty="0"/>
          </a:p>
        </p:txBody>
      </p:sp>
    </p:spTree>
    <p:extLst>
      <p:ext uri="{BB962C8B-B14F-4D97-AF65-F5344CB8AC3E}">
        <p14:creationId xmlns:p14="http://schemas.microsoft.com/office/powerpoint/2010/main" val="15632144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LIDESTYLE" val="CoverPage"/>
</p:tagLst>
</file>

<file path=ppt/tags/tag4.xml><?xml version="1.0" encoding="utf-8"?>
<p:tagLst xmlns:a="http://schemas.openxmlformats.org/drawingml/2006/main" xmlns:r="http://schemas.openxmlformats.org/officeDocument/2006/relationships" xmlns:p="http://schemas.openxmlformats.org/presentationml/2006/main">
  <p:tag name="SLIDESTYLE" val="CoverPag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3048</TotalTime>
  <Words>988</Words>
  <Application>Microsoft Office PowerPoint</Application>
  <PresentationFormat>Grand écran</PresentationFormat>
  <Paragraphs>161</Paragraphs>
  <Slides>19</Slides>
  <Notes>2</Notes>
  <HiddenSlides>0</HiddenSlides>
  <MMClips>0</MMClips>
  <ScaleCrop>false</ScaleCrop>
  <HeadingPairs>
    <vt:vector size="8" baseType="variant">
      <vt:variant>
        <vt:lpstr>Polices utilisées</vt:lpstr>
      </vt:variant>
      <vt:variant>
        <vt:i4>6</vt:i4>
      </vt:variant>
      <vt:variant>
        <vt:lpstr>Thème</vt:lpstr>
      </vt:variant>
      <vt:variant>
        <vt:i4>1</vt:i4>
      </vt:variant>
      <vt:variant>
        <vt:lpstr>Serveurs OLE incorporés</vt:lpstr>
      </vt:variant>
      <vt:variant>
        <vt:i4>1</vt:i4>
      </vt:variant>
      <vt:variant>
        <vt:lpstr>Titres des diapositives</vt:lpstr>
      </vt:variant>
      <vt:variant>
        <vt:i4>19</vt:i4>
      </vt:variant>
    </vt:vector>
  </HeadingPairs>
  <TitlesOfParts>
    <vt:vector size="27" baseType="lpstr">
      <vt:lpstr>Arial</vt:lpstr>
      <vt:lpstr>Arial Black</vt:lpstr>
      <vt:lpstr>Calibri</vt:lpstr>
      <vt:lpstr>Calibri Light</vt:lpstr>
      <vt:lpstr>Cambria</vt:lpstr>
      <vt:lpstr>Times New Roman</vt:lpstr>
      <vt:lpstr>Thème Office</vt:lpstr>
      <vt:lpstr>think-cell Slide</vt:lpstr>
      <vt:lpstr>COMPANIES AND GEOPOLICAL RISKS</vt:lpstr>
      <vt:lpstr>Course Content</vt:lpstr>
      <vt:lpstr>Evaluation</vt:lpstr>
      <vt:lpstr>Groupwork topics:</vt:lpstr>
      <vt:lpstr>Groupwork topics</vt:lpstr>
      <vt:lpstr>Geopolitic concepts and definition of GPR</vt:lpstr>
      <vt:lpstr>A) Definitions</vt:lpstr>
      <vt:lpstr>A) Definitions</vt:lpstr>
      <vt:lpstr>A) Definitions</vt:lpstr>
      <vt:lpstr>Présentation PowerPoint</vt:lpstr>
      <vt:lpstr>Présentation PowerPoint</vt:lpstr>
      <vt:lpstr>Présentation PowerPoint</vt:lpstr>
      <vt:lpstr>Présentation PowerPoint</vt:lpstr>
      <vt:lpstr>Présentation PowerPoint</vt:lpstr>
      <vt:lpstr>B) Concepts</vt:lpstr>
      <vt:lpstr>B) Concepts</vt:lpstr>
      <vt:lpstr>B) Concepts</vt:lpstr>
      <vt:lpstr>B) Concepts</vt:lpstr>
      <vt:lpstr>C)- Ten types of Geopolitical risk</vt:lpstr>
    </vt:vector>
  </TitlesOfParts>
  <Company>NEOMA-BS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Government &amp; Trade</dc:title>
  <dc:creator>Paul SANDERS</dc:creator>
  <cp:lastModifiedBy>Lotfi HAMZI</cp:lastModifiedBy>
  <cp:revision>137</cp:revision>
  <dcterms:created xsi:type="dcterms:W3CDTF">2019-09-02T18:25:21Z</dcterms:created>
  <dcterms:modified xsi:type="dcterms:W3CDTF">2026-02-04T10:09:07Z</dcterms:modified>
</cp:coreProperties>
</file>