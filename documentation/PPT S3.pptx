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5"/>
  </p:notesMasterIdLst>
  <p:sldIdLst>
    <p:sldId id="256" r:id="rId2"/>
    <p:sldId id="277" r:id="rId3"/>
    <p:sldId id="270" r:id="rId4"/>
    <p:sldId id="271" r:id="rId5"/>
    <p:sldId id="273" r:id="rId6"/>
    <p:sldId id="279" r:id="rId7"/>
    <p:sldId id="280" r:id="rId8"/>
    <p:sldId id="281" r:id="rId9"/>
    <p:sldId id="301" r:id="rId10"/>
    <p:sldId id="283" r:id="rId11"/>
    <p:sldId id="300" r:id="rId12"/>
    <p:sldId id="284" r:id="rId13"/>
    <p:sldId id="285" r:id="rId14"/>
    <p:sldId id="286" r:id="rId15"/>
    <p:sldId id="290" r:id="rId16"/>
    <p:sldId id="291" r:id="rId17"/>
    <p:sldId id="292" r:id="rId18"/>
    <p:sldId id="293" r:id="rId19"/>
    <p:sldId id="294" r:id="rId20"/>
    <p:sldId id="295" r:id="rId21"/>
    <p:sldId id="276" r:id="rId22"/>
    <p:sldId id="302" r:id="rId23"/>
    <p:sldId id="303" r:id="rId24"/>
  </p:sldIdLst>
  <p:sldSz cx="12192000" cy="6858000"/>
  <p:notesSz cx="6864350" cy="99964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6" autoAdjust="0"/>
    <p:restoredTop sz="87196" autoAdjust="0"/>
  </p:normalViewPr>
  <p:slideViewPr>
    <p:cSldViewPr snapToGrid="0">
      <p:cViewPr varScale="1">
        <p:scale>
          <a:sx n="77" d="100"/>
          <a:sy n="77" d="100"/>
        </p:scale>
        <p:origin x="5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tfi HAMZI" userId="be32f582-dd51-484c-b334-be45bf74d486" providerId="ADAL" clId="{6CD4207E-47E2-45F6-A8B1-2A7539002127}"/>
    <pc:docChg chg="modSld">
      <pc:chgData name="Lotfi HAMZI" userId="be32f582-dd51-484c-b334-be45bf74d486" providerId="ADAL" clId="{6CD4207E-47E2-45F6-A8B1-2A7539002127}" dt="2026-01-19T14:21:20.828" v="17" actId="20577"/>
      <pc:docMkLst>
        <pc:docMk/>
      </pc:docMkLst>
      <pc:sldChg chg="modSp mod">
        <pc:chgData name="Lotfi HAMZI" userId="be32f582-dd51-484c-b334-be45bf74d486" providerId="ADAL" clId="{6CD4207E-47E2-45F6-A8B1-2A7539002127}" dt="2026-01-19T14:21:20.828" v="17" actId="20577"/>
        <pc:sldMkLst>
          <pc:docMk/>
          <pc:sldMk cId="3543826887" sldId="256"/>
        </pc:sldMkLst>
        <pc:spChg chg="mod">
          <ac:chgData name="Lotfi HAMZI" userId="be32f582-dd51-484c-b334-be45bf74d486" providerId="ADAL" clId="{6CD4207E-47E2-45F6-A8B1-2A7539002127}" dt="2026-01-19T14:21:20.828" v="17" actId="20577"/>
          <ac:spMkLst>
            <pc:docMk/>
            <pc:sldMk cId="3543826887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7788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CC60F-ADFD-4581-AF10-A18955192DD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810125"/>
            <a:ext cx="5492750" cy="3937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7788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38843-8EDE-4B5F-8EA2-74159122E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08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38843-8EDE-4B5F-8EA2-74159122E2E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313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38843-8EDE-4B5F-8EA2-74159122E2E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2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13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43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56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23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70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69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80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90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53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00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8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3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A7F47-47B0-478A-AD63-A73637215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739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COMPANIES AND GEOPOLITICAL RISKS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Sessions 3</a:t>
            </a:r>
          </a:p>
        </p:txBody>
      </p:sp>
      <p:pic>
        <p:nvPicPr>
          <p:cNvPr id="1026" name="Picture 2" descr="RÃ©sultat de recherche d'images pour &quot;neoma log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3" y="5852236"/>
            <a:ext cx="1883834" cy="58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7609668" y="5960611"/>
            <a:ext cx="4129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Cambria" panose="02040503050406030204" pitchFamily="18" charset="0"/>
                <a:ea typeface="Cambria" panose="02040503050406030204" pitchFamily="18" charset="0"/>
              </a:rPr>
              <a:t>OMRI Yassine 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00EA66F-B5F5-0F26-F62C-0555D71F77B6}"/>
              </a:ext>
            </a:extLst>
          </p:cNvPr>
          <p:cNvSpPr txBox="1"/>
          <p:nvPr/>
        </p:nvSpPr>
        <p:spPr>
          <a:xfrm>
            <a:off x="2871019" y="42496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Cambria" panose="02040503050406030204" pitchFamily="18" charset="0"/>
                <a:ea typeface="Cambria" panose="02040503050406030204" pitchFamily="18" charset="0"/>
              </a:rPr>
              <a:t>2025-2026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82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4112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III.</a:t>
            </a:r>
            <a:r>
              <a:rPr lang="fr-FR" sz="3200" b="1" u="sng" dirty="0"/>
              <a:t>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5C7435-B89E-4D92-9919-4C15386640A6}"/>
              </a:ext>
            </a:extLst>
          </p:cNvPr>
          <p:cNvSpPr txBox="1"/>
          <p:nvPr/>
        </p:nvSpPr>
        <p:spPr>
          <a:xfrm>
            <a:off x="2981716" y="3136612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/>
              <a:t>A)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946746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/>
              <a:t>A)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240949" y="920621"/>
            <a:ext cx="1153486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u="sng" dirty="0"/>
              <a:t>1/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What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my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organization’s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political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appetite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pPr algn="ctr"/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fr-FR" sz="2000" b="1" dirty="0"/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company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start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grounded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what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are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willing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accept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are not.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This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decision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depends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in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many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factors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Time horizon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Alternatives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Easy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of exit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Visibility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fr-FR" sz="2000" b="1" u="sng" dirty="0"/>
          </a:p>
          <a:p>
            <a:endParaRPr lang="fr-FR" sz="2000" b="1" u="sng" dirty="0"/>
          </a:p>
          <a:p>
            <a:endParaRPr lang="fr-FR" sz="2000" dirty="0"/>
          </a:p>
          <a:p>
            <a:pPr algn="ctr"/>
            <a:endParaRPr lang="fr-FR" sz="2000" b="1" u="sng" dirty="0"/>
          </a:p>
        </p:txBody>
      </p:sp>
    </p:spTree>
    <p:extLst>
      <p:ext uri="{BB962C8B-B14F-4D97-AF65-F5344CB8AC3E}">
        <p14:creationId xmlns:p14="http://schemas.microsoft.com/office/powerpoint/2010/main" val="8305853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A)</a:t>
            </a:r>
            <a:r>
              <a:rPr lang="fr-FR" sz="3200" b="1" u="sng" dirty="0"/>
              <a:t>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970450"/>
            <a:ext cx="115348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endParaRPr lang="fr-FR" sz="2000" b="1" u="sng" dirty="0"/>
          </a:p>
          <a:p>
            <a:r>
              <a:rPr lang="fr-FR" sz="2000" b="1" u="sng" dirty="0"/>
              <a:t>2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/ Is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there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understanding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your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appetite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? If not how can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foster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one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AutoNum type="alphaLcParenR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CEO, a chairman of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board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or senior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executive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team must know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that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company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faced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Shared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understanding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accross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organization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crucial.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b)  The best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companies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ensure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that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political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everyone’s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businesses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from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boardroom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to the sales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floor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.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Everyone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shares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common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language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for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discussing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.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b="1" u="sng" dirty="0"/>
          </a:p>
        </p:txBody>
      </p:sp>
    </p:spTree>
    <p:extLst>
      <p:ext uri="{BB962C8B-B14F-4D97-AF65-F5344CB8AC3E}">
        <p14:creationId xmlns:p14="http://schemas.microsoft.com/office/powerpoint/2010/main" val="8314455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A)</a:t>
            </a:r>
            <a:r>
              <a:rPr lang="fr-FR" sz="3200" b="1" u="sng" dirty="0"/>
              <a:t>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1286452"/>
            <a:ext cx="115348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u="sng" dirty="0"/>
              <a:t>3/ 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How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can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reduce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blind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spots ?</a:t>
            </a:r>
          </a:p>
          <a:p>
            <a:endParaRPr lang="fr-FR" sz="20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- The tricks in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figuring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out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ways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reduce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so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you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can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see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emerging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before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it’s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late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«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you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must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reactive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 »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-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companies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must regard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environment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not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only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running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after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profits, but respect of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goal (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qualities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, services…)</a:t>
            </a:r>
          </a:p>
          <a:p>
            <a:pPr marL="457200" indent="-457200">
              <a:buAutoNum type="alphaLcParenR"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There are</a:t>
            </a: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</a:t>
            </a:r>
            <a:r>
              <a:rPr lang="fr-FR" sz="2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ways</a:t>
            </a: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reduce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blind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spots : 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a)     Imagination</a:t>
            </a:r>
          </a:p>
          <a:p>
            <a:pPr marL="457200" indent="-457200">
              <a:buAutoNum type="alphaLcParenR" startAt="2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Walking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in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shoes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offers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AutoNum type="alphaLcParenR" startAt="2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Preventing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Groupthinking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18602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III.</a:t>
            </a:r>
            <a:r>
              <a:rPr lang="fr-FR" sz="3200" b="1" u="sng" dirty="0"/>
              <a:t>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5C7435-B89E-4D92-9919-4C15386640A6}"/>
              </a:ext>
            </a:extLst>
          </p:cNvPr>
          <p:cNvSpPr txBox="1"/>
          <p:nvPr/>
        </p:nvSpPr>
        <p:spPr>
          <a:xfrm>
            <a:off x="2981716" y="3136612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/>
              <a:t>B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 Analyse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96930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B)</a:t>
            </a:r>
            <a:r>
              <a:rPr lang="fr-FR" sz="3200" b="1" u="sng" dirty="0"/>
              <a:t>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Analyse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657138" y="970450"/>
            <a:ext cx="115348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u="sng" dirty="0"/>
              <a:t>1/ 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How can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get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good information about the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political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risks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face ?</a:t>
            </a:r>
          </a:p>
          <a:p>
            <a:pPr algn="ctr"/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Good information :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Perceptions and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emotions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parameters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5487861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B)</a:t>
            </a:r>
            <a:r>
              <a:rPr lang="fr-FR" sz="3200" b="1" u="sng" dirty="0"/>
              <a:t>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Analyse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970450"/>
            <a:ext cx="115348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/>
              <a:t>2/ 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How can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ensure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rigourous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a)   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Traps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Exemple :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brexit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b) Points of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views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Exemple :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nine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-Dot exercice : 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Without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lifting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your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pencil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paper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draw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no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more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than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four straight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lines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that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cross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throught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all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nine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dots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/>
              <a:t>	</a:t>
            </a:r>
          </a:p>
        </p:txBody>
      </p:sp>
      <p:grpSp>
        <p:nvGrpSpPr>
          <p:cNvPr id="13" name="Groupe 12"/>
          <p:cNvGrpSpPr/>
          <p:nvPr/>
        </p:nvGrpSpPr>
        <p:grpSpPr>
          <a:xfrm>
            <a:off x="7429448" y="2915242"/>
            <a:ext cx="3249168" cy="3186525"/>
            <a:chOff x="5439781" y="3008376"/>
            <a:chExt cx="3249168" cy="3186525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0124FAF-9D75-4B75-AD1F-9CAB2026FC54}"/>
                </a:ext>
              </a:extLst>
            </p:cNvPr>
            <p:cNvSpPr/>
            <p:nvPr/>
          </p:nvSpPr>
          <p:spPr>
            <a:xfrm>
              <a:off x="5439781" y="3008376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BD41CBB7-BACA-4B20-9267-5ED836639E5C}"/>
                </a:ext>
              </a:extLst>
            </p:cNvPr>
            <p:cNvSpPr/>
            <p:nvPr/>
          </p:nvSpPr>
          <p:spPr>
            <a:xfrm>
              <a:off x="6607165" y="414054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20BBCA2-B10B-49F8-9F4B-ECC1F7521690}"/>
                </a:ext>
              </a:extLst>
            </p:cNvPr>
            <p:cNvSpPr/>
            <p:nvPr/>
          </p:nvSpPr>
          <p:spPr>
            <a:xfrm>
              <a:off x="5439781" y="414054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9E34EBDF-C2A1-4241-833F-B08A865350C3}"/>
                </a:ext>
              </a:extLst>
            </p:cNvPr>
            <p:cNvSpPr/>
            <p:nvPr/>
          </p:nvSpPr>
          <p:spPr>
            <a:xfrm>
              <a:off x="6607165" y="3008376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AC5284F5-98F2-458B-9921-CC8632202D3D}"/>
                </a:ext>
              </a:extLst>
            </p:cNvPr>
            <p:cNvSpPr/>
            <p:nvPr/>
          </p:nvSpPr>
          <p:spPr>
            <a:xfrm>
              <a:off x="6607165" y="5353653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D5BE693-1294-4C00-98E2-372D06C057AA}"/>
                </a:ext>
              </a:extLst>
            </p:cNvPr>
            <p:cNvSpPr/>
            <p:nvPr/>
          </p:nvSpPr>
          <p:spPr>
            <a:xfrm>
              <a:off x="7774549" y="3008376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5E60B08-F08C-4B15-9222-6F5C42E02AF0}"/>
                </a:ext>
              </a:extLst>
            </p:cNvPr>
            <p:cNvSpPr/>
            <p:nvPr/>
          </p:nvSpPr>
          <p:spPr>
            <a:xfrm>
              <a:off x="7774549" y="414054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B7BC57B8-CB55-41FF-8099-A116296BDBD5}"/>
                </a:ext>
              </a:extLst>
            </p:cNvPr>
            <p:cNvSpPr/>
            <p:nvPr/>
          </p:nvSpPr>
          <p:spPr>
            <a:xfrm>
              <a:off x="5439781" y="5353653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0ADB003-ABC3-4317-BE9C-1115F1BBD940}"/>
                </a:ext>
              </a:extLst>
            </p:cNvPr>
            <p:cNvSpPr/>
            <p:nvPr/>
          </p:nvSpPr>
          <p:spPr>
            <a:xfrm>
              <a:off x="7774549" y="526830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9732291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2262" y="0"/>
            <a:ext cx="10353762" cy="970450"/>
          </a:xfrm>
        </p:spPr>
        <p:txBody>
          <a:bodyPr/>
          <a:lstStyle/>
          <a:p>
            <a:pPr algn="ctr"/>
            <a:r>
              <a:rPr lang="fr-FR" b="1" u="sng" dirty="0">
                <a:latin typeface="Cambria" panose="02040503050406030204" pitchFamily="18" charset="0"/>
                <a:ea typeface="Cambria" panose="02040503050406030204" pitchFamily="18" charset="0"/>
              </a:rPr>
              <a:t>B) Analyse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1627927" y="1964266"/>
            <a:ext cx="3117365" cy="3047463"/>
            <a:chOff x="8088652" y="1940900"/>
            <a:chExt cx="3249168" cy="3186525"/>
          </a:xfrm>
        </p:grpSpPr>
        <p:grpSp>
          <p:nvGrpSpPr>
            <p:cNvPr id="4" name="Groupe 3"/>
            <p:cNvGrpSpPr/>
            <p:nvPr/>
          </p:nvGrpSpPr>
          <p:grpSpPr>
            <a:xfrm>
              <a:off x="8088652" y="1940900"/>
              <a:ext cx="3249168" cy="3186525"/>
              <a:chOff x="5439781" y="3008376"/>
              <a:chExt cx="3249168" cy="3186525"/>
            </a:xfrm>
          </p:grpSpPr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30124FAF-9D75-4B75-AD1F-9CAB2026FC54}"/>
                  </a:ext>
                </a:extLst>
              </p:cNvPr>
              <p:cNvSpPr/>
              <p:nvPr/>
            </p:nvSpPr>
            <p:spPr>
              <a:xfrm>
                <a:off x="5439781" y="3008376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D41CBB7-BACA-4B20-9267-5ED836639E5C}"/>
                  </a:ext>
                </a:extLst>
              </p:cNvPr>
              <p:cNvSpPr/>
              <p:nvPr/>
            </p:nvSpPr>
            <p:spPr>
              <a:xfrm>
                <a:off x="6607165" y="414054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320BBCA2-B10B-49F8-9F4B-ECC1F7521690}"/>
                  </a:ext>
                </a:extLst>
              </p:cNvPr>
              <p:cNvSpPr/>
              <p:nvPr/>
            </p:nvSpPr>
            <p:spPr>
              <a:xfrm>
                <a:off x="5439781" y="414054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34EBDF-C2A1-4241-833F-B08A865350C3}"/>
                  </a:ext>
                </a:extLst>
              </p:cNvPr>
              <p:cNvSpPr/>
              <p:nvPr/>
            </p:nvSpPr>
            <p:spPr>
              <a:xfrm>
                <a:off x="6607165" y="3008376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AC5284F5-98F2-458B-9921-CC8632202D3D}"/>
                  </a:ext>
                </a:extLst>
              </p:cNvPr>
              <p:cNvSpPr/>
              <p:nvPr/>
            </p:nvSpPr>
            <p:spPr>
              <a:xfrm>
                <a:off x="6607165" y="5353653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9D5BE693-1294-4C00-98E2-372D06C057AA}"/>
                  </a:ext>
                </a:extLst>
              </p:cNvPr>
              <p:cNvSpPr/>
              <p:nvPr/>
            </p:nvSpPr>
            <p:spPr>
              <a:xfrm>
                <a:off x="7774549" y="3008376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F5E60B08-F08C-4B15-9222-6F5C42E02AF0}"/>
                  </a:ext>
                </a:extLst>
              </p:cNvPr>
              <p:cNvSpPr/>
              <p:nvPr/>
            </p:nvSpPr>
            <p:spPr>
              <a:xfrm>
                <a:off x="7774549" y="414054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B7BC57B8-CB55-41FF-8099-A116296BDBD5}"/>
                  </a:ext>
                </a:extLst>
              </p:cNvPr>
              <p:cNvSpPr/>
              <p:nvPr/>
            </p:nvSpPr>
            <p:spPr>
              <a:xfrm>
                <a:off x="5439781" y="5353653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90ADB003-ABC3-4317-BE9C-1115F1BBD940}"/>
                  </a:ext>
                </a:extLst>
              </p:cNvPr>
              <p:cNvSpPr/>
              <p:nvPr/>
            </p:nvSpPr>
            <p:spPr>
              <a:xfrm>
                <a:off x="7774549" y="526830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5" name="Connecteur droit avec flèche 4"/>
            <p:cNvCxnSpPr/>
            <p:nvPr/>
          </p:nvCxnSpPr>
          <p:spPr>
            <a:xfrm>
              <a:off x="8545852" y="2361524"/>
              <a:ext cx="23347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Connecteur droit avec flèche 5"/>
            <p:cNvCxnSpPr/>
            <p:nvPr/>
          </p:nvCxnSpPr>
          <p:spPr>
            <a:xfrm>
              <a:off x="10814918" y="2352381"/>
              <a:ext cx="65702" cy="23205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necteur droit avec flèche 6"/>
            <p:cNvCxnSpPr/>
            <p:nvPr/>
          </p:nvCxnSpPr>
          <p:spPr>
            <a:xfrm flipH="1" flipV="1">
              <a:off x="8545852" y="2361524"/>
              <a:ext cx="59267" cy="232859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necteur droit avec flèche 7"/>
            <p:cNvCxnSpPr/>
            <p:nvPr/>
          </p:nvCxnSpPr>
          <p:spPr>
            <a:xfrm flipH="1">
              <a:off x="8515372" y="4672925"/>
              <a:ext cx="2365248" cy="187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e 20"/>
          <p:cNvGrpSpPr/>
          <p:nvPr/>
        </p:nvGrpSpPr>
        <p:grpSpPr>
          <a:xfrm>
            <a:off x="5363631" y="2357790"/>
            <a:ext cx="1566334" cy="1413933"/>
            <a:chOff x="1914047" y="2700099"/>
            <a:chExt cx="1566334" cy="1413933"/>
          </a:xfrm>
        </p:grpSpPr>
        <p:sp>
          <p:nvSpPr>
            <p:cNvPr id="18" name="Triangle isocèle 17"/>
            <p:cNvSpPr/>
            <p:nvPr/>
          </p:nvSpPr>
          <p:spPr>
            <a:xfrm>
              <a:off x="1914047" y="2700099"/>
              <a:ext cx="1566334" cy="141393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35541" y="2972001"/>
              <a:ext cx="123346" cy="77893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/>
            <p:cNvSpPr/>
            <p:nvPr/>
          </p:nvSpPr>
          <p:spPr>
            <a:xfrm>
              <a:off x="2601051" y="3843967"/>
              <a:ext cx="192326" cy="17703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2" name="Flèche droite 21"/>
          <p:cNvSpPr/>
          <p:nvPr/>
        </p:nvSpPr>
        <p:spPr>
          <a:xfrm>
            <a:off x="6929966" y="2743224"/>
            <a:ext cx="1164168" cy="63530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8170334" y="2834493"/>
            <a:ext cx="2683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Wrong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approach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95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B) Analyse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970450"/>
            <a:ext cx="115348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/>
              <a:t>2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/ How can </a:t>
            </a:r>
            <a:r>
              <a:rPr lang="fr-FR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ensure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rigorous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endParaRPr lang="fr-FR" sz="2000" dirty="0"/>
          </a:p>
        </p:txBody>
      </p:sp>
      <p:grpSp>
        <p:nvGrpSpPr>
          <p:cNvPr id="13" name="Groupe 12"/>
          <p:cNvGrpSpPr/>
          <p:nvPr/>
        </p:nvGrpSpPr>
        <p:grpSpPr>
          <a:xfrm>
            <a:off x="1006860" y="2359723"/>
            <a:ext cx="4074143" cy="2304213"/>
            <a:chOff x="2797448" y="2293889"/>
            <a:chExt cx="7068930" cy="3267456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76508F5-2527-4C36-9953-D20E3FFC8A4C}"/>
                </a:ext>
              </a:extLst>
            </p:cNvPr>
            <p:cNvSpPr/>
            <p:nvPr/>
          </p:nvSpPr>
          <p:spPr>
            <a:xfrm>
              <a:off x="4014216" y="229388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697C806-10D9-428D-8329-602F0D8A13CB}"/>
                </a:ext>
              </a:extLst>
            </p:cNvPr>
            <p:cNvSpPr/>
            <p:nvPr/>
          </p:nvSpPr>
          <p:spPr>
            <a:xfrm>
              <a:off x="5181600" y="3506993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EED1638-91EC-496D-B23A-933EF65AAECD}"/>
                </a:ext>
              </a:extLst>
            </p:cNvPr>
            <p:cNvSpPr/>
            <p:nvPr/>
          </p:nvSpPr>
          <p:spPr>
            <a:xfrm>
              <a:off x="4014216" y="3506993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457BC0B4-EADE-4002-A71E-87EE36CDD871}"/>
                </a:ext>
              </a:extLst>
            </p:cNvPr>
            <p:cNvSpPr/>
            <p:nvPr/>
          </p:nvSpPr>
          <p:spPr>
            <a:xfrm>
              <a:off x="5181600" y="229388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85EF3E7D-3A47-4BE7-983F-4B02F3A351F6}"/>
                </a:ext>
              </a:extLst>
            </p:cNvPr>
            <p:cNvSpPr/>
            <p:nvPr/>
          </p:nvSpPr>
          <p:spPr>
            <a:xfrm>
              <a:off x="5181600" y="4720097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6053988E-61EA-4821-83C4-10E8380EA145}"/>
                </a:ext>
              </a:extLst>
            </p:cNvPr>
            <p:cNvSpPr/>
            <p:nvPr/>
          </p:nvSpPr>
          <p:spPr>
            <a:xfrm>
              <a:off x="6348984" y="2293889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B75BCB8-7E60-448A-9AFC-D15770EA6396}"/>
                </a:ext>
              </a:extLst>
            </p:cNvPr>
            <p:cNvSpPr/>
            <p:nvPr/>
          </p:nvSpPr>
          <p:spPr>
            <a:xfrm>
              <a:off x="6348984" y="3506993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EA7C2E1-66FD-4977-8DD6-70081ADCDD8F}"/>
                </a:ext>
              </a:extLst>
            </p:cNvPr>
            <p:cNvSpPr/>
            <p:nvPr/>
          </p:nvSpPr>
          <p:spPr>
            <a:xfrm>
              <a:off x="4014216" y="4720097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0332398E-FBD7-47E5-983E-860EF1ED3C42}"/>
                </a:ext>
              </a:extLst>
            </p:cNvPr>
            <p:cNvSpPr/>
            <p:nvPr/>
          </p:nvSpPr>
          <p:spPr>
            <a:xfrm>
              <a:off x="6348984" y="4634753"/>
              <a:ext cx="914400" cy="841248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8A23B189-0491-4C40-9D64-F7A103BDFAA8}"/>
                </a:ext>
              </a:extLst>
            </p:cNvPr>
            <p:cNvCxnSpPr/>
            <p:nvPr/>
          </p:nvCxnSpPr>
          <p:spPr>
            <a:xfrm>
              <a:off x="2971800" y="2714513"/>
              <a:ext cx="6199632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49FE1479-BE85-4068-8C44-7983F4D1B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7449" y="2729753"/>
              <a:ext cx="6373983" cy="209092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CE653AF3-4D90-40F5-94A9-FA78BD3AF473}"/>
                </a:ext>
              </a:extLst>
            </p:cNvPr>
            <p:cNvCxnSpPr>
              <a:cxnSpLocks/>
            </p:cNvCxnSpPr>
            <p:nvPr/>
          </p:nvCxnSpPr>
          <p:spPr>
            <a:xfrm>
              <a:off x="2797448" y="4820681"/>
              <a:ext cx="7068930" cy="32004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e 73"/>
          <p:cNvGrpSpPr/>
          <p:nvPr/>
        </p:nvGrpSpPr>
        <p:grpSpPr>
          <a:xfrm>
            <a:off x="7788345" y="2212637"/>
            <a:ext cx="2875877" cy="2938162"/>
            <a:chOff x="7690523" y="1780709"/>
            <a:chExt cx="4018877" cy="4145958"/>
          </a:xfrm>
        </p:grpSpPr>
        <p:grpSp>
          <p:nvGrpSpPr>
            <p:cNvPr id="38" name="Groupe 37"/>
            <p:cNvGrpSpPr/>
            <p:nvPr/>
          </p:nvGrpSpPr>
          <p:grpSpPr>
            <a:xfrm>
              <a:off x="7690523" y="1780709"/>
              <a:ext cx="3249168" cy="3186525"/>
              <a:chOff x="5439781" y="3008376"/>
              <a:chExt cx="3249168" cy="3186525"/>
            </a:xfrm>
          </p:grpSpPr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30124FAF-9D75-4B75-AD1F-9CAB2026FC54}"/>
                  </a:ext>
                </a:extLst>
              </p:cNvPr>
              <p:cNvSpPr/>
              <p:nvPr/>
            </p:nvSpPr>
            <p:spPr>
              <a:xfrm>
                <a:off x="5439781" y="3008376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BD41CBB7-BACA-4B20-9267-5ED836639E5C}"/>
                  </a:ext>
                </a:extLst>
              </p:cNvPr>
              <p:cNvSpPr/>
              <p:nvPr/>
            </p:nvSpPr>
            <p:spPr>
              <a:xfrm>
                <a:off x="6607165" y="414054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320BBCA2-B10B-49F8-9F4B-ECC1F7521690}"/>
                  </a:ext>
                </a:extLst>
              </p:cNvPr>
              <p:cNvSpPr/>
              <p:nvPr/>
            </p:nvSpPr>
            <p:spPr>
              <a:xfrm>
                <a:off x="5439781" y="414054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9E34EBDF-C2A1-4241-833F-B08A865350C3}"/>
                  </a:ext>
                </a:extLst>
              </p:cNvPr>
              <p:cNvSpPr/>
              <p:nvPr/>
            </p:nvSpPr>
            <p:spPr>
              <a:xfrm>
                <a:off x="6607165" y="3008376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AC5284F5-98F2-458B-9921-CC8632202D3D}"/>
                  </a:ext>
                </a:extLst>
              </p:cNvPr>
              <p:cNvSpPr/>
              <p:nvPr/>
            </p:nvSpPr>
            <p:spPr>
              <a:xfrm>
                <a:off x="6607165" y="5353653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9D5BE693-1294-4C00-98E2-372D06C057AA}"/>
                  </a:ext>
                </a:extLst>
              </p:cNvPr>
              <p:cNvSpPr/>
              <p:nvPr/>
            </p:nvSpPr>
            <p:spPr>
              <a:xfrm>
                <a:off x="7774549" y="3008376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F5E60B08-F08C-4B15-9222-6F5C42E02AF0}"/>
                  </a:ext>
                </a:extLst>
              </p:cNvPr>
              <p:cNvSpPr/>
              <p:nvPr/>
            </p:nvSpPr>
            <p:spPr>
              <a:xfrm>
                <a:off x="7774549" y="414054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B7BC57B8-CB55-41FF-8099-A116296BDBD5}"/>
                  </a:ext>
                </a:extLst>
              </p:cNvPr>
              <p:cNvSpPr/>
              <p:nvPr/>
            </p:nvSpPr>
            <p:spPr>
              <a:xfrm>
                <a:off x="5439781" y="5353653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90ADB003-ABC3-4317-BE9C-1115F1BBD940}"/>
                  </a:ext>
                </a:extLst>
              </p:cNvPr>
              <p:cNvSpPr/>
              <p:nvPr/>
            </p:nvSpPr>
            <p:spPr>
              <a:xfrm>
                <a:off x="7774549" y="5268309"/>
                <a:ext cx="914400" cy="841248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49" name="Connecteur droit avec flèche 48"/>
            <p:cNvCxnSpPr/>
            <p:nvPr/>
          </p:nvCxnSpPr>
          <p:spPr>
            <a:xfrm flipH="1">
              <a:off x="8136466" y="2229371"/>
              <a:ext cx="8467" cy="36972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eur droit avec flèche 49"/>
            <p:cNvCxnSpPr/>
            <p:nvPr/>
          </p:nvCxnSpPr>
          <p:spPr>
            <a:xfrm flipV="1">
              <a:off x="8143491" y="2229300"/>
              <a:ext cx="3512012" cy="36127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/>
            <p:cNvCxnSpPr/>
            <p:nvPr/>
          </p:nvCxnSpPr>
          <p:spPr>
            <a:xfrm flipH="1" flipV="1">
              <a:off x="8143491" y="2201333"/>
              <a:ext cx="3565909" cy="280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/>
            <p:cNvCxnSpPr/>
            <p:nvPr/>
          </p:nvCxnSpPr>
          <p:spPr>
            <a:xfrm>
              <a:off x="8151959" y="2194626"/>
              <a:ext cx="2412228" cy="23519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/>
            <p:cNvCxnSpPr/>
            <p:nvPr/>
          </p:nvCxnSpPr>
          <p:spPr>
            <a:xfrm flipH="1" flipV="1">
              <a:off x="10025291" y="4035650"/>
              <a:ext cx="457200" cy="42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eur droit avec flèche 63"/>
            <p:cNvCxnSpPr/>
            <p:nvPr/>
          </p:nvCxnSpPr>
          <p:spPr>
            <a:xfrm flipV="1">
              <a:off x="10964682" y="2557348"/>
              <a:ext cx="379481" cy="37707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necteur droit avec flèche 64"/>
            <p:cNvCxnSpPr/>
            <p:nvPr/>
          </p:nvCxnSpPr>
          <p:spPr>
            <a:xfrm flipH="1" flipV="1">
              <a:off x="8590876" y="2615407"/>
              <a:ext cx="457200" cy="42561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eur droit avec flèche 66"/>
            <p:cNvCxnSpPr/>
            <p:nvPr/>
          </p:nvCxnSpPr>
          <p:spPr>
            <a:xfrm flipH="1" flipV="1">
              <a:off x="9849088" y="2189791"/>
              <a:ext cx="722124" cy="255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eur droit avec flèche 68"/>
            <p:cNvCxnSpPr/>
            <p:nvPr/>
          </p:nvCxnSpPr>
          <p:spPr>
            <a:xfrm flipH="1">
              <a:off x="8132576" y="3268949"/>
              <a:ext cx="7167" cy="69002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Connecteur droit avec flèche 70"/>
            <p:cNvCxnSpPr/>
            <p:nvPr/>
          </p:nvCxnSpPr>
          <p:spPr>
            <a:xfrm flipV="1">
              <a:off x="8390467" y="5077749"/>
              <a:ext cx="469694" cy="48485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90623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05554" y="0"/>
            <a:ext cx="10353762" cy="970450"/>
          </a:xfrm>
        </p:spPr>
        <p:txBody>
          <a:bodyPr/>
          <a:lstStyle/>
          <a:p>
            <a:pPr algn="ctr"/>
            <a:r>
              <a:rPr lang="fr-FR" b="1" u="sng" dirty="0">
                <a:latin typeface="Cambria" panose="02040503050406030204" pitchFamily="18" charset="0"/>
                <a:ea typeface="Cambria" panose="02040503050406030204" pitchFamily="18" charset="0"/>
              </a:rPr>
              <a:t>B) Analyse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3095314" y="2440093"/>
            <a:ext cx="5467534" cy="2689796"/>
            <a:chOff x="2355666" y="4821861"/>
            <a:chExt cx="3897135" cy="1898068"/>
          </a:xfrm>
        </p:grpSpPr>
        <p:sp>
          <p:nvSpPr>
            <p:cNvPr id="4" name="Organigramme : Stockage à accès direct 3"/>
            <p:cNvSpPr/>
            <p:nvPr/>
          </p:nvSpPr>
          <p:spPr>
            <a:xfrm>
              <a:off x="2355666" y="4832932"/>
              <a:ext cx="3897135" cy="1764365"/>
            </a:xfrm>
            <a:prstGeom prst="flowChartMagneticDrum">
              <a:avLst/>
            </a:prstGeom>
            <a:solidFill>
              <a:schemeClr val="tx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/>
            <p:cNvSpPr/>
            <p:nvPr/>
          </p:nvSpPr>
          <p:spPr>
            <a:xfrm>
              <a:off x="2604512" y="5496052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/>
            <p:cNvSpPr/>
            <p:nvPr/>
          </p:nvSpPr>
          <p:spPr>
            <a:xfrm>
              <a:off x="2707395" y="6131534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/>
            <p:cNvSpPr/>
            <p:nvPr/>
          </p:nvSpPr>
          <p:spPr>
            <a:xfrm>
              <a:off x="2682628" y="4897751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Arc 7"/>
            <p:cNvSpPr/>
            <p:nvPr/>
          </p:nvSpPr>
          <p:spPr>
            <a:xfrm flipH="1">
              <a:off x="2807729" y="4821861"/>
              <a:ext cx="1169468" cy="1898068"/>
            </a:xfrm>
            <a:prstGeom prst="arc">
              <a:avLst>
                <a:gd name="adj1" fmla="val 16699176"/>
                <a:gd name="adj2" fmla="val 4365172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/>
            <p:cNvSpPr/>
            <p:nvPr/>
          </p:nvSpPr>
          <p:spPr>
            <a:xfrm>
              <a:off x="3341862" y="5496052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/>
            <p:cNvSpPr/>
            <p:nvPr/>
          </p:nvSpPr>
          <p:spPr>
            <a:xfrm>
              <a:off x="3444745" y="6131534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/>
            <p:cNvSpPr/>
            <p:nvPr/>
          </p:nvSpPr>
          <p:spPr>
            <a:xfrm>
              <a:off x="3444389" y="4890519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Arc 11"/>
            <p:cNvSpPr/>
            <p:nvPr/>
          </p:nvSpPr>
          <p:spPr>
            <a:xfrm flipH="1">
              <a:off x="3545079" y="4821861"/>
              <a:ext cx="1169468" cy="1898068"/>
            </a:xfrm>
            <a:prstGeom prst="arc">
              <a:avLst>
                <a:gd name="adj1" fmla="val 16699176"/>
                <a:gd name="adj2" fmla="val 4282309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/>
            <p:cNvSpPr/>
            <p:nvPr/>
          </p:nvSpPr>
          <p:spPr>
            <a:xfrm>
              <a:off x="4102298" y="5496052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/>
            <p:cNvSpPr/>
            <p:nvPr/>
          </p:nvSpPr>
          <p:spPr>
            <a:xfrm>
              <a:off x="4205181" y="6131534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/>
            <p:cNvSpPr/>
            <p:nvPr/>
          </p:nvSpPr>
          <p:spPr>
            <a:xfrm>
              <a:off x="4204825" y="4890519"/>
              <a:ext cx="455705" cy="4488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Arc 15"/>
            <p:cNvSpPr/>
            <p:nvPr/>
          </p:nvSpPr>
          <p:spPr>
            <a:xfrm flipH="1">
              <a:off x="4305515" y="4821861"/>
              <a:ext cx="1169468" cy="1898068"/>
            </a:xfrm>
            <a:prstGeom prst="arc">
              <a:avLst>
                <a:gd name="adj1" fmla="val 16699176"/>
                <a:gd name="adj2" fmla="val 4170075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91010910-3F11-FE4A-89BD-B90EFD0EF430}"/>
              </a:ext>
            </a:extLst>
          </p:cNvPr>
          <p:cNvSpPr txBox="1"/>
          <p:nvPr/>
        </p:nvSpPr>
        <p:spPr>
          <a:xfrm>
            <a:off x="4859904" y="5321827"/>
            <a:ext cx="488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Others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Approach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1715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B) Analyse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1333232"/>
            <a:ext cx="115348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/>
              <a:t>3/ 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How can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integrate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political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into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buisiness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discussions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- By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creating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standardized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decision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making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process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that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incorporated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strategic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936766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III.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5C7435-B89E-4D92-9919-4C15386640A6}"/>
              </a:ext>
            </a:extLst>
          </p:cNvPr>
          <p:cNvSpPr txBox="1"/>
          <p:nvPr/>
        </p:nvSpPr>
        <p:spPr>
          <a:xfrm>
            <a:off x="2981716" y="3136612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C)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Mitigate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42191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C)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Mitigate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1038692"/>
            <a:ext cx="1153486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/>
              <a:t>1/ 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How can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reduce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exposure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to the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risks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have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identified</a:t>
            </a:r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In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different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ways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: 	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a)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where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asset value and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vulnerability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converge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b)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Creating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flexible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surge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capacity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c)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Aligning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others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in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your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industry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fr-FR" sz="2000" b="1" dirty="0"/>
              <a:t>	</a:t>
            </a:r>
          </a:p>
          <a:p>
            <a:r>
              <a:rPr lang="fr-FR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08821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C)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Mitigate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240949" y="1182231"/>
            <a:ext cx="115348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2/ Do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have a good system in place for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timely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warning and action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Work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situation : stable or not ?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Is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violence ? 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Is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protest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Is the gouvernement able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react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quickly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Ability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of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company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determine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relevant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Collect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share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informations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Identify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witch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information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associable for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buisiness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?	</a:t>
            </a:r>
          </a:p>
        </p:txBody>
      </p:sp>
    </p:spTree>
    <p:extLst>
      <p:ext uri="{BB962C8B-B14F-4D97-AF65-F5344CB8AC3E}">
        <p14:creationId xmlns:p14="http://schemas.microsoft.com/office/powerpoint/2010/main" val="4227359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C)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Mitigate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970450"/>
            <a:ext cx="115348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3/ How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can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limit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the damage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when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something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bad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happens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Developing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relationship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contingency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plan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flexible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Share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experience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Working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local groups (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stakeholders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342900" indent="-342900">
              <a:buFontTx/>
              <a:buChar char="-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88406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III.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5C7435-B89E-4D92-9919-4C15386640A6}"/>
              </a:ext>
            </a:extLst>
          </p:cNvPr>
          <p:cNvSpPr txBox="1"/>
          <p:nvPr/>
        </p:nvSpPr>
        <p:spPr>
          <a:xfrm>
            <a:off x="2981716" y="3136612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D)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Respond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52481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D)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respond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28569" y="971636"/>
            <a:ext cx="115348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/>
              <a:t>1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/ Are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capitalizing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on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near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misses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learn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crisis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Warning of potentiel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failure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Make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plan for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failure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and not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success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Look for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weak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signals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Rewards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courageous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act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20757157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D)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respond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311636" y="970450"/>
            <a:ext cx="1153486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2. Are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reacting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effectively</a:t>
            </a:r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 to crises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Understanding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Communicating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appetite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Integrating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political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into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business</a:t>
            </a: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Steps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answer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pPr marL="342900" indent="-342900">
              <a:buFontTx/>
              <a:buChar char="-"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a)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Evaluate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situation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b)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Activate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team (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formulating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plan)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c) Lead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value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	d) Tell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your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story (communication)</a:t>
            </a:r>
          </a:p>
          <a:p>
            <a:pPr marL="342900" indent="-342900">
              <a:buFontTx/>
              <a:buChar char="-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950381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499" y="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D)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respond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A1D271-0B71-405F-A16A-01995ED50A74}"/>
              </a:ext>
            </a:extLst>
          </p:cNvPr>
          <p:cNvSpPr txBox="1"/>
          <p:nvPr/>
        </p:nvSpPr>
        <p:spPr>
          <a:xfrm>
            <a:off x="831499" y="970450"/>
            <a:ext cx="115348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u="sng" dirty="0"/>
          </a:p>
          <a:p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Are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developing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mechanisms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for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continuous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learning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?</a:t>
            </a:r>
          </a:p>
          <a:p>
            <a:endParaRPr lang="fr-FR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Developping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mechanism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remember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the right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lessons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another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crisis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Tx/>
              <a:buChar char="-"/>
            </a:pP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Searching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for new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Ideas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Explorations new practices</a:t>
            </a:r>
          </a:p>
        </p:txBody>
      </p:sp>
    </p:spTree>
    <p:extLst>
      <p:ext uri="{BB962C8B-B14F-4D97-AF65-F5344CB8AC3E}">
        <p14:creationId xmlns:p14="http://schemas.microsoft.com/office/powerpoint/2010/main" val="1930237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D2E5D22-5CE0-44F7-A55B-53D19E2BA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91945"/>
              </p:ext>
            </p:extLst>
          </p:nvPr>
        </p:nvGraphicFramePr>
        <p:xfrm>
          <a:off x="3246120" y="2468308"/>
          <a:ext cx="5725160" cy="426169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2608218386"/>
                    </a:ext>
                  </a:extLst>
                </a:gridCol>
                <a:gridCol w="2875280">
                  <a:extLst>
                    <a:ext uri="{9D8B030D-6E8A-4147-A177-3AD203B41FA5}">
                      <a16:colId xmlns:a16="http://schemas.microsoft.com/office/drawing/2014/main" val="1671796094"/>
                    </a:ext>
                  </a:extLst>
                </a:gridCol>
              </a:tblGrid>
              <a:tr h="1853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000" dirty="0" err="1">
                          <a:effectLst/>
                        </a:rPr>
                        <a:t>Low</a:t>
                      </a:r>
                      <a:r>
                        <a:rPr lang="fr-FR" sz="2000" dirty="0">
                          <a:effectLst/>
                        </a:rPr>
                        <a:t> </a:t>
                      </a:r>
                      <a:r>
                        <a:rPr lang="fr-FR" sz="2000" dirty="0" err="1">
                          <a:effectLst/>
                        </a:rPr>
                        <a:t>priority</a:t>
                      </a:r>
                      <a:endParaRPr lang="fr-FR" sz="20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</a:rPr>
                        <a:t>Medium </a:t>
                      </a:r>
                      <a:r>
                        <a:rPr lang="fr-FR" sz="2000" dirty="0" err="1">
                          <a:effectLst/>
                        </a:rPr>
                        <a:t>priority</a:t>
                      </a:r>
                      <a:endParaRPr lang="fr-FR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Coca-Cola bottling plant in Angola (unrest there but small investment shared with others</a:t>
                      </a:r>
                      <a:endParaRPr lang="fr-FR" sz="1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0816180"/>
                  </a:ext>
                </a:extLst>
              </a:tr>
              <a:tr h="22100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Medium priority</a:t>
                      </a:r>
                      <a:endParaRPr lang="fr-FR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fr-FR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Occidental </a:t>
                      </a:r>
                      <a:r>
                        <a:rPr lang="en-US" sz="1800" dirty="0" err="1">
                          <a:effectLst/>
                        </a:rPr>
                        <a:t>Pestroleum</a:t>
                      </a:r>
                      <a:r>
                        <a:rPr lang="en-US" sz="1800" dirty="0">
                          <a:effectLst/>
                        </a:rPr>
                        <a:t> west Texas drilling operations (39% of company global production, no risk of expropriation, low risk of state regulatory change)</a:t>
                      </a:r>
                      <a:endParaRPr lang="fr-FR" sz="1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Top priority</a:t>
                      </a:r>
                      <a:endParaRPr lang="fr-FR" sz="20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fr-FR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Sony unreleased move scripts, contracts (valuable IP, weak cyber defenses) </a:t>
                      </a:r>
                      <a:endParaRPr lang="fr-FR" sz="18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SeaWorld’s “Shamu” brand (essential to company, vulnerable to activists, trainer safety scandals)</a:t>
                      </a:r>
                      <a:endParaRPr lang="fr-FR" sz="18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422206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35F97597-D06D-4F7D-858D-ED5712819B59}"/>
              </a:ext>
            </a:extLst>
          </p:cNvPr>
          <p:cNvSpPr txBox="1"/>
          <p:nvPr/>
        </p:nvSpPr>
        <p:spPr>
          <a:xfrm>
            <a:off x="3824287" y="925289"/>
            <a:ext cx="4543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Vulnerability</a:t>
            </a:r>
            <a:endParaRPr lang="fr-FR" sz="20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2E10497-AFF0-400F-91A4-6631340D9A12}"/>
              </a:ext>
            </a:extLst>
          </p:cNvPr>
          <p:cNvSpPr txBox="1"/>
          <p:nvPr/>
        </p:nvSpPr>
        <p:spPr>
          <a:xfrm>
            <a:off x="4136231" y="1811084"/>
            <a:ext cx="88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Lower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4DA7D53-60DC-45B0-9746-215FEC4E4208}"/>
              </a:ext>
            </a:extLst>
          </p:cNvPr>
          <p:cNvSpPr txBox="1"/>
          <p:nvPr/>
        </p:nvSpPr>
        <p:spPr>
          <a:xfrm>
            <a:off x="2103755" y="5363909"/>
            <a:ext cx="939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Cambria" panose="02040503050406030204" pitchFamily="18" charset="0"/>
                <a:ea typeface="Cambria" panose="02040503050406030204" pitchFamily="18" charset="0"/>
              </a:rPr>
              <a:t>Higher</a:t>
            </a:r>
            <a:endParaRPr lang="fr-FR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D13D85-5AFC-4561-A202-670B6A2C3A6B}"/>
              </a:ext>
            </a:extLst>
          </p:cNvPr>
          <p:cNvSpPr txBox="1"/>
          <p:nvPr/>
        </p:nvSpPr>
        <p:spPr>
          <a:xfrm>
            <a:off x="7269957" y="1811084"/>
            <a:ext cx="888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Cambria" panose="02040503050406030204" pitchFamily="18" charset="0"/>
                <a:ea typeface="Cambria" panose="02040503050406030204" pitchFamily="18" charset="0"/>
              </a:rPr>
              <a:t>Higher</a:t>
            </a:r>
            <a:endParaRPr lang="fr-FR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72343D9-9888-4C94-B48D-1B9B2222E511}"/>
              </a:ext>
            </a:extLst>
          </p:cNvPr>
          <p:cNvSpPr txBox="1"/>
          <p:nvPr/>
        </p:nvSpPr>
        <p:spPr>
          <a:xfrm>
            <a:off x="2103755" y="3222927"/>
            <a:ext cx="840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latin typeface="Cambria" panose="02040503050406030204" pitchFamily="18" charset="0"/>
                <a:ea typeface="Cambria" panose="02040503050406030204" pitchFamily="18" charset="0"/>
              </a:rPr>
              <a:t>Lower</a:t>
            </a:r>
            <a:endParaRPr lang="fr-FR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7F3E970-45B5-4A15-8848-B38F1B6A68CE}"/>
              </a:ext>
            </a:extLst>
          </p:cNvPr>
          <p:cNvSpPr txBox="1"/>
          <p:nvPr/>
        </p:nvSpPr>
        <p:spPr>
          <a:xfrm>
            <a:off x="755269" y="4299631"/>
            <a:ext cx="965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B53B1F-4F41-466E-BB6F-6B2BB9B06E1C}"/>
              </a:ext>
            </a:extLst>
          </p:cNvPr>
          <p:cNvSpPr/>
          <p:nvPr/>
        </p:nvSpPr>
        <p:spPr>
          <a:xfrm>
            <a:off x="3539049" y="61447"/>
            <a:ext cx="51139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 err="1"/>
              <a:t>Anticipating</a:t>
            </a:r>
            <a:r>
              <a:rPr lang="fr-FR" sz="3200" b="1" u="sng" dirty="0"/>
              <a:t> and </a:t>
            </a:r>
            <a:r>
              <a:rPr lang="fr-FR" sz="3200" b="1" u="sng" dirty="0" err="1"/>
              <a:t>Assuming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76262963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23C3594-064B-CB46-B374-85576107E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19745"/>
              </p:ext>
            </p:extLst>
          </p:nvPr>
        </p:nvGraphicFramePr>
        <p:xfrm>
          <a:off x="0" y="0"/>
          <a:ext cx="12192000" cy="70354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745655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900387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112929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42814222"/>
                    </a:ext>
                  </a:extLst>
                </a:gridCol>
              </a:tblGrid>
              <a:tr h="639757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</a:t>
                      </a:r>
                      <a:endParaRPr lang="fr-FR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Mitigate</a:t>
                      </a:r>
                      <a:endParaRPr lang="fr-FR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Respond</a:t>
                      </a:r>
                      <a:endParaRPr lang="fr-FR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832427"/>
                  </a:ext>
                </a:extLst>
              </a:tr>
              <a:tr h="106321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What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organization’spolitical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appetite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good information about the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political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face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exposure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to the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have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identified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Are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capitalizing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on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near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misses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841201"/>
                  </a:ext>
                </a:extLst>
              </a:tr>
              <a:tr h="2099347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processes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(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e.g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annual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setting workshops) to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make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appetite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explicit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Udapted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Collect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information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that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specific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your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includes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perception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emotion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key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skateholders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answer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right questions.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Identinfy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where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asset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value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vulnerability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converge: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build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nuclear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triad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(disperse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political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assets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);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empty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plane (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build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flexible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surge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capacity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);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align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with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others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in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industry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Plan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failure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not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succes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; look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weak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signals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;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reward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courageaous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acts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090465"/>
                  </a:ext>
                </a:extLst>
              </a:tr>
              <a:tr h="1221438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Is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shared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appetite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foster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one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insure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rigorous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analysis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Do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have a good system in place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timely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warning in actions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reacting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effectively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crisis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621623"/>
                  </a:ext>
                </a:extLst>
              </a:tr>
              <a:tr h="1834248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Create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common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language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discussing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a consistent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process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identifying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,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owning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Harness tools like scenario planning not teams, and thinking backwards, the goals is not to predict the future but to make better decision by ”re-perceiving”.</a:t>
                      </a:r>
                      <a:endParaRPr lang="fr-FR" sz="180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proactive,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timely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situational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awarness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« 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knocking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on the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door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»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tripwires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that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trigger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protocols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actions.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Follow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five key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steps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stop the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bleeding,activate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team,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communicate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what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matters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you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tell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your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story,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beware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multiplite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audiences.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27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97406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42DAF93-9B94-4761-91A4-4D098A82D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837014"/>
              </p:ext>
            </p:extLst>
          </p:nvPr>
        </p:nvGraphicFramePr>
        <p:xfrm>
          <a:off x="0" y="0"/>
          <a:ext cx="12192000" cy="38023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745655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900387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112929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42814222"/>
                    </a:ext>
                  </a:extLst>
                </a:gridCol>
              </a:tblGrid>
              <a:tr h="639757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</a:t>
                      </a:r>
                      <a:endParaRPr lang="fr-FR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Mitigate</a:t>
                      </a:r>
                      <a:endParaRPr lang="fr-FR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Respond</a:t>
                      </a:r>
                      <a:endParaRPr lang="fr-FR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832427"/>
                  </a:ext>
                </a:extLst>
              </a:tr>
              <a:tr h="106321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blind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spots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integrate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political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analysis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into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business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decisions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How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the damage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when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something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happens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Are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mechanisms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for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continuous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learning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841201"/>
                  </a:ext>
                </a:extLst>
              </a:tr>
              <a:tr h="2099347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Developp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processes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that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foster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imagination, a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better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others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perspectives,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truth-telling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guard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against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groupthink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Bake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in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political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thinking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instead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bolting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it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at the end of a business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decision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Political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analysits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close to business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units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their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and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deliver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useful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inputs.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Drink a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cup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coffe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build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relationship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with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key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skateholders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before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you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them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counterfactuals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; train, train, train;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continuously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reinforce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company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values as a </a:t>
                      </a:r>
                      <a:r>
                        <a:rPr lang="fr-FR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touchstone</a:t>
                      </a:r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for actions.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09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10235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8983</TotalTime>
  <Words>1207</Words>
  <Application>Microsoft Office PowerPoint</Application>
  <PresentationFormat>Grand écran</PresentationFormat>
  <Paragraphs>206</Paragraphs>
  <Slides>23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Wingdings</vt:lpstr>
      <vt:lpstr>Thème Office</vt:lpstr>
      <vt:lpstr>COMPANIES AND GEOPOLITICAL RISKS Sessions 3</vt:lpstr>
      <vt:lpstr>III. Anticipating and Assuming</vt:lpstr>
      <vt:lpstr>A) Understand</vt:lpstr>
      <vt:lpstr>A) Understand</vt:lpstr>
      <vt:lpstr>A) Understand</vt:lpstr>
      <vt:lpstr>III. Anticipating and Assuming</vt:lpstr>
      <vt:lpstr>B) Analyse</vt:lpstr>
      <vt:lpstr>B) Analyse</vt:lpstr>
      <vt:lpstr>B) Analyse</vt:lpstr>
      <vt:lpstr>B) Analyse</vt:lpstr>
      <vt:lpstr>B) Analyse</vt:lpstr>
      <vt:lpstr>B) Analyse</vt:lpstr>
      <vt:lpstr>III. Anticipating and Assuming</vt:lpstr>
      <vt:lpstr>C) Mitigate</vt:lpstr>
      <vt:lpstr>C) Mitigate</vt:lpstr>
      <vt:lpstr>C) Mitigate</vt:lpstr>
      <vt:lpstr>III. Anticipating and Assuming</vt:lpstr>
      <vt:lpstr>D) Assuming (respond)</vt:lpstr>
      <vt:lpstr>D) Assuming (respond) </vt:lpstr>
      <vt:lpstr>D) Assuming (respond)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loic savoyen</dc:creator>
  <cp:lastModifiedBy>Lotfi HAMZI</cp:lastModifiedBy>
  <cp:revision>309</cp:revision>
  <cp:lastPrinted>2019-01-30T15:16:38Z</cp:lastPrinted>
  <dcterms:created xsi:type="dcterms:W3CDTF">2019-01-21T15:34:32Z</dcterms:created>
  <dcterms:modified xsi:type="dcterms:W3CDTF">2026-01-19T14:21:25Z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2299148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S8.2.3</vt:lpwstr>
  </property>
</Properties>
</file>