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36"/>
  </p:notesMasterIdLst>
  <p:sldIdLst>
    <p:sldId id="256" r:id="rId2"/>
    <p:sldId id="327" r:id="rId3"/>
    <p:sldId id="328" r:id="rId4"/>
    <p:sldId id="347" r:id="rId5"/>
    <p:sldId id="348" r:id="rId6"/>
    <p:sldId id="349" r:id="rId7"/>
    <p:sldId id="350" r:id="rId8"/>
    <p:sldId id="335" r:id="rId9"/>
    <p:sldId id="351" r:id="rId10"/>
    <p:sldId id="353" r:id="rId11"/>
    <p:sldId id="346" r:id="rId12"/>
    <p:sldId id="355" r:id="rId13"/>
    <p:sldId id="360" r:id="rId14"/>
    <p:sldId id="359" r:id="rId15"/>
    <p:sldId id="329" r:id="rId16"/>
    <p:sldId id="334" r:id="rId17"/>
    <p:sldId id="361" r:id="rId18"/>
    <p:sldId id="339" r:id="rId19"/>
    <p:sldId id="340" r:id="rId20"/>
    <p:sldId id="338" r:id="rId21"/>
    <p:sldId id="363" r:id="rId22"/>
    <p:sldId id="364" r:id="rId23"/>
    <p:sldId id="366" r:id="rId24"/>
    <p:sldId id="367" r:id="rId25"/>
    <p:sldId id="370" r:id="rId26"/>
    <p:sldId id="371" r:id="rId27"/>
    <p:sldId id="368" r:id="rId28"/>
    <p:sldId id="341" r:id="rId29"/>
    <p:sldId id="342" r:id="rId30"/>
    <p:sldId id="345" r:id="rId31"/>
    <p:sldId id="343" r:id="rId32"/>
    <p:sldId id="344" r:id="rId33"/>
    <p:sldId id="373" r:id="rId34"/>
    <p:sldId id="324" r:id="rId35"/>
  </p:sldIdLst>
  <p:sldSz cx="12192000" cy="6858000"/>
  <p:notesSz cx="6864350" cy="99964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26" autoAdjust="0"/>
    <p:restoredTop sz="87196" autoAdjust="0"/>
  </p:normalViewPr>
  <p:slideViewPr>
    <p:cSldViewPr snapToGrid="0">
      <p:cViewPr varScale="1">
        <p:scale>
          <a:sx n="77" d="100"/>
          <a:sy n="77" d="100"/>
        </p:scale>
        <p:origin x="5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tfi HAMZI" userId="be32f582-dd51-484c-b334-be45bf74d486" providerId="ADAL" clId="{FA27B0E5-3651-49E6-93AD-CFA6BB7582F9}"/>
    <pc:docChg chg="modSld">
      <pc:chgData name="Lotfi HAMZI" userId="be32f582-dd51-484c-b334-be45bf74d486" providerId="ADAL" clId="{FA27B0E5-3651-49E6-93AD-CFA6BB7582F9}" dt="2026-01-19T14:18:10.790" v="27" actId="20577"/>
      <pc:docMkLst>
        <pc:docMk/>
      </pc:docMkLst>
      <pc:sldChg chg="modSp mod">
        <pc:chgData name="Lotfi HAMZI" userId="be32f582-dd51-484c-b334-be45bf74d486" providerId="ADAL" clId="{FA27B0E5-3651-49E6-93AD-CFA6BB7582F9}" dt="2026-01-19T14:18:10.790" v="27" actId="20577"/>
        <pc:sldMkLst>
          <pc:docMk/>
          <pc:sldMk cId="3543826887" sldId="256"/>
        </pc:sldMkLst>
        <pc:spChg chg="mod">
          <ac:chgData name="Lotfi HAMZI" userId="be32f582-dd51-484c-b334-be45bf74d486" providerId="ADAL" clId="{FA27B0E5-3651-49E6-93AD-CFA6BB7582F9}" dt="2026-01-19T14:18:10.790" v="27" actId="20577"/>
          <ac:spMkLst>
            <pc:docMk/>
            <pc:sldMk cId="3543826887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7788" y="0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CC60F-ADFD-4581-AF10-A18955192DDA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4975" y="1249363"/>
            <a:ext cx="5994400" cy="33734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810125"/>
            <a:ext cx="5492750" cy="39370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94838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7788" y="9494838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38843-8EDE-4B5F-8EA2-74159122E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1088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38843-8EDE-4B5F-8EA2-74159122E2E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3313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713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8435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2560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2237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9701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1695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5803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8906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4533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000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084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337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https://www.lemonde.fr/proche-orient/video/2015/10/27/comprendre-la-situation-en-syrie-en-5-minutes_4798012_3218.html" TargetMode="Externa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hyperlink" Target="https://www.youtube.com/watch?v=EpH65n0r7pM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hyperlink" Target="https://www.lemonde.fr/societe/article/2018/06/28/financement-du-terrorisme-lafarge-sa-mise-en-examen-pour-complicite-de-crimes-contre-l-humanite_5322647_3224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DA7F47-47B0-478A-AD63-A73637215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7395"/>
            <a:ext cx="9144000" cy="2387600"/>
          </a:xfrm>
        </p:spPr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COMPANIES AND GEOPOLICAL RISKS</a:t>
            </a:r>
          </a:p>
        </p:txBody>
      </p:sp>
      <p:pic>
        <p:nvPicPr>
          <p:cNvPr id="1026" name="Picture 2" descr="RÃ©sultat de recherche d'images pour &quot;neoma logo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083" y="5852236"/>
            <a:ext cx="1883834" cy="586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6386428" y="5919047"/>
            <a:ext cx="445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>
                <a:latin typeface="Cambria" panose="02040503050406030204" pitchFamily="18" charset="0"/>
                <a:ea typeface="Cambria" panose="02040503050406030204" pitchFamily="18" charset="0"/>
              </a:rPr>
              <a:t>OMRI Yassine 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40F40EA-5B0A-7DB5-1DAF-D23C4B54DF1B}"/>
              </a:ext>
            </a:extLst>
          </p:cNvPr>
          <p:cNvSpPr txBox="1"/>
          <p:nvPr/>
        </p:nvSpPr>
        <p:spPr>
          <a:xfrm>
            <a:off x="2948940" y="4233548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latin typeface="Cambria" panose="02040503050406030204" pitchFamily="18" charset="0"/>
                <a:ea typeface="Cambria" panose="02040503050406030204" pitchFamily="18" charset="0"/>
              </a:rPr>
              <a:t>2025-2026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3826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2734699"/>
            <a:ext cx="10515600" cy="1325563"/>
          </a:xfrm>
        </p:spPr>
        <p:txBody>
          <a:bodyPr/>
          <a:lstStyle/>
          <a:p>
            <a:pPr algn="ctr"/>
            <a:r>
              <a:rPr lang="fr-FR" b="1" u="sng" dirty="0">
                <a:latin typeface="Cambria" panose="02040503050406030204" pitchFamily="18" charset="0"/>
                <a:ea typeface="Cambria" panose="02040503050406030204" pitchFamily="18" charset="0"/>
              </a:rPr>
              <a:t>IV. </a:t>
            </a:r>
            <a:r>
              <a:rPr lang="fr-FR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Syrian</a:t>
            </a:r>
            <a:r>
              <a:rPr lang="fr-FR" b="1" u="sng" dirty="0">
                <a:latin typeface="Cambria" panose="02040503050406030204" pitchFamily="18" charset="0"/>
                <a:ea typeface="Cambria" panose="02040503050406030204" pitchFamily="18" charset="0"/>
              </a:rPr>
              <a:t> Case </a:t>
            </a:r>
          </a:p>
        </p:txBody>
      </p:sp>
    </p:spTree>
    <p:extLst>
      <p:ext uri="{BB962C8B-B14F-4D97-AF65-F5344CB8AC3E}">
        <p14:creationId xmlns:p14="http://schemas.microsoft.com/office/powerpoint/2010/main" val="4118004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IV.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Syrian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Case :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Syria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by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Maps</a:t>
            </a:r>
            <a:endParaRPr lang="fr-FR" sz="3200" b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838200" y="1690688"/>
            <a:ext cx="8305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Syria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indent="-342900">
              <a:buAutoNum type="arabicPeriod"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AutoNum type="arabicPeriod"/>
            </a:pP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Geography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AutoNum type="arabicPeriod"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AutoNum type="arabicPeriod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Populations</a:t>
            </a:r>
          </a:p>
          <a:p>
            <a:pPr marL="800100" lvl="1" indent="-342900">
              <a:buAutoNum type="alphaLcParenR"/>
            </a:pP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Ethnic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groups </a:t>
            </a:r>
          </a:p>
          <a:p>
            <a:pPr marL="800100" lvl="1" indent="-342900">
              <a:buAutoNum type="alphaLcParenR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Religions</a:t>
            </a:r>
          </a:p>
          <a:p>
            <a:pPr lvl="1"/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indent="-342900">
              <a:buAutoNum type="arabicPeriod"/>
            </a:pP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Military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wars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AutoNum type="arabicPeriod"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AutoNum type="arabicPeriod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Gaz and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petrol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: pipelines</a:t>
            </a:r>
          </a:p>
          <a:p>
            <a:pPr marL="342900" indent="-342900">
              <a:buAutoNum type="arabicPeriod"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AutoNum type="arabicPeriod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Theory of 4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seas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AutoNum type="arabicPeriod"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AutoNum type="arabicPeriod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La Farge in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Syria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AutoNum type="arabicPeriod"/>
            </a:pPr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9364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0213" y="-297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4000" b="1" u="sng" dirty="0"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fr-FR" sz="4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Syria</a:t>
            </a:r>
            <a:endParaRPr lang="fr-FR" sz="4000" b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-1" y="2940717"/>
            <a:ext cx="3940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President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: BACHAR AL-ASSAD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717" y="1410460"/>
            <a:ext cx="2204730" cy="130207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717" y="3507451"/>
            <a:ext cx="2204730" cy="1329073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4"/>
          <a:srcRect l="2614" t="4460" r="3930" b="-1"/>
          <a:stretch/>
        </p:blipFill>
        <p:spPr>
          <a:xfrm>
            <a:off x="10566878" y="3360814"/>
            <a:ext cx="1093949" cy="1474867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5242" y="1437383"/>
            <a:ext cx="3087455" cy="1504009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7234" y="1447060"/>
            <a:ext cx="2331193" cy="1318131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0" y="5431305"/>
            <a:ext cx="3106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Cambria" panose="02040503050406030204" pitchFamily="18" charset="0"/>
                <a:ea typeface="Cambria" panose="02040503050406030204" pitchFamily="18" charset="0"/>
              </a:rPr>
              <a:t>Area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: </a:t>
            </a:r>
            <a:r>
              <a:rPr lang="fr-FR" b="1" dirty="0">
                <a:latin typeface="Cambria" panose="02040503050406030204" pitchFamily="18" charset="0"/>
                <a:ea typeface="Cambria" panose="02040503050406030204" pitchFamily="18" charset="0"/>
              </a:rPr>
              <a:t>185.000 km² 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8610010" y="5431305"/>
            <a:ext cx="3106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Cambria" panose="02040503050406030204" pitchFamily="18" charset="0"/>
                <a:ea typeface="Cambria" panose="02040503050406030204" pitchFamily="18" charset="0"/>
              </a:rPr>
              <a:t>Population: 18.3 Millions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4305005" y="5431305"/>
            <a:ext cx="3106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Cambria" panose="02040503050406030204" pitchFamily="18" charset="0"/>
                <a:ea typeface="Cambria" panose="02040503050406030204" pitchFamily="18" charset="0"/>
              </a:rPr>
              <a:t>change: </a:t>
            </a:r>
            <a:r>
              <a:rPr lang="fr-FR" b="1" dirty="0" err="1">
                <a:latin typeface="Cambria" panose="02040503050406030204" pitchFamily="18" charset="0"/>
                <a:ea typeface="Cambria" panose="02040503050406030204" pitchFamily="18" charset="0"/>
              </a:rPr>
              <a:t>Syrian</a:t>
            </a:r>
            <a:r>
              <a:rPr lang="fr-FR" b="1" dirty="0">
                <a:latin typeface="Cambria" panose="02040503050406030204" pitchFamily="18" charset="0"/>
                <a:ea typeface="Cambria" panose="02040503050406030204" pitchFamily="18" charset="0"/>
              </a:rPr>
              <a:t> Pound (0.004€)</a:t>
            </a:r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 rotWithShape="1">
          <a:blip r:embed="rId7"/>
          <a:srcRect l="3560" t="407"/>
          <a:stretch/>
        </p:blipFill>
        <p:spPr>
          <a:xfrm>
            <a:off x="8559822" y="3455828"/>
            <a:ext cx="1608495" cy="1380696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3093" y="3321184"/>
            <a:ext cx="2331193" cy="155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33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28368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Geography</a:t>
            </a:r>
            <a:endParaRPr lang="fr-FR" sz="3200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/>
          <a:srcRect l="642" t="199" b="-1"/>
          <a:stretch/>
        </p:blipFill>
        <p:spPr>
          <a:xfrm>
            <a:off x="2182760" y="940556"/>
            <a:ext cx="8485239" cy="58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028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28368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Geography</a:t>
            </a:r>
            <a:endParaRPr lang="fr-FR" sz="3200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l="963" t="333"/>
          <a:stretch/>
        </p:blipFill>
        <p:spPr>
          <a:xfrm>
            <a:off x="3254477" y="963561"/>
            <a:ext cx="6066348" cy="589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323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00549" y="274453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b="1" dirty="0">
                <a:latin typeface="Cambria" panose="02040503050406030204" pitchFamily="18" charset="0"/>
                <a:ea typeface="Cambria" panose="02040503050406030204" pitchFamily="18" charset="0"/>
              </a:rPr>
              <a:t>3. Populations </a:t>
            </a:r>
            <a:br>
              <a:rPr lang="fr-FR" sz="3200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200" b="1" dirty="0">
                <a:latin typeface="Cambria" panose="02040503050406030204" pitchFamily="18" charset="0"/>
                <a:ea typeface="Cambria" panose="02040503050406030204" pitchFamily="18" charset="0"/>
              </a:rPr>
              <a:t>a) </a:t>
            </a:r>
            <a:r>
              <a:rPr lang="fr-FR" sz="3200" b="1" dirty="0" err="1">
                <a:latin typeface="Cambria" panose="02040503050406030204" pitchFamily="18" charset="0"/>
                <a:ea typeface="Cambria" panose="02040503050406030204" pitchFamily="18" charset="0"/>
              </a:rPr>
              <a:t>Ethnic</a:t>
            </a:r>
            <a:r>
              <a:rPr lang="fr-FR" sz="3200" b="1" dirty="0">
                <a:latin typeface="Cambria" panose="02040503050406030204" pitchFamily="18" charset="0"/>
                <a:ea typeface="Cambria" panose="02040503050406030204" pitchFamily="18" charset="0"/>
              </a:rPr>
              <a:t> groups</a:t>
            </a:r>
          </a:p>
        </p:txBody>
      </p:sp>
    </p:spTree>
    <p:extLst>
      <p:ext uri="{BB962C8B-B14F-4D97-AF65-F5344CB8AC3E}">
        <p14:creationId xmlns:p14="http://schemas.microsoft.com/office/powerpoint/2010/main" val="2852318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49709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a)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Ethnic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groups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t="872" r="478"/>
          <a:stretch/>
        </p:blipFill>
        <p:spPr>
          <a:xfrm>
            <a:off x="2473427" y="1101212"/>
            <a:ext cx="7034367" cy="575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125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14771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a)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Ethnic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groups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t="1081" r="655"/>
          <a:stretch/>
        </p:blipFill>
        <p:spPr>
          <a:xfrm>
            <a:off x="2460367" y="1170039"/>
            <a:ext cx="7605988" cy="550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121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14771" y="-294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a)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Ethnic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groups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l="2155" t="713" b="176"/>
          <a:stretch/>
        </p:blipFill>
        <p:spPr>
          <a:xfrm>
            <a:off x="2232306" y="1135627"/>
            <a:ext cx="7897483" cy="572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548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82445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a)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Ethnic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groups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l="1473" t="2561" r="960"/>
          <a:stretch/>
        </p:blipFill>
        <p:spPr>
          <a:xfrm>
            <a:off x="2702759" y="1128918"/>
            <a:ext cx="6874971" cy="507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55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14771" y="-294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a)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Ethnic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groups</a:t>
            </a:r>
          </a:p>
        </p:txBody>
      </p:sp>
      <p:pic>
        <p:nvPicPr>
          <p:cNvPr id="5" name="Espace réservé du contenu 4" descr="Une image contenant texte, carte&#10;&#10;&#10;&#10;Description générée automatiquement">
            <a:extLst>
              <a:ext uri="{FF2B5EF4-FFF2-40B4-BE49-F238E27FC236}">
                <a16:creationId xmlns:a16="http://schemas.microsoft.com/office/drawing/2014/main" id="{D3A40A55-4A5A-C44F-988D-5A0D8020FC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7" t="668" b="1"/>
          <a:stretch/>
        </p:blipFill>
        <p:spPr>
          <a:xfrm>
            <a:off x="2698151" y="1020763"/>
            <a:ext cx="6748839" cy="502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769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00549" y="274453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3. Populations </a:t>
            </a:r>
            <a:b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a) Religions</a:t>
            </a:r>
          </a:p>
        </p:txBody>
      </p:sp>
    </p:spTree>
    <p:extLst>
      <p:ext uri="{BB962C8B-B14F-4D97-AF65-F5344CB8AC3E}">
        <p14:creationId xmlns:p14="http://schemas.microsoft.com/office/powerpoint/2010/main" val="3321244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199" y="-926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b) Religions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t="376" r="1423" b="-1"/>
          <a:stretch/>
        </p:blipFill>
        <p:spPr>
          <a:xfrm>
            <a:off x="1945865" y="1316294"/>
            <a:ext cx="8300269" cy="554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43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65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b) Religions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l="419" t="953" r="1863"/>
          <a:stretch/>
        </p:blipFill>
        <p:spPr>
          <a:xfrm>
            <a:off x="2290916" y="993059"/>
            <a:ext cx="7502014" cy="554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26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b) Religions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l="1137" t="939"/>
          <a:stretch/>
        </p:blipFill>
        <p:spPr>
          <a:xfrm>
            <a:off x="3372464" y="973393"/>
            <a:ext cx="5447071" cy="514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990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57864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Military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wars</a:t>
            </a:r>
            <a:endParaRPr lang="fr-FR" sz="3200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t="721" b="-1"/>
          <a:stretch/>
        </p:blipFill>
        <p:spPr>
          <a:xfrm>
            <a:off x="2398686" y="878713"/>
            <a:ext cx="7433956" cy="570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914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Military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wars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2003937" y="5113081"/>
            <a:ext cx="818412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dirty="0">
              <a:hlinkClick r:id="rId2"/>
            </a:endParaRPr>
          </a:p>
          <a:p>
            <a:endParaRPr lang="fr-FR" dirty="0">
              <a:hlinkClick r:id="rId2"/>
            </a:endParaRPr>
          </a:p>
          <a:p>
            <a:r>
              <a:rPr lang="fr-FR" dirty="0">
                <a:hlinkClick r:id="rId2"/>
              </a:rPr>
              <a:t>https://www.lemonde.fr/proche-orient/video/2015/10/27/comprendre-la-situation-en-syrie-en-5-minutes_4798012_3218.html</a:t>
            </a:r>
            <a:endParaRPr lang="fr-FR" dirty="0"/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2003937" y="5319559"/>
            <a:ext cx="2671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Video</a:t>
            </a:r>
            <a:r>
              <a:rPr lang="fr-FR" dirty="0"/>
              <a:t> 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3"/>
          <a:srcRect l="1465" t="464"/>
          <a:stretch/>
        </p:blipFill>
        <p:spPr>
          <a:xfrm>
            <a:off x="2003937" y="988910"/>
            <a:ext cx="8184126" cy="412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11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28367" y="-7732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fr-FR" sz="3200" dirty="0" err="1">
                <a:latin typeface="Cambria" panose="02040503050406030204" pitchFamily="18" charset="0"/>
                <a:ea typeface="Cambria" panose="02040503050406030204" pitchFamily="18" charset="0"/>
              </a:rPr>
              <a:t>Military</a:t>
            </a:r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3200" dirty="0" err="1">
                <a:latin typeface="Cambria" panose="02040503050406030204" pitchFamily="18" charset="0"/>
                <a:ea typeface="Cambria" panose="02040503050406030204" pitchFamily="18" charset="0"/>
              </a:rPr>
              <a:t>wars</a:t>
            </a:r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pic>
        <p:nvPicPr>
          <p:cNvPr id="3" name="Espace réservé du contenu 4" descr="Une image contenant texte, carte&#10;&#10;&#10;&#10;Description générée automatiquement">
            <a:extLst>
              <a:ext uri="{FF2B5EF4-FFF2-40B4-BE49-F238E27FC236}">
                <a16:creationId xmlns:a16="http://schemas.microsoft.com/office/drawing/2014/main" id="{31903BDF-C544-AB4B-92DC-229B3F6F26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1" t="455" r="685"/>
          <a:stretch/>
        </p:blipFill>
        <p:spPr>
          <a:xfrm>
            <a:off x="1833614" y="835742"/>
            <a:ext cx="8505105" cy="602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673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48033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Military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wars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pic>
        <p:nvPicPr>
          <p:cNvPr id="3" name="Espace réservé du contenu 4" descr="Une image contenant texte, carte&#10;&#10;&#10;&#10;Description générée automatiquement">
            <a:extLst>
              <a:ext uri="{FF2B5EF4-FFF2-40B4-BE49-F238E27FC236}">
                <a16:creationId xmlns:a16="http://schemas.microsoft.com/office/drawing/2014/main" id="{AD512DA6-8880-8242-9646-694ED6A47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788" y="972932"/>
            <a:ext cx="8162090" cy="574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970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48033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Military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wars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b="1108"/>
          <a:stretch/>
        </p:blipFill>
        <p:spPr>
          <a:xfrm>
            <a:off x="1297398" y="936983"/>
            <a:ext cx="9586912" cy="548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968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28367" y="-7732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Military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wars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817" y="1248236"/>
            <a:ext cx="5104700" cy="513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254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28367" y="-7732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Military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wars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/>
          <a:srcRect l="691" t="1552" r="677" b="1284"/>
          <a:stretch/>
        </p:blipFill>
        <p:spPr>
          <a:xfrm>
            <a:off x="580871" y="993059"/>
            <a:ext cx="11010592" cy="535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584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28367" y="-7732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Military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wars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t="9" r="1155" b="1130"/>
          <a:stretch/>
        </p:blipFill>
        <p:spPr>
          <a:xfrm>
            <a:off x="1350674" y="1140081"/>
            <a:ext cx="9470986" cy="537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581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28367" y="-7732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Military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wars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404" y="1035920"/>
            <a:ext cx="3819525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2343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Military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wars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r="939"/>
          <a:stretch/>
        </p:blipFill>
        <p:spPr>
          <a:xfrm>
            <a:off x="932577" y="1455174"/>
            <a:ext cx="10326845" cy="515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302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98871" y="278386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5. Gaz and </a:t>
            </a:r>
            <a:r>
              <a:rPr lang="fr-FR" sz="3200" dirty="0" err="1">
                <a:latin typeface="Cambria" panose="02040503050406030204" pitchFamily="18" charset="0"/>
                <a:ea typeface="Cambria" panose="02040503050406030204" pitchFamily="18" charset="0"/>
              </a:rPr>
              <a:t>petrol</a:t>
            </a:r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 : pipelines</a:t>
            </a:r>
          </a:p>
        </p:txBody>
      </p:sp>
    </p:spTree>
    <p:extLst>
      <p:ext uri="{BB962C8B-B14F-4D97-AF65-F5344CB8AC3E}">
        <p14:creationId xmlns:p14="http://schemas.microsoft.com/office/powerpoint/2010/main" val="37815764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5. Gaz and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petrol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: pipelines</a:t>
            </a:r>
          </a:p>
        </p:txBody>
      </p:sp>
      <p:pic>
        <p:nvPicPr>
          <p:cNvPr id="3" name="Espace réservé du contenu 4" descr="Une image contenant texte, carte&#10;&#10;&#10;&#10;Description générée automatiquement">
            <a:extLst>
              <a:ext uri="{FF2B5EF4-FFF2-40B4-BE49-F238E27FC236}">
                <a16:creationId xmlns:a16="http://schemas.microsoft.com/office/drawing/2014/main" id="{40183DDC-937F-3F46-AE09-45EA7EBC9C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11" b="1"/>
          <a:stretch/>
        </p:blipFill>
        <p:spPr>
          <a:xfrm>
            <a:off x="1555029" y="1325563"/>
            <a:ext cx="9081942" cy="506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3391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5. Gaz and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petrol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: pipelines</a:t>
            </a:r>
          </a:p>
        </p:txBody>
      </p:sp>
      <p:pic>
        <p:nvPicPr>
          <p:cNvPr id="3" name="Espace réservé du contenu 4" descr="Une image contenant texte, carte&#10;&#10;&#10;&#10;Description générée automatiquement">
            <a:extLst>
              <a:ext uri="{FF2B5EF4-FFF2-40B4-BE49-F238E27FC236}">
                <a16:creationId xmlns:a16="http://schemas.microsoft.com/office/drawing/2014/main" id="{78F72615-D47C-F348-9EF9-FE263CFD41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2" b="-1"/>
          <a:stretch/>
        </p:blipFill>
        <p:spPr>
          <a:xfrm>
            <a:off x="2164333" y="1022555"/>
            <a:ext cx="7863334" cy="570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935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75852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5. Gaz and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petrol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: pipelines</a:t>
            </a:r>
          </a:p>
        </p:txBody>
      </p:sp>
      <p:pic>
        <p:nvPicPr>
          <p:cNvPr id="3" name="Espace réservé du contenu 4" descr="Une image contenant texte, carte&#10;&#10;&#10;&#10;Description générée automatiquement">
            <a:extLst>
              <a:ext uri="{FF2B5EF4-FFF2-40B4-BE49-F238E27FC236}">
                <a16:creationId xmlns:a16="http://schemas.microsoft.com/office/drawing/2014/main" id="{F0D7C784-CF58-F946-B45D-60579545AA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94"/>
          <a:stretch/>
        </p:blipFill>
        <p:spPr>
          <a:xfrm>
            <a:off x="2252274" y="1109253"/>
            <a:ext cx="7962755" cy="533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0944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5. Gaz and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petrol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: pipelines</a:t>
            </a:r>
          </a:p>
        </p:txBody>
      </p:sp>
      <p:pic>
        <p:nvPicPr>
          <p:cNvPr id="3" name="Espace réservé du contenu 4" descr="Une image contenant texte, carte&#10;&#10;&#10;&#10;Description générée automatiquement">
            <a:extLst>
              <a:ext uri="{FF2B5EF4-FFF2-40B4-BE49-F238E27FC236}">
                <a16:creationId xmlns:a16="http://schemas.microsoft.com/office/drawing/2014/main" id="{5E5A66D9-2257-FB45-BE72-318F2B135E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7" r="1053" b="-1"/>
          <a:stretch/>
        </p:blipFill>
        <p:spPr>
          <a:xfrm>
            <a:off x="2731801" y="961769"/>
            <a:ext cx="6728396" cy="580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5919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5. Gaz and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petrol</a:t>
            </a:r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 : pipelines</a:t>
            </a:r>
          </a:p>
        </p:txBody>
      </p:sp>
      <p:pic>
        <p:nvPicPr>
          <p:cNvPr id="3" name="Espace réservé du contenu 4" descr="Une image contenant texte, carte&#10;&#10;&#10;&#10;Description générée automatiquement">
            <a:extLst>
              <a:ext uri="{FF2B5EF4-FFF2-40B4-BE49-F238E27FC236}">
                <a16:creationId xmlns:a16="http://schemas.microsoft.com/office/drawing/2014/main" id="{7F4D9EB3-F671-964D-8E7B-FECBE76B74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60" t="2249"/>
          <a:stretch/>
        </p:blipFill>
        <p:spPr>
          <a:xfrm>
            <a:off x="4532671" y="993058"/>
            <a:ext cx="3173696" cy="586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2083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6. Theory of 4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seas</a:t>
            </a:r>
            <a:endParaRPr lang="fr-FR" sz="3200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452" y="964907"/>
            <a:ext cx="5213095" cy="572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9009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C02885-EDB4-CB4E-A2CA-BD2CEE2DA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u="sng" dirty="0">
                <a:latin typeface="Cambria" panose="02040503050406030204" pitchFamily="18" charset="0"/>
                <a:ea typeface="Cambria" panose="02040503050406030204" pitchFamily="18" charset="0"/>
              </a:rPr>
              <a:t>7. Lafarge in </a:t>
            </a:r>
            <a:r>
              <a:rPr lang="fr-FR" sz="3200" u="sng" dirty="0" err="1">
                <a:latin typeface="Cambria" panose="02040503050406030204" pitchFamily="18" charset="0"/>
                <a:ea typeface="Cambria" panose="02040503050406030204" pitchFamily="18" charset="0"/>
              </a:rPr>
              <a:t>Syria</a:t>
            </a:r>
            <a:endParaRPr lang="fr-FR" sz="3200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3AE41D-2CAE-C140-AC2F-1A2B289F2FC6}"/>
              </a:ext>
            </a:extLst>
          </p:cNvPr>
          <p:cNvSpPr/>
          <p:nvPr/>
        </p:nvSpPr>
        <p:spPr>
          <a:xfrm>
            <a:off x="838200" y="5303452"/>
            <a:ext cx="852069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dirty="0">
              <a:hlinkClick r:id="rId2"/>
            </a:endParaRPr>
          </a:p>
          <a:p>
            <a:endParaRPr lang="fr-FR" dirty="0">
              <a:hlinkClick r:id="rId2"/>
            </a:endParaRPr>
          </a:p>
          <a:p>
            <a:endParaRPr lang="fr-FR" dirty="0">
              <a:hlinkClick r:id="rId2"/>
            </a:endParaRPr>
          </a:p>
          <a:p>
            <a:r>
              <a:rPr lang="fr-FR" dirty="0">
                <a:hlinkClick r:id="rId2"/>
              </a:rPr>
              <a:t>https://www.youtube.com/watch?v=EpH65n0r7pM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2608497" cy="327414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0" y="545404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/>
              <a:t>Article : </a:t>
            </a:r>
            <a:r>
              <a:rPr lang="fr-FR" dirty="0">
                <a:hlinkClick r:id="rId4"/>
              </a:rPr>
              <a:t>https://www.lemonde.fr/societe/article/2018/06/28/financement-du-terrorisme-lafarge-sa-mise-en-examen-pour-complicite-de-crimes-contre-l-humanite_5322647_3224.html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838200" y="5811283"/>
            <a:ext cx="1304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Video</a:t>
            </a:r>
            <a:r>
              <a:rPr lang="fr-FR" dirty="0"/>
              <a:t> : </a:t>
            </a:r>
          </a:p>
        </p:txBody>
      </p:sp>
      <p:pic>
        <p:nvPicPr>
          <p:cNvPr id="1026" name="Picture 2" descr="RÃ©sultat de recherche d'images pour &quot;lafarge&quot;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563" y="2428440"/>
            <a:ext cx="4304873" cy="1798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Ã©sultat de recherche d'images pour &quot;drapeau syrien&quot;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5302" y="2613383"/>
            <a:ext cx="214312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34365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8937</TotalTime>
  <Words>265</Words>
  <Application>Microsoft Office PowerPoint</Application>
  <PresentationFormat>Grand écran</PresentationFormat>
  <Paragraphs>69</Paragraphs>
  <Slides>34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Cambria</vt:lpstr>
      <vt:lpstr>Thème Office</vt:lpstr>
      <vt:lpstr>COMPANIES AND GEOPOLICAL RISKS</vt:lpstr>
      <vt:lpstr>IV. Syrian Case </vt:lpstr>
      <vt:lpstr>IV. Syrian Case : Syria by Maps</vt:lpstr>
      <vt:lpstr>1. Syria</vt:lpstr>
      <vt:lpstr>2. Geography</vt:lpstr>
      <vt:lpstr>2. Geography</vt:lpstr>
      <vt:lpstr>3. Populations  a) Ethnic groups</vt:lpstr>
      <vt:lpstr>a) Ethnic groups</vt:lpstr>
      <vt:lpstr>a) Ethnic groups</vt:lpstr>
      <vt:lpstr>a) Ethnic groups</vt:lpstr>
      <vt:lpstr>a) Ethnic groups</vt:lpstr>
      <vt:lpstr>a) Ethnic groups</vt:lpstr>
      <vt:lpstr>3. Populations  a) Religions</vt:lpstr>
      <vt:lpstr>b) Religions</vt:lpstr>
      <vt:lpstr>b) Religions</vt:lpstr>
      <vt:lpstr>b) Religions</vt:lpstr>
      <vt:lpstr>4. Military wars</vt:lpstr>
      <vt:lpstr>4. Military wars </vt:lpstr>
      <vt:lpstr>4. Military wars </vt:lpstr>
      <vt:lpstr>4. Military wars </vt:lpstr>
      <vt:lpstr>4. Military wars </vt:lpstr>
      <vt:lpstr>4. Military wars </vt:lpstr>
      <vt:lpstr>4. Military wars </vt:lpstr>
      <vt:lpstr>4. Military wars </vt:lpstr>
      <vt:lpstr>4. Military wars </vt:lpstr>
      <vt:lpstr>4. Military wars </vt:lpstr>
      <vt:lpstr>5. Gaz and petrol : pipelines</vt:lpstr>
      <vt:lpstr>5. Gaz and petrol : pipelines</vt:lpstr>
      <vt:lpstr>5. Gaz and petrol : pipelines</vt:lpstr>
      <vt:lpstr>5. Gaz and petrol : pipelines</vt:lpstr>
      <vt:lpstr>5. Gaz and petrol : pipelines</vt:lpstr>
      <vt:lpstr>5. Gaz and petrol : pipelines</vt:lpstr>
      <vt:lpstr>6. Theory of 4 seas</vt:lpstr>
      <vt:lpstr>7. Lafarge in Syria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loic savoyen</dc:creator>
  <cp:lastModifiedBy>Lotfi HAMZI</cp:lastModifiedBy>
  <cp:revision>308</cp:revision>
  <cp:lastPrinted>2019-01-30T15:16:38Z</cp:lastPrinted>
  <dcterms:created xsi:type="dcterms:W3CDTF">2019-01-21T15:34:32Z</dcterms:created>
  <dcterms:modified xsi:type="dcterms:W3CDTF">2026-01-19T14:19:46Z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2299148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S8.2.3</vt:lpwstr>
  </property>
</Properties>
</file>