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21"/>
  </p:notesMasterIdLst>
  <p:sldIdLst>
    <p:sldId id="256" r:id="rId2"/>
    <p:sldId id="374" r:id="rId3"/>
    <p:sldId id="311" r:id="rId4"/>
    <p:sldId id="323" r:id="rId5"/>
    <p:sldId id="312" r:id="rId6"/>
    <p:sldId id="315" r:id="rId7"/>
    <p:sldId id="322" r:id="rId8"/>
    <p:sldId id="318" r:id="rId9"/>
    <p:sldId id="319" r:id="rId10"/>
    <p:sldId id="320" r:id="rId11"/>
    <p:sldId id="321" r:id="rId12"/>
    <p:sldId id="296" r:id="rId13"/>
    <p:sldId id="298" r:id="rId14"/>
    <p:sldId id="304" r:id="rId15"/>
    <p:sldId id="305" r:id="rId16"/>
    <p:sldId id="266" r:id="rId17"/>
    <p:sldId id="299" r:id="rId18"/>
    <p:sldId id="267" r:id="rId19"/>
    <p:sldId id="274" r:id="rId20"/>
  </p:sldIdLst>
  <p:sldSz cx="12192000" cy="6858000"/>
  <p:notesSz cx="6864350" cy="99964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26" autoAdjust="0"/>
    <p:restoredTop sz="87196" autoAdjust="0"/>
  </p:normalViewPr>
  <p:slideViewPr>
    <p:cSldViewPr snapToGrid="0">
      <p:cViewPr varScale="1">
        <p:scale>
          <a:sx n="77" d="100"/>
          <a:sy n="77" d="100"/>
        </p:scale>
        <p:origin x="5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tfi HAMZI" userId="be32f582-dd51-484c-b334-be45bf74d486" providerId="ADAL" clId="{E64C995C-2C7B-4418-85DB-2DC906730E19}"/>
    <pc:docChg chg="modSld">
      <pc:chgData name="Lotfi HAMZI" userId="be32f582-dd51-484c-b334-be45bf74d486" providerId="ADAL" clId="{E64C995C-2C7B-4418-85DB-2DC906730E19}" dt="2026-01-19T14:20:11.763" v="11" actId="20577"/>
      <pc:docMkLst>
        <pc:docMk/>
      </pc:docMkLst>
      <pc:sldChg chg="modSp mod">
        <pc:chgData name="Lotfi HAMZI" userId="be32f582-dd51-484c-b334-be45bf74d486" providerId="ADAL" clId="{E64C995C-2C7B-4418-85DB-2DC906730E19}" dt="2026-01-19T14:20:11.763" v="11" actId="20577"/>
        <pc:sldMkLst>
          <pc:docMk/>
          <pc:sldMk cId="3543826887" sldId="256"/>
        </pc:sldMkLst>
        <pc:spChg chg="mod">
          <ac:chgData name="Lotfi HAMZI" userId="be32f582-dd51-484c-b334-be45bf74d486" providerId="ADAL" clId="{E64C995C-2C7B-4418-85DB-2DC906730E19}" dt="2026-01-19T14:20:11.763" v="11" actId="20577"/>
          <ac:spMkLst>
            <pc:docMk/>
            <pc:sldMk cId="3543826887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7788" y="0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DCC60F-ADFD-4581-AF10-A18955192DD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1249363"/>
            <a:ext cx="5994400" cy="33734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810125"/>
            <a:ext cx="5492750" cy="39370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7788" y="9494838"/>
            <a:ext cx="2974975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38843-8EDE-4B5F-8EA2-74159122E2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088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E38843-8EDE-4B5F-8EA2-74159122E2E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3313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13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843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256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237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9701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169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803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890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4533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000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84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321718-85F6-4158-90E6-32EF8AA3F64F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16E0E-70FA-437C-A1F9-4ADA7A285ED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37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www.youtube.com/results?search_query=corruption+total+iran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youtube.com/watch?v=1BCA8dQfGi0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YWdUfxW10s" TargetMode="External"/><Relationship Id="rId2" Type="http://schemas.openxmlformats.org/officeDocument/2006/relationships/hyperlink" Target="https://www.youtube.com/watch?v=h3shmfKOZ9g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s://www.youtube.com/watch?v=70KybrkiJp4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DA7F47-47B0-478A-AD63-A73637215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739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COMPANIES AND GEOPOLICAL RISKS</a:t>
            </a:r>
            <a:b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Session 2</a:t>
            </a:r>
          </a:p>
        </p:txBody>
      </p:sp>
      <p:pic>
        <p:nvPicPr>
          <p:cNvPr id="1026" name="Picture 2" descr="RÃ©sultat de recherche d'images pour &quot;neoma logo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083" y="5852236"/>
            <a:ext cx="1883834" cy="586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7594169" y="5960611"/>
            <a:ext cx="4144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latin typeface="Cambria" panose="02040503050406030204" pitchFamily="18" charset="0"/>
                <a:ea typeface="Cambria" panose="02040503050406030204" pitchFamily="18" charset="0"/>
              </a:rPr>
              <a:t>OMRI </a:t>
            </a:r>
            <a:r>
              <a:rPr lang="fr-FR" sz="2400" b="1">
                <a:latin typeface="Cambria" panose="02040503050406030204" pitchFamily="18" charset="0"/>
                <a:ea typeface="Cambria" panose="02040503050406030204" pitchFamily="18" charset="0"/>
              </a:rPr>
              <a:t>Yassine </a:t>
            </a:r>
            <a:endParaRPr lang="fr-FR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B177242-5A42-1B3F-C499-731296DABB63}"/>
              </a:ext>
            </a:extLst>
          </p:cNvPr>
          <p:cNvSpPr txBox="1"/>
          <p:nvPr/>
        </p:nvSpPr>
        <p:spPr>
          <a:xfrm>
            <a:off x="3047308" y="4493805"/>
            <a:ext cx="6097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latin typeface="Cambria" panose="02040503050406030204" pitchFamily="18" charset="0"/>
                <a:ea typeface="Cambria" panose="02040503050406030204" pitchFamily="18" charset="0"/>
              </a:rPr>
              <a:t>2025-2026</a:t>
            </a:r>
          </a:p>
        </p:txBody>
      </p:sp>
    </p:spTree>
    <p:extLst>
      <p:ext uri="{BB962C8B-B14F-4D97-AF65-F5344CB8AC3E}">
        <p14:creationId xmlns:p14="http://schemas.microsoft.com/office/powerpoint/2010/main" val="3543826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43170"/>
          </a:xfrm>
        </p:spPr>
        <p:txBody>
          <a:bodyPr/>
          <a:lstStyle/>
          <a:p>
            <a: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I- Types of </a:t>
            </a:r>
            <a:r>
              <a:rPr lang="fr-FR" sz="24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geopolitical</a:t>
            </a:r>
            <a: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 Risk</a:t>
            </a:r>
            <a:b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b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1- </a:t>
            </a:r>
            <a:r>
              <a:rPr lang="fr-FR" sz="24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Interstates</a:t>
            </a:r>
            <a: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4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wars</a:t>
            </a:r>
            <a: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(US/ IRAQ. Dow </a:t>
            </a:r>
            <a:r>
              <a:rPr lang="fr-FR" sz="24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corning</a:t>
            </a:r>
            <a:r>
              <a:rPr lang="fr-FR" sz="2400" b="1" u="sng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br>
              <a:rPr lang="fr-FR" b="1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490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5024" y="154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/>
              <a:t>2.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International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conflict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(Refugies)</a:t>
            </a:r>
          </a:p>
        </p:txBody>
      </p:sp>
      <p:pic>
        <p:nvPicPr>
          <p:cNvPr id="3074" name="Picture 2" descr="https://2.bp.blogspot.com/-DeJE-RHg43Y/VrpHjvs-Q6I/AAAAAAAAArA/F_JDGa_IyV4/s1600/Syria%2Band%2BIraq%2Bconflict%2Bfrom%2BHIU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559" y="2712130"/>
            <a:ext cx="5998028" cy="3010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Ã©sultat de recherche d'images pour &quot;rÃ©fugiÃ© syrien&quot;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976" y="1443433"/>
            <a:ext cx="2746375" cy="166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Ã©sultat de recherche d'images pour &quot;rÃ©fugiÃ© syrien en turquie&quot;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475" y="3543300"/>
            <a:ext cx="2746375" cy="191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/>
          <p:cNvSpPr txBox="1"/>
          <p:nvPr/>
        </p:nvSpPr>
        <p:spPr>
          <a:xfrm>
            <a:off x="625475" y="6437811"/>
            <a:ext cx="264840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i="1" u="sng" dirty="0"/>
              <a:t>Source : RFI</a:t>
            </a:r>
          </a:p>
        </p:txBody>
      </p:sp>
    </p:spTree>
    <p:extLst>
      <p:ext uri="{BB962C8B-B14F-4D97-AF65-F5344CB8AC3E}">
        <p14:creationId xmlns:p14="http://schemas.microsoft.com/office/powerpoint/2010/main" val="3583159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sz="3200" b="1" u="sng" dirty="0"/>
              <a:t>3.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Law,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regulations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policies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(San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leon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energy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in POLAND</a:t>
            </a:r>
            <a:r>
              <a:rPr lang="fr-FR" sz="3200" b="1" u="sng" dirty="0"/>
              <a:t>)</a:t>
            </a:r>
            <a:br>
              <a:rPr lang="fr-FR" sz="3200" b="1" u="sng" dirty="0"/>
            </a:br>
            <a:endParaRPr lang="fr-FR" sz="3200" b="1" u="sng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063" y="1906361"/>
            <a:ext cx="7149873" cy="4560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68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4.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Breaches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of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contract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(Chavez : Venezuela</a:t>
            </a:r>
            <a:r>
              <a:rPr lang="fr-FR" sz="3200" b="1" u="sng" dirty="0"/>
              <a:t>) </a:t>
            </a:r>
            <a:br>
              <a:rPr lang="fr-FR" sz="3200" b="1" u="sng" dirty="0"/>
            </a:br>
            <a:endParaRPr lang="fr-FR" sz="3200" b="1" u="sng" dirty="0"/>
          </a:p>
        </p:txBody>
      </p:sp>
      <p:pic>
        <p:nvPicPr>
          <p:cNvPr id="4098" name="Picture 2" descr="RÃ©sultat de recherche d'images pour &quot;chavez bush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78062"/>
            <a:ext cx="4048125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Ã©sultat de recherche d'images pour &quot;chavez bush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2430462"/>
            <a:ext cx="440055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6492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5.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Corruption: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Halliburton</a:t>
            </a:r>
            <a:endParaRPr lang="fr-FR" sz="32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-45720" y="6445738"/>
            <a:ext cx="910336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050" i="1" u="sng" dirty="0"/>
              <a:t>Source : http://www.nigeriancuriosity.com/2010/04/corruption-inc-halliburton-list.html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690688"/>
            <a:ext cx="57912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4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6.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Extraterritorial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reach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total in Iran</a:t>
            </a:r>
            <a:br>
              <a:rPr lang="fr-FR" sz="3200" b="1" u="sng" dirty="0"/>
            </a:br>
            <a:endParaRPr lang="fr-FR" sz="320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3048000" y="4469325"/>
            <a:ext cx="6096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https://www.youtube.com/results?search_query=corruption+total+iran</a:t>
            </a:r>
            <a:endParaRPr lang="fr-FR" dirty="0"/>
          </a:p>
          <a:p>
            <a:endParaRPr lang="fr-FR" dirty="0"/>
          </a:p>
        </p:txBody>
      </p:sp>
      <p:pic>
        <p:nvPicPr>
          <p:cNvPr id="11266" name="Picture 2" descr="RÃ©sultat de recherche d'images pour &quot;total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258644"/>
            <a:ext cx="609600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26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7.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Natural ressources manipulation : (OPEC)</a:t>
            </a:r>
            <a:b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fr-FR" sz="32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31254" y="4344764"/>
            <a:ext cx="3663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/>
              <a:t>https://youtu.be/yCYRJBbLwQc?t=80</a:t>
            </a:r>
            <a:endParaRPr lang="fr-FR" dirty="0"/>
          </a:p>
        </p:txBody>
      </p:sp>
      <p:pic>
        <p:nvPicPr>
          <p:cNvPr id="7170" name="Picture 2" descr="RÃ©sultat de recherche d'images pour &quot;opec&quot;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157" y="2373813"/>
            <a:ext cx="4775683" cy="128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9DDF46-B475-2D27-965C-FFDD67D88A53}"/>
              </a:ext>
            </a:extLst>
          </p:cNvPr>
          <p:cNvSpPr/>
          <p:nvPr/>
        </p:nvSpPr>
        <p:spPr>
          <a:xfrm>
            <a:off x="3708157" y="4859919"/>
            <a:ext cx="3663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https://youtu.be/yCYRJBbLwQc?t=80</a:t>
            </a:r>
          </a:p>
        </p:txBody>
      </p:sp>
    </p:spTree>
    <p:extLst>
      <p:ext uri="{BB962C8B-B14F-4D97-AF65-F5344CB8AC3E}">
        <p14:creationId xmlns:p14="http://schemas.microsoft.com/office/powerpoint/2010/main" val="28221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8.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Social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activism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(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Nestle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 /Orang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Utan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Monkey</a:t>
            </a:r>
            <a:br>
              <a:rPr lang="fr-FR" sz="3200" b="1" u="sng" dirty="0"/>
            </a:br>
            <a:endParaRPr lang="fr-FR" sz="3200" b="1" u="sng" dirty="0"/>
          </a:p>
        </p:txBody>
      </p:sp>
      <p:sp>
        <p:nvSpPr>
          <p:cNvPr id="3" name="Rectangle 2"/>
          <p:cNvSpPr/>
          <p:nvPr/>
        </p:nvSpPr>
        <p:spPr>
          <a:xfrm>
            <a:off x="3625708" y="5037146"/>
            <a:ext cx="49405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hlinkClick r:id="rId2"/>
              </a:rPr>
              <a:t>https://www.youtube.com/watch?v=1BCA8dQfGi0</a:t>
            </a:r>
            <a:endParaRPr lang="fr-FR" dirty="0"/>
          </a:p>
          <a:p>
            <a:endParaRPr lang="fr-FR" dirty="0"/>
          </a:p>
        </p:txBody>
      </p:sp>
      <p:pic>
        <p:nvPicPr>
          <p:cNvPr id="8194" name="Picture 2" descr="RÃ©sultat de recherche d'images pour &quot;nestle logo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230" y="1750262"/>
            <a:ext cx="5041254" cy="335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Ã©sultat de recherche d'images pour &quot;greenpeace logo png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7250" y="2903543"/>
            <a:ext cx="6305589" cy="980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10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9.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Terrorism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(Cantor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fitzgerald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b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fr-FR" sz="32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24310" y="5074979"/>
            <a:ext cx="49560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hlinkClick r:id="rId2"/>
              </a:rPr>
              <a:t>https://www.youtube.com/watch?v=h3shmfKOZ9g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7131318" y="5074978"/>
            <a:ext cx="50606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hlinkClick r:id="rId3"/>
              </a:rPr>
              <a:t>https://www.youtube.com/watch?v=pYWdUfxW10s</a:t>
            </a:r>
            <a:endParaRPr lang="fr-FR" dirty="0"/>
          </a:p>
          <a:p>
            <a:endParaRPr lang="fr-FR" dirty="0"/>
          </a:p>
        </p:txBody>
      </p:sp>
      <p:pic>
        <p:nvPicPr>
          <p:cNvPr id="9218" name="Picture 2" descr="RÃ©sultat de recherche d'images pour &quot;cantor fitzgerald&quot;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8534" y="2654170"/>
            <a:ext cx="4286250" cy="14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RÃ©sultat de recherche d'images pour &quot;les deux tour&quot;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8089" y="1913260"/>
            <a:ext cx="2488477" cy="2939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282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/>
              <a:t>10.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Cyber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threats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: (SONY)</a:t>
            </a:r>
            <a:b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fr-FR" sz="3200" b="1" u="sng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362903" y="4681249"/>
            <a:ext cx="346619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https://www.youtube.com/watch?v=70KybrkiJp4</a:t>
            </a:r>
            <a:endParaRPr lang="fr-FR" dirty="0"/>
          </a:p>
          <a:p>
            <a:endParaRPr lang="fr-FR" dirty="0"/>
          </a:p>
        </p:txBody>
      </p:sp>
      <p:pic>
        <p:nvPicPr>
          <p:cNvPr id="10242" name="Picture 2" descr="RÃ©sultat de recherche d'images pour &quot;cyber attack sony&quot;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903" y="1973517"/>
            <a:ext cx="3466193" cy="230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626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II.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Measuring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political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risk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13292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3795" y="99060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/>
              <a:t>A)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GEOPOLITICAL RISKS INDEX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16646" y="1997839"/>
            <a:ext cx="1114806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GPR index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constructed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with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algorithm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that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counts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the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frequency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of articles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related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to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geopolitical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risks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leading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international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newpapers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published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in the USA, United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Kingdom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and Canada.</a:t>
            </a:r>
          </a:p>
          <a:p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newpapers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(11)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witch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include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: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The New York Times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Times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Washington Post</a:t>
            </a:r>
          </a:p>
          <a:p>
            <a:pPr marL="285750" indent="-285750"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…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66062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BF8F5C2D-88FF-884D-96BC-CF7714C9B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5799">
            <a:off x="2983702" y="362714"/>
            <a:ext cx="5507153" cy="6132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6413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F920F097-E2E0-1742-97A8-7AD4EB5BE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11075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18114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B</a:t>
            </a:r>
            <a:r>
              <a:rPr lang="fr-FR" sz="3200" b="1" u="sng" dirty="0"/>
              <a:t>) 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RATING AGENCIES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0138890-BBF5-495A-A5B7-2C612843E8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59" y="1439236"/>
            <a:ext cx="6934200" cy="520065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53E4997-828E-478F-B6FC-436A348062FD}"/>
              </a:ext>
            </a:extLst>
          </p:cNvPr>
          <p:cNvSpPr txBox="1"/>
          <p:nvPr/>
        </p:nvSpPr>
        <p:spPr>
          <a:xfrm>
            <a:off x="7650760" y="2878127"/>
            <a:ext cx="39512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There are three main rating agencies: Moody's, Standard &amp; Poor's and Fitch Rating. All three have different criteria for assessing countries.</a:t>
            </a: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573387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III.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308679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9267"/>
            <a:ext cx="10353762" cy="970450"/>
          </a:xfrm>
        </p:spPr>
        <p:txBody>
          <a:bodyPr>
            <a:normAutofit/>
          </a:bodyPr>
          <a:lstStyle/>
          <a:p>
            <a:pPr algn="ctr"/>
            <a:r>
              <a:rPr lang="fr-FR" sz="3200" b="1" u="sng" dirty="0"/>
              <a:t>III.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7ACF781F-3DB9-4F56-81D8-671EF6855760}"/>
              </a:ext>
            </a:extLst>
          </p:cNvPr>
          <p:cNvGrpSpPr/>
          <p:nvPr/>
        </p:nvGrpSpPr>
        <p:grpSpPr>
          <a:xfrm>
            <a:off x="483798" y="3175494"/>
            <a:ext cx="11213756" cy="939114"/>
            <a:chOff x="372763" y="2088288"/>
            <a:chExt cx="11213756" cy="93911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61134DD-AEAF-4FFD-B005-A327B68B5D43}"/>
                </a:ext>
              </a:extLst>
            </p:cNvPr>
            <p:cNvSpPr/>
            <p:nvPr/>
          </p:nvSpPr>
          <p:spPr>
            <a:xfrm>
              <a:off x="372763" y="2088288"/>
              <a:ext cx="2310713" cy="939113"/>
            </a:xfrm>
            <a:prstGeom prst="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Understand</a:t>
              </a:r>
              <a:endParaRPr lang="fr-FR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0D7F792-167B-47FA-A9A7-2046B630C32D}"/>
                </a:ext>
              </a:extLst>
            </p:cNvPr>
            <p:cNvSpPr/>
            <p:nvPr/>
          </p:nvSpPr>
          <p:spPr>
            <a:xfrm>
              <a:off x="3340444" y="2088289"/>
              <a:ext cx="2310713" cy="939113"/>
            </a:xfrm>
            <a:prstGeom prst="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latin typeface="Cambria" panose="02040503050406030204" pitchFamily="18" charset="0"/>
                  <a:ea typeface="Cambria" panose="02040503050406030204" pitchFamily="18" charset="0"/>
                </a:rPr>
                <a:t>Analyse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65341F-7F78-40A1-8333-23344F6D1BC2}"/>
                </a:ext>
              </a:extLst>
            </p:cNvPr>
            <p:cNvSpPr/>
            <p:nvPr/>
          </p:nvSpPr>
          <p:spPr>
            <a:xfrm>
              <a:off x="6308125" y="2088289"/>
              <a:ext cx="2310713" cy="939113"/>
            </a:xfrm>
            <a:prstGeom prst="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Mitigate</a:t>
              </a:r>
              <a:endParaRPr lang="fr-FR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ACBBC62-C2BE-483C-9029-62DBC687758D}"/>
                </a:ext>
              </a:extLst>
            </p:cNvPr>
            <p:cNvSpPr/>
            <p:nvPr/>
          </p:nvSpPr>
          <p:spPr>
            <a:xfrm>
              <a:off x="9275806" y="2088289"/>
              <a:ext cx="2310713" cy="939113"/>
            </a:xfrm>
            <a:prstGeom prst="rect">
              <a:avLst/>
            </a:prstGeom>
            <a:solidFill>
              <a:schemeClr val="bg2">
                <a:lumMod val="50000"/>
                <a:lumOff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2000" b="1" dirty="0" err="1">
                  <a:latin typeface="Cambria" panose="02040503050406030204" pitchFamily="18" charset="0"/>
                  <a:ea typeface="Cambria" panose="02040503050406030204" pitchFamily="18" charset="0"/>
                </a:rPr>
                <a:t>Respond</a:t>
              </a:r>
              <a:endParaRPr lang="fr-FR" sz="2000" b="1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cxnSp>
          <p:nvCxnSpPr>
            <p:cNvPr id="9" name="Connecteur droit avec flèche 8">
              <a:extLst>
                <a:ext uri="{FF2B5EF4-FFF2-40B4-BE49-F238E27FC236}">
                  <a16:creationId xmlns:a16="http://schemas.microsoft.com/office/drawing/2014/main" id="{BF565DD6-8B07-476C-96FA-03049A4ECCEC}"/>
                </a:ext>
              </a:extLst>
            </p:cNvPr>
            <p:cNvCxnSpPr>
              <a:stCxn id="5" idx="3"/>
              <a:endCxn id="6" idx="1"/>
            </p:cNvCxnSpPr>
            <p:nvPr/>
          </p:nvCxnSpPr>
          <p:spPr>
            <a:xfrm>
              <a:off x="2683476" y="2557845"/>
              <a:ext cx="65696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3A3C408A-8270-4FAD-822D-78A16D1BA27D}"/>
                </a:ext>
              </a:extLst>
            </p:cNvPr>
            <p:cNvCxnSpPr/>
            <p:nvPr/>
          </p:nvCxnSpPr>
          <p:spPr>
            <a:xfrm>
              <a:off x="8618838" y="2557843"/>
              <a:ext cx="65696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C2C02E5D-3130-48D8-9F92-4302B0C1EDBB}"/>
                </a:ext>
              </a:extLst>
            </p:cNvPr>
            <p:cNvCxnSpPr/>
            <p:nvPr/>
          </p:nvCxnSpPr>
          <p:spPr>
            <a:xfrm>
              <a:off x="5651157" y="2557844"/>
              <a:ext cx="65696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ZoneTexte 2"/>
          <p:cNvSpPr txBox="1"/>
          <p:nvPr/>
        </p:nvSpPr>
        <p:spPr>
          <a:xfrm>
            <a:off x="483798" y="1968050"/>
            <a:ext cx="10783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We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define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by four </a:t>
            </a:r>
            <a:r>
              <a:rPr lang="fr-FR" sz="2000" b="1" dirty="0" err="1">
                <a:latin typeface="Cambria" panose="02040503050406030204" pitchFamily="18" charset="0"/>
                <a:ea typeface="Cambria" panose="02040503050406030204" pitchFamily="18" charset="0"/>
              </a:rPr>
              <a:t>steps</a:t>
            </a:r>
            <a:r>
              <a:rPr lang="fr-FR" sz="2000" b="1" dirty="0">
                <a:latin typeface="Cambria" panose="02040503050406030204" pitchFamily="18" charset="0"/>
                <a:ea typeface="Cambria" panose="02040503050406030204" pitchFamily="18" charset="0"/>
              </a:rPr>
              <a:t> : </a:t>
            </a:r>
          </a:p>
        </p:txBody>
      </p:sp>
    </p:spTree>
    <p:extLst>
      <p:ext uri="{BB962C8B-B14F-4D97-AF65-F5344CB8AC3E}">
        <p14:creationId xmlns:p14="http://schemas.microsoft.com/office/powerpoint/2010/main" val="520066586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91B7C-952B-49B1-8A0D-202864B8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III</a:t>
            </a:r>
            <a:r>
              <a:rPr lang="fr-FR" sz="3200" b="1" u="sng" dirty="0"/>
              <a:t>.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Anticipating</a:t>
            </a:r>
            <a:r>
              <a:rPr lang="fr-FR" sz="3200" b="1" u="sng" dirty="0">
                <a:latin typeface="Cambria" panose="02040503050406030204" pitchFamily="18" charset="0"/>
                <a:ea typeface="Cambria" panose="02040503050406030204" pitchFamily="18" charset="0"/>
              </a:rPr>
              <a:t> and </a:t>
            </a:r>
            <a:r>
              <a:rPr lang="fr-FR" sz="3200" b="1" u="sng" dirty="0" err="1">
                <a:latin typeface="Cambria" panose="02040503050406030204" pitchFamily="18" charset="0"/>
                <a:ea typeface="Cambria" panose="02040503050406030204" pitchFamily="18" charset="0"/>
              </a:rPr>
              <a:t>Assuming</a:t>
            </a:r>
            <a:endParaRPr lang="fr-FR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585DD20E-8ADD-47C3-AD1B-097182F1B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000598"/>
              </p:ext>
            </p:extLst>
          </p:nvPr>
        </p:nvGraphicFramePr>
        <p:xfrm>
          <a:off x="1512458" y="2037080"/>
          <a:ext cx="9156435" cy="4211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37577">
                  <a:extLst>
                    <a:ext uri="{9D8B030D-6E8A-4147-A177-3AD203B41FA5}">
                      <a16:colId xmlns:a16="http://schemas.microsoft.com/office/drawing/2014/main" val="950112279"/>
                    </a:ext>
                  </a:extLst>
                </a:gridCol>
                <a:gridCol w="2237577">
                  <a:extLst>
                    <a:ext uri="{9D8B030D-6E8A-4147-A177-3AD203B41FA5}">
                      <a16:colId xmlns:a16="http://schemas.microsoft.com/office/drawing/2014/main" val="3095190153"/>
                    </a:ext>
                  </a:extLst>
                </a:gridCol>
                <a:gridCol w="2237577">
                  <a:extLst>
                    <a:ext uri="{9D8B030D-6E8A-4147-A177-3AD203B41FA5}">
                      <a16:colId xmlns:a16="http://schemas.microsoft.com/office/drawing/2014/main" val="3157621841"/>
                    </a:ext>
                  </a:extLst>
                </a:gridCol>
                <a:gridCol w="2443704">
                  <a:extLst>
                    <a:ext uri="{9D8B030D-6E8A-4147-A177-3AD203B41FA5}">
                      <a16:colId xmlns:a16="http://schemas.microsoft.com/office/drawing/2014/main" val="2007770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Understand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Analyse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Mitigate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err="1"/>
                        <a:t>Respond</a:t>
                      </a:r>
                      <a:r>
                        <a:rPr lang="fr-FR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483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1. </a:t>
                      </a:r>
                      <a:r>
                        <a:rPr lang="fr-FR" dirty="0" err="1"/>
                        <a:t>What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my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organization’s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political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risk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appetite</a:t>
                      </a:r>
                      <a:r>
                        <a:rPr lang="fr-FR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 How </a:t>
                      </a:r>
                      <a:r>
                        <a:rPr lang="fr-FR" dirty="0" err="1"/>
                        <a:t>can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get</a:t>
                      </a:r>
                      <a:r>
                        <a:rPr lang="fr-FR" dirty="0"/>
                        <a:t> good information about </a:t>
                      </a:r>
                      <a:r>
                        <a:rPr lang="fr-FR" dirty="0" err="1"/>
                        <a:t>political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risks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face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 How </a:t>
                      </a:r>
                      <a:r>
                        <a:rPr lang="fr-FR" dirty="0" err="1"/>
                        <a:t>can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reduce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exposure</a:t>
                      </a:r>
                      <a:r>
                        <a:rPr lang="fr-FR" dirty="0"/>
                        <a:t> to the </a:t>
                      </a:r>
                      <a:r>
                        <a:rPr lang="fr-FR" dirty="0" err="1"/>
                        <a:t>risks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have </a:t>
                      </a:r>
                      <a:r>
                        <a:rPr lang="fr-FR" dirty="0" err="1"/>
                        <a:t>identified</a:t>
                      </a:r>
                      <a:r>
                        <a:rPr lang="fr-FR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1. Are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capitalizing</a:t>
                      </a:r>
                      <a:r>
                        <a:rPr lang="fr-FR" dirty="0"/>
                        <a:t> on </a:t>
                      </a:r>
                      <a:r>
                        <a:rPr lang="fr-FR" dirty="0" err="1"/>
                        <a:t>near</a:t>
                      </a:r>
                      <a:r>
                        <a:rPr lang="fr-FR" dirty="0"/>
                        <a:t> misses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346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2.  Is </a:t>
                      </a:r>
                      <a:r>
                        <a:rPr lang="fr-FR" dirty="0" err="1"/>
                        <a:t>there</a:t>
                      </a:r>
                      <a:r>
                        <a:rPr lang="fr-FR" dirty="0"/>
                        <a:t> a </a:t>
                      </a:r>
                      <a:r>
                        <a:rPr lang="fr-FR" dirty="0" err="1"/>
                        <a:t>shared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understanding</a:t>
                      </a:r>
                      <a:r>
                        <a:rPr lang="fr-FR" dirty="0"/>
                        <a:t> of </a:t>
                      </a:r>
                      <a:r>
                        <a:rPr lang="fr-FR" dirty="0" err="1"/>
                        <a:t>our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risk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appetite</a:t>
                      </a:r>
                      <a:r>
                        <a:rPr lang="fr-FR" dirty="0"/>
                        <a:t> ? If not, how </a:t>
                      </a:r>
                      <a:r>
                        <a:rPr lang="fr-FR" dirty="0" err="1"/>
                        <a:t>can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foster</a:t>
                      </a:r>
                      <a:r>
                        <a:rPr lang="fr-FR" dirty="0"/>
                        <a:t> one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 How </a:t>
                      </a:r>
                      <a:r>
                        <a:rPr lang="fr-FR" dirty="0" err="1"/>
                        <a:t>can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ensure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rigorous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analysis</a:t>
                      </a:r>
                      <a:r>
                        <a:rPr lang="fr-FR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 Do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have a good system in place for </a:t>
                      </a:r>
                      <a:r>
                        <a:rPr lang="fr-FR" dirty="0" err="1"/>
                        <a:t>timely</a:t>
                      </a:r>
                      <a:r>
                        <a:rPr lang="fr-FR" dirty="0"/>
                        <a:t> warning and action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2. Are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reacting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effectively</a:t>
                      </a:r>
                      <a:r>
                        <a:rPr lang="fr-FR" dirty="0"/>
                        <a:t> to crises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47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1. How can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reduce</a:t>
                      </a:r>
                      <a:r>
                        <a:rPr lang="fr-FR" dirty="0"/>
                        <a:t> blind spots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  How </a:t>
                      </a:r>
                      <a:r>
                        <a:rPr lang="fr-FR" dirty="0" err="1"/>
                        <a:t>can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integrate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political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risk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analysis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into</a:t>
                      </a:r>
                      <a:r>
                        <a:rPr lang="fr-FR" dirty="0"/>
                        <a:t> business </a:t>
                      </a:r>
                      <a:r>
                        <a:rPr lang="fr-FR" dirty="0" err="1"/>
                        <a:t>decisions</a:t>
                      </a:r>
                      <a:r>
                        <a:rPr lang="fr-FR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 How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can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limit</a:t>
                      </a:r>
                      <a:r>
                        <a:rPr lang="fr-FR" dirty="0"/>
                        <a:t> the damage </a:t>
                      </a:r>
                      <a:r>
                        <a:rPr lang="fr-FR" dirty="0" err="1"/>
                        <a:t>when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something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bad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happens</a:t>
                      </a:r>
                      <a:r>
                        <a:rPr lang="fr-FR" dirty="0"/>
                        <a:t>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3. Are </a:t>
                      </a:r>
                      <a:r>
                        <a:rPr lang="fr-FR" dirty="0" err="1"/>
                        <a:t>we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developing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mechanisms</a:t>
                      </a:r>
                      <a:r>
                        <a:rPr lang="fr-FR" dirty="0"/>
                        <a:t> for </a:t>
                      </a:r>
                      <a:r>
                        <a:rPr lang="fr-FR" dirty="0" err="1"/>
                        <a:t>continuous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learning</a:t>
                      </a:r>
                      <a:r>
                        <a:rPr lang="fr-FR" dirty="0"/>
                        <a:t>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460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3816648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8975</TotalTime>
  <Words>497</Words>
  <Application>Microsoft Office PowerPoint</Application>
  <PresentationFormat>Grand écran</PresentationFormat>
  <Paragraphs>58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</vt:lpstr>
      <vt:lpstr>Thème Office</vt:lpstr>
      <vt:lpstr>COMPANIES AND GEOPOLICAL RISKS Session 2</vt:lpstr>
      <vt:lpstr>I- Types of geopolitical Risk   1- Interstates wars : (US/ IRAQ. Dow corning) </vt:lpstr>
      <vt:lpstr>2. International conflict (Refugies)</vt:lpstr>
      <vt:lpstr>3. Law, regulations, policies : (San leon energy in POLAND) </vt:lpstr>
      <vt:lpstr>4. Breaches of contract : (Chavez : Venezuela)  </vt:lpstr>
      <vt:lpstr>5. Corruption: Halliburton</vt:lpstr>
      <vt:lpstr>6. Extraterritorial reach : total in Iran </vt:lpstr>
      <vt:lpstr>7. Natural ressources manipulation : (OPEC) </vt:lpstr>
      <vt:lpstr>8. Social activism : (Nestle) /Orang Utan Monkey </vt:lpstr>
      <vt:lpstr>9. Terrorism : (Cantor fitzgerald) </vt:lpstr>
      <vt:lpstr>10. Cyber threats : (SONY) </vt:lpstr>
      <vt:lpstr>II. Measuring political risk</vt:lpstr>
      <vt:lpstr>A) GEOPOLITICAL RISKS INDEX</vt:lpstr>
      <vt:lpstr>Présentation PowerPoint</vt:lpstr>
      <vt:lpstr>Présentation PowerPoint</vt:lpstr>
      <vt:lpstr>B) RATING AGENCIES</vt:lpstr>
      <vt:lpstr>III. Anticipating and Assuming  </vt:lpstr>
      <vt:lpstr>III. Anticipating and Assuming</vt:lpstr>
      <vt:lpstr>III. Anticipating and Assuming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loic savoyen</dc:creator>
  <cp:lastModifiedBy>Lotfi HAMZI</cp:lastModifiedBy>
  <cp:revision>313</cp:revision>
  <cp:lastPrinted>2019-01-30T15:16:38Z</cp:lastPrinted>
  <dcterms:created xsi:type="dcterms:W3CDTF">2019-01-21T15:34:32Z</dcterms:created>
  <dcterms:modified xsi:type="dcterms:W3CDTF">2026-01-19T14:20:18Z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2299148</vt:lpwstr>
  </property>
  <property fmtid="{D5CDD505-2E9C-101B-9397-08002B2CF9AE}" pid="3" name="NXPowerLiteSettings">
    <vt:lpwstr>C7000400038000</vt:lpwstr>
  </property>
  <property fmtid="{D5CDD505-2E9C-101B-9397-08002B2CF9AE}" pid="4" name="NXPowerLiteVersion">
    <vt:lpwstr>S8.2.3</vt:lpwstr>
  </property>
</Properties>
</file>